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 • Selamlama — tek nefeste üç vaat: bu aleti KABULLENECEĞİZ, ÖLÇÜSÜNÜ öğreneceğiz, FELSEFESİNİ kavrayacağız. 'Size araç listesi değil, bakış açısı vereceğim.' Ajanda slaydı yok; akış kendini taşıyacak.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Buz kırıcı (30 sn): 'Son gün, ilk saat' — yorgunluğu itiraf edin: 'Bu bir sunum değil; pedagojik dayanıklılık testi.' Gülümseme alın, başlayın.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3:00 • Tespit: dikkat kısa, beklenti yüksek, tempo baş döndürücü. Öğrenci hızlı ve kolay olanı seçiyor; öğrenme bu iklimden etkileniyor. Suçlamıyoruz, tarif ediyoruz. Yapay zekâ da tam bu iklimin aracı: hazzı kolaylaştırdı, hızı artırdı.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ÖLÇÜ — terazi: aynı alet sabırsızlık, yüzeysellik, kolaycılık da üretir; motivasyon, erişim, üretkenlik de. Fark alette değil, kullanan elin niyetinde ve ölçüsünde. Bu cümle seminerin omurgası —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Aynaya bakma anı: derslerimiz niçin lezzetsiz ve yavaş göründü? Tek yönlü anlatım, az görsel, geç geri bildirim, sınırlı örnek, düşük etkileşim. 'Değişim mümkün.'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Cevabımız tek kelime: LEZZET. Hikâyeleştireceğiz, görselleştireceğiz, oyunlaştıracağız, öğrenciyi konuşturacağız, merak uyandıracağız. Yapay zekâ bunların hepsinde hız kazandıran muavin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kapanışı — çağrı: 'Haz çağında lezzeti, hız çağında akıcılığı artırmak BİZİM elimizde. Hadi artık bu aleti biz de kullanalım.' Köprü: 'Ama önce dürüst soru: bu alet bizi işimizden mi edecek?'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11:00 • Soruyu salona sorun ve 10 saniye SUSUN: 'Yapay zekâ Arapça öğretmenini bitirecek mi?' El kaldırtın: bitirir diyenler / bitiremez diyenler. Cevap bölüm sonunda.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tez: TERCÜME MEMURLUĞU BİTTİ; muallimlik daha önemli oldu. Makine 'ne demek?' sorusuna cevap verir; muallim 'ne mana taşır?' sorusunu açar. Bitirilen iş bizim işimiz değilmiş — memurlukmuş.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Kanıt — tek örnek yeter: كَيْفَ حَالُكَ = 'Nasılsın?' Bu, tercüme düzeyi; makine yapar. Muallimlik düzeyi: kim söylüyor, kime, hangi ortamda, hangi tonla, nezaket mi gerçek hâl sorma mı? Bunu makine kuramaz, muallim kurar.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Derinlik: Arapça yalnızca bir yabancı dil değildir — metin, ibadet ve hafıza, medeniyet, komşuluk, edep dili. Sorumluluğumuz bir dil dersinden büyük; o yüzden bu alet bizim elimizde hikmete dönüşmek zorunda.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Bölümün cevabı: YERİNE GEÇMEZ; MUAVİN OLUR. Anahtar cümle — tahtaya yazılacak kadar önemli: 'AI hız verir; muallim yön verir.' Muallimlik = talim + terbiye + hikmet + edep + rehberlik.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İş bölümünün makine tarafı: kelime listesi, metin sadeleştirme, örnek, diyalog, soru, rubrik taslağı, hareke, basit dil bilgisi. Angarya listesi — gönül rahatlığıyla devredin.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İş bölümünün insan tarafı — asıl büyüyen işler: öğrencinin hâlini okumak, iklim kurmak, hata korkusunu azaltmak, bağlamı yaşatmak, değerle ilişkilendirmek. Bunların hiçbirinin promptu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Karikatür (15 sn) — bölümün özeti tek cümle: 'Robot koşturur, muallim yetiştirir.' Köprü: 'Peki bu muavin nasıl düşünüyor? Kaputu açıyoruz.'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24:00 • Seminerin felsefi kalbi. Kabullenmek için tanımak gerekir. Üç kelimeyi verin, altısını dolduracağız: ÖRÜNTÜ işler, BAĞLAMA bakar, TAHMİN eder. İnsan gibi hissetmez.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1 — Metni nasıl görür: anlamadan önce parçalara böler (kelime, parça, işaret, ek). الطَّالِبُ يَقْرَأُ الْكِتَابَ cümlesinin parçalanışını tahtada gösterin — sarf hocaları gülümsemeye başlasın.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2 — Meşhur denklem: KRAL − ERKEK + KADIN = KRALİÇE. Model harfi değil, İLİŞKİYİ öğrenir. 'Vay' sesini bekleyin; aceleye getirmeyin.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AHA slaydı — salondaki herkese: 'Sarf zaten bunu yıllardır yapıyor.' ك-ت-ب → كتاب، كاتب، مكتب، مكتبة: kök + kalıp + anlam ilişkisi. Sarf hocası, yapay zekâ çağına en hazırlıklı meslektir. Bu seminerin en güçlü ânı.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3 — Bağlam manayı belirler: 'yüz' üç cümlede üç anlam; عين göz de, pınar da, casus da. Model kelimeye değil cümleye bakar: 'Kelimeden çok, cümle konuşur.'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4 — Yazar gibi görünür, aslında TAHMİN eder: her adımda en olası devamı seçer (%65 'konuşacağız'). Sihir yok, olasılık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Adım 5 — ÖLÇÜNÜN kaynağı: 'Bu bir ŞUUR değil; istatistiksel öğrenmedir.' Çok veri + tekrar + geri bildirim. Sonuç: hata eder, uydurabilir → çıktı DAİMA muallim kontrolünden geçer. Köprü: 'Madem tahminle çalışıyor, tahmini YÖNETEN şey ne? Prompt.'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36:00 • Tanım: Prompt = öğretmenin PEDAGOJİK AKLINI makineye tarif etmesi. Komut değil; sınıf + hedef + bağlam + ölçme içeren görev tanımı. Aklınızı tarif edemezseniz, muavin kendi kafasına göre çalışır.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Kötü örnek — güldürerek öğretin: '7. sınıf için Arapça ders hazırla.' Seviye? Süre? Hedef? Ölçme? 'Bu prompt değil; TEMENNİ.' Soru değişirse cevap değişir.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Karikatür (15 sn) — yerel espri: 'Mersin sıcak, prompt serin.' Köprü: 'Şehrinizin adını formül yaptık…'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MERSİN Formülü — bölümün tek çerçevesi, ezberletin: Maksat • Eşik • Rol • Sınır • İlişki • Netice. 'Sınır' ve 'Netice'nin altını çizin: ölçünün prompt'a yazılmış hâlidir (ne yapmasın + nasıl ölçülecek).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Formülün ete kemiğe bürünmüş hâli — tam örnek prompt: rol, bağlam (7. sınıf, 35 öğrenci, A1–A2, 40 dk), konu, maksat, sınırlar, çıktı. Yavaş okuyun; fotoğraflatın.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Köprü: İyi prompt önemlidir AMA sıfırdan başlamak şart değildir. En iyi başlangıç bazen güzel bir örnektir: İyi örnek → Kalıp → Yeni ders. Son bölümün kapısını açın.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46:00 • Atölyenin özü — tersine mühendislik: iyi örneğin GİZLİ kalıbını çıkarmak. Üç iş: kopyalamak DEĞİL, mimarisini anlamak, kendi bağlamında yeniden sentezlemek.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Kavramsal çerçeve — vecizeyi yavaş okuyun: Sarf kelimenin kalıbını, Nahiv cümlenin düzenini, Prompt öğretim tasarımının kalıbını görür. 'Prompt, yapay zekâ çağının öğretim nahvidir.'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ÖLÇÜ: KOPYA DEĞİL, KALIP TRANSFERİ. Yanlış: 'Bunu aynen yap.' Doğru: 'Tasarım ilkelerini çıkar, yeni bağlama uyarla.' Metni değil, tasarım mantığını taşı — intihalin panzehiri de budur.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Vaka (canlı anlatın): 'Eksik Bilgi Kartları' — A kartında ürün var fiyat yok, B'de fiyat var ürün yok; öğrenciler كَمْ هٰذَا؟ ile konuşmak ZORUNDA. Gerçek iletişim ihtiyacı sınıfa girdi.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Vakanın röntgeni — neden çalışıyor? Gerçek ihtiyaç, destekli üretim, kalıplar bağlam içinde, eş çalışması, doğal ölçme, saygı. İşte çıkarılacak KALIP bu altı ilke; etkinliğin kendisi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Uygulama — bu kalıbı YZ'ye çıkartma talimatı: 'Bunu kopyalama; tasarım mantığını analiz et, gizli yapıyı çıkar, ilkeleri listele, yeniden kullanılabilir iskelet üret, BENİM bağlamıma sentezle.' Baştan sınır koy, yapıyı iste. (Analiz-kalıp-sentez prompt reçetelerini dosya olarak paylaşacağım — slayta boğmuyoruz.)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Meyve: aynı kalıp + yeni bağlam = 'Pazar Kartları' dersi. Dil bilgisi, sözcük, sesletim, konuşma tek etkinlikte. Tersine mühendislik işte bu: taklit değil, tevarüs.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 bağ: etkinlik TYMM'ye slogandan değil içeriden bağlanır — alan becerisi, değer (saygı, sorumluluk), sosyal-duygusal boyut (hata korkusunu azaltma), eylem. 'Maarif bağlantısı etkinliğin İÇİNDE yaşar.'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56:00 • Hepsini tek görselde toplayın — öğretmenin yeni atölyesi, 8 adımlık döngü: örnek bul → analiz ettir → kalıbı çıkarttır → bağlamını ver → sentezle → KONTROL ET → uygula → yansıt. 'YZ öğretmenin yerine geçmez; atölyesini büyütür.'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Seminerin damıtılmış hâli — üç ölçüyü tane tane okuyun. Bu slayt fotoğraflanmak içindir; bekleyin, çeksinler.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manifestosu — yavaş, vurgulu: 'Tercüme memurluğu bitti. Arapça muallimliği aslına döndü. Makine kelimeyi çevirebilir; insanı anlamla ancak insan tanıştırır.'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59:00 • Teşekkür + iletişim (@raufenc • raufenc.com). Kapanış cümlesi: 'Aleti kabullendik, ölçüsünü kuşandık, felsefesini kavradık — gerisi atölyede.' Kalan süre soru-cevap.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4937760" cy="4937760"/>
          </a:xfrm>
          <a:prstGeom prst="ellipse">
            <a:avLst/>
          </a:prstGeom>
          <a:solidFill>
            <a:srgbClr val="1F6E6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E4C97E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35240" y="4480560"/>
            <a:ext cx="1051560" cy="1051560"/>
          </a:xfrm>
          <a:prstGeom prst="ellipse">
            <a:avLst/>
          </a:prstGeom>
          <a:solidFill>
            <a:srgbClr val="1F6E6B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281160" y="5029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1F6E6B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ض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10515600" y="39776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B98A2E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غ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0" y="45537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6404A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502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TÜRKİYE YÜZYILI MAARİF MODELİ  •  EĞİTİCİ EĞİTİMİ  •  MERSİN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8778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100" b="1" dirty="0">
                <a:solidFill>
                  <a:srgbClr val="16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Yabancı Dil Öğretiminde
</a:t>
            </a:r>
            <a:pPr indent="0" marL="0">
              <a:lnSpc>
                <a:spcPts val="5200"/>
              </a:lnSpc>
              <a:buNone/>
            </a:pPr>
            <a:r>
              <a:rPr lang="en-US" sz="4100" b="1" dirty="0">
                <a:solidFill>
                  <a:srgbClr val="1F6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Yapay Zekâ Kullanımı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85800" y="4005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Kabullenmek  •  Ölçüsünü Bilmek  •  Felsefesini Kavramak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5212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Rauf Enç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5696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Arapça Öğretmenleri Eğitici Eğitimi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4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6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6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6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6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5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4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4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3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3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108960" cy="3108960"/>
          </a:xfrm>
          <a:prstGeom prst="ellipse">
            <a:avLst/>
          </a:prstGeom>
          <a:solidFill>
            <a:srgbClr val="E4C9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5120640"/>
            <a:ext cx="2926080" cy="2926080"/>
          </a:xfrm>
          <a:prstGeom prst="ellipse">
            <a:avLst/>
          </a:prstGeom>
          <a:solidFill>
            <a:srgbClr val="1F6E6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Üç Ölçü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zekâyı hikmetle kullanmanın altın kuralları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74720" cy="361188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88900" dist="25400" dir="5400000">
              <a:srgbClr val="C9BFA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057400"/>
            <a:ext cx="731520" cy="731520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6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Şuur değil, istatistik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32688" y="352044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bilinçle değil, olasılıkla konuşur. Çıktısı ilham vericidir; hüküm değildir. Hata eder, uydurabilir.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4773168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yüzden: her çıktıyı muallim kontrol eder.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07408" y="1783080"/>
            <a:ext cx="3474720" cy="361188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88900" dist="25400" dir="5400000">
              <a:srgbClr val="C9BF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79008" y="2057400"/>
            <a:ext cx="731520" cy="731520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779008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٢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36008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6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Muavin, muallim değil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700016" y="352044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Hızı makine verir; yönü insan. Angarya robota — talim, terbiye, hikmet ve edep muallime.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0016" y="4773168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yüzden: son söz, sınıfı tanıyandadır.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74736" y="1783080"/>
            <a:ext cx="3474720" cy="361188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AE2D2"/>
            </a:solidFill>
            <a:prstDash val="solid"/>
          </a:ln>
          <a:effectLst>
            <a:outerShdw sx="100000" sy="100000" kx="0" ky="0" algn="bl" rotWithShape="0" blurRad="88900" dist="25400" dir="5400000">
              <a:srgbClr val="C9BFA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46336" y="2057400"/>
            <a:ext cx="731520" cy="731520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9546336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٣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3336" y="2999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6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Kopya değil, kalıp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467344" y="3520440"/>
            <a:ext cx="28895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E4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örnek taklit için değil, tersine mühendislik içindir. Metni değil, tasarım mantığını taşı.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67344" y="4773168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yüzden: kalıbı çıkar, kendi bağlamına uyarla.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71600" y="5806440"/>
            <a:ext cx="9445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6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“Hızı makine verir; yönü, ölçüyü ve manayı insan verir.”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vigilant-optimistic-davinci/mnt/outputs/deck_img/i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Yabancı Dil Öğretiminde Yapay Zekâ Kullanımı</dc:title>
  <dc:subject>PptxGenJS Presentation</dc:subject>
  <dc:creator>Rauf Enç</dc:creator>
  <cp:lastModifiedBy>Rauf Enç</cp:lastModifiedBy>
  <cp:revision>1</cp:revision>
  <dcterms:created xsi:type="dcterms:W3CDTF">2026-07-15T09:08:03Z</dcterms:created>
  <dcterms:modified xsi:type="dcterms:W3CDTF">2026-07-15T09:08:03Z</dcterms:modified>
</cp:coreProperties>
</file>