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5143500" cy="9144000"/>
  <p:notesSz cx="9144000" cy="51435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5143500" cy="9144000"/>
          </a:xfrm>
          <a:prstGeom prst="rect">
            <a:avLst/>
          </a:prstGeom>
          <a:solidFill>
            <a:srgbClr val="8B0000"/>
          </a:solidFill>
          <a:ln/>
        </p:spPr>
      </p:sp>
      <p:sp>
        <p:nvSpPr>
          <p:cNvPr id="3" name="Shape 1"/>
          <p:cNvSpPr/>
          <p:nvPr/>
        </p:nvSpPr>
        <p:spPr>
          <a:xfrm>
            <a:off x="0" y="0"/>
            <a:ext cx="5143500" cy="4572000"/>
          </a:xfrm>
          <a:prstGeom prst="rect">
            <a:avLst/>
          </a:prstGeom>
          <a:solidFill>
            <a:srgbClr val="C8102E">
              <a:alpha val="60000"/>
            </a:srgbClr>
          </a:solidFill>
          <a:ln/>
        </p:spPr>
      </p:sp>
      <p:sp>
        <p:nvSpPr>
          <p:cNvPr id="4" name="Text 2"/>
          <p:cNvSpPr/>
          <p:nvPr/>
        </p:nvSpPr>
        <p:spPr>
          <a:xfrm>
            <a:off x="0" y="548640"/>
            <a:ext cx="5143500" cy="457200"/>
          </a:xfrm>
          <a:prstGeom prst="rect">
            <a:avLst/>
          </a:prstGeom>
          <a:noFill/>
          <a:ln/>
        </p:spPr>
        <p:txBody>
          <a:bodyPr wrap="square" rtlCol="0" anchor="ctr"/>
          <a:lstStyle/>
          <a:p>
            <a:pPr algn="ctr" indent="0" marL="0">
              <a:buNone/>
            </a:pPr>
            <a:r>
              <a:rPr lang="en-US" sz="1100" dirty="0">
                <a:solidFill>
                  <a:srgbClr val="FCEAED"/>
                </a:solidFill>
                <a:latin typeface="Calibri" pitchFamily="34" charset="0"/>
                <a:ea typeface="Calibri" pitchFamily="34" charset="-122"/>
                <a:cs typeface="Calibri" pitchFamily="34" charset="-120"/>
              </a:rPr>
              <a:t>Birlikte Iyilik Akademisi</a:t>
            </a:r>
            <a:endParaRPr lang="en-US" sz="1100" dirty="0"/>
          </a:p>
        </p:txBody>
      </p:sp>
      <p:sp>
        <p:nvSpPr>
          <p:cNvPr id="5" name="Text 3"/>
          <p:cNvSpPr/>
          <p:nvPr/>
        </p:nvSpPr>
        <p:spPr>
          <a:xfrm>
            <a:off x="365760" y="2743200"/>
            <a:ext cx="4411980" cy="137160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Af ve Merhamet</a:t>
            </a:r>
            <a:endParaRPr lang="en-US" sz="2800" dirty="0"/>
          </a:p>
        </p:txBody>
      </p:sp>
      <p:sp>
        <p:nvSpPr>
          <p:cNvPr id="6" name="Text 4"/>
          <p:cNvSpPr/>
          <p:nvPr/>
        </p:nvSpPr>
        <p:spPr>
          <a:xfrm>
            <a:off x="457200" y="4206240"/>
            <a:ext cx="4229100" cy="548640"/>
          </a:xfrm>
          <a:prstGeom prst="rect">
            <a:avLst/>
          </a:prstGeom>
          <a:noFill/>
          <a:ln/>
        </p:spPr>
        <p:txBody>
          <a:bodyPr wrap="square" rtlCol="0" anchor="ctr"/>
          <a:lstStyle/>
          <a:p>
            <a:pPr algn="ctr" indent="0" marL="0">
              <a:buNone/>
            </a:pPr>
            <a:r>
              <a:rPr lang="en-US" sz="1500" i="1" dirty="0">
                <a:solidFill>
                  <a:srgbClr val="FCEAED"/>
                </a:solidFill>
                <a:latin typeface="Calibri" pitchFamily="34" charset="0"/>
                <a:ea typeface="Calibri" pitchFamily="34" charset="-122"/>
                <a:cs typeface="Calibri" pitchFamily="34" charset="-120"/>
              </a:rPr>
              <a:t>En Büyük Zafer, En Büyük Af</a:t>
            </a:r>
            <a:endParaRPr lang="en-US" sz="1500" dirty="0"/>
          </a:p>
        </p:txBody>
      </p:sp>
      <p:sp>
        <p:nvSpPr>
          <p:cNvPr id="7" name="Text 5"/>
          <p:cNvSpPr/>
          <p:nvPr/>
        </p:nvSpPr>
        <p:spPr>
          <a:xfrm>
            <a:off x="0" y="8412480"/>
            <a:ext cx="5143500" cy="457200"/>
          </a:xfrm>
          <a:prstGeom prst="rect">
            <a:avLst/>
          </a:prstGeom>
          <a:noFill/>
          <a:ln/>
        </p:spPr>
        <p:txBody>
          <a:bodyPr wrap="square" rtlCol="0" anchor="ctr"/>
          <a:lstStyle/>
          <a:p>
            <a:pPr algn="ctr" indent="0" marL="0">
              <a:buNone/>
            </a:pPr>
            <a:r>
              <a:rPr lang="en-US" sz="1000" dirty="0">
                <a:solidFill>
                  <a:srgbClr val="FCEAED"/>
                </a:solidFill>
                <a:latin typeface="Calibri" pitchFamily="34" charset="0"/>
                <a:ea typeface="Calibri" pitchFamily="34" charset="-122"/>
                <a:cs typeface="Calibri" pitchFamily="34" charset="-120"/>
              </a:rPr>
              <a:t>Degerler Egitimi</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Buguen Ne Oegreneceegiz?</a:t>
            </a:r>
            <a:endParaRPr lang="en-US" sz="1800" dirty="0"/>
          </a:p>
        </p:txBody>
      </p:sp>
      <p:sp>
        <p:nvSpPr>
          <p:cNvPr id="4" name="Shape 2"/>
          <p:cNvSpPr/>
          <p:nvPr/>
        </p:nvSpPr>
        <p:spPr>
          <a:xfrm>
            <a:off x="274320" y="914400"/>
            <a:ext cx="365760" cy="365760"/>
          </a:xfrm>
          <a:prstGeom prst="ellipse">
            <a:avLst/>
          </a:prstGeom>
          <a:solidFill>
            <a:srgbClr val="C8102E"/>
          </a:solidFill>
          <a:ln/>
        </p:spPr>
      </p:sp>
      <p:sp>
        <p:nvSpPr>
          <p:cNvPr id="5" name="Text 3"/>
          <p:cNvSpPr/>
          <p:nvPr/>
        </p:nvSpPr>
        <p:spPr>
          <a:xfrm>
            <a:off x="274320" y="914400"/>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777240" y="822960"/>
            <a:ext cx="4091940" cy="640080"/>
          </a:xfrm>
          <a:prstGeom prst="rect">
            <a:avLst/>
          </a:prstGeom>
          <a:noFill/>
          <a:ln/>
        </p:spPr>
        <p:txBody>
          <a:bodyPr wrap="square" rtlCol="0" anchor="ctr"/>
          <a:lstStyle/>
          <a:p>
            <a:pPr algn="l" indent="0" marL="0">
              <a:buNone/>
            </a:pPr>
            <a:r>
              <a:rPr lang="en-US" sz="1200" dirty="0">
                <a:solidFill>
                  <a:srgbClr val="222222"/>
                </a:solidFill>
                <a:latin typeface="Calibri" pitchFamily="34" charset="0"/>
                <a:ea typeface="Calibri" pitchFamily="34" charset="-122"/>
                <a:cs typeface="Calibri" pitchFamily="34" charset="-120"/>
              </a:rPr>
              <a:t>Mekke'nin fethinin nasıl gerçekleştiğini ve genel affı açıklar.</a:t>
            </a:r>
            <a:endParaRPr lang="en-US" sz="1200" dirty="0"/>
          </a:p>
        </p:txBody>
      </p:sp>
      <p:sp>
        <p:nvSpPr>
          <p:cNvPr id="7" name="Shape 5"/>
          <p:cNvSpPr/>
          <p:nvPr/>
        </p:nvSpPr>
        <p:spPr>
          <a:xfrm>
            <a:off x="274320" y="1874520"/>
            <a:ext cx="365760" cy="365760"/>
          </a:xfrm>
          <a:prstGeom prst="ellipse">
            <a:avLst/>
          </a:prstGeom>
          <a:solidFill>
            <a:srgbClr val="C8102E"/>
          </a:solidFill>
          <a:ln/>
        </p:spPr>
      </p:sp>
      <p:sp>
        <p:nvSpPr>
          <p:cNvPr id="8" name="Text 6"/>
          <p:cNvSpPr/>
          <p:nvPr/>
        </p:nvSpPr>
        <p:spPr>
          <a:xfrm>
            <a:off x="274320" y="1874520"/>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9" name="Text 7"/>
          <p:cNvSpPr/>
          <p:nvPr/>
        </p:nvSpPr>
        <p:spPr>
          <a:xfrm>
            <a:off x="777240" y="1783080"/>
            <a:ext cx="4091940" cy="640080"/>
          </a:xfrm>
          <a:prstGeom prst="rect">
            <a:avLst/>
          </a:prstGeom>
          <a:noFill/>
          <a:ln/>
        </p:spPr>
        <p:txBody>
          <a:bodyPr wrap="square" rtlCol="0" anchor="ctr"/>
          <a:lstStyle/>
          <a:p>
            <a:pPr algn="l" indent="0" marL="0">
              <a:buNone/>
            </a:pPr>
            <a:r>
              <a:rPr lang="en-US" sz="1200" dirty="0">
                <a:solidFill>
                  <a:srgbClr val="222222"/>
                </a:solidFill>
                <a:latin typeface="Calibri" pitchFamily="34" charset="0"/>
                <a:ea typeface="Calibri" pitchFamily="34" charset="-122"/>
                <a:cs typeface="Calibri" pitchFamily="34" charset="-120"/>
              </a:rPr>
              <a:t>Affetmenin intikamdan daha güçlü ve etkili olduğunu kavrar.</a:t>
            </a:r>
            <a:endParaRPr lang="en-US" sz="1200" dirty="0"/>
          </a:p>
        </p:txBody>
      </p:sp>
      <p:sp>
        <p:nvSpPr>
          <p:cNvPr id="10" name="Shape 8"/>
          <p:cNvSpPr/>
          <p:nvPr/>
        </p:nvSpPr>
        <p:spPr>
          <a:xfrm>
            <a:off x="274320" y="2834640"/>
            <a:ext cx="365760" cy="365760"/>
          </a:xfrm>
          <a:prstGeom prst="ellipse">
            <a:avLst/>
          </a:prstGeom>
          <a:solidFill>
            <a:srgbClr val="C8102E"/>
          </a:solidFill>
          <a:ln/>
        </p:spPr>
      </p:sp>
      <p:sp>
        <p:nvSpPr>
          <p:cNvPr id="11" name="Text 9"/>
          <p:cNvSpPr/>
          <p:nvPr/>
        </p:nvSpPr>
        <p:spPr>
          <a:xfrm>
            <a:off x="274320" y="2834640"/>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2" name="Text 10"/>
          <p:cNvSpPr/>
          <p:nvPr/>
        </p:nvSpPr>
        <p:spPr>
          <a:xfrm>
            <a:off x="777240" y="2743200"/>
            <a:ext cx="4091940" cy="640080"/>
          </a:xfrm>
          <a:prstGeom prst="rect">
            <a:avLst/>
          </a:prstGeom>
          <a:noFill/>
          <a:ln/>
        </p:spPr>
        <p:txBody>
          <a:bodyPr wrap="square" rtlCol="0" anchor="ctr"/>
          <a:lstStyle/>
          <a:p>
            <a:pPr algn="l" indent="0" marL="0">
              <a:buNone/>
            </a:pPr>
            <a:r>
              <a:rPr lang="en-US" sz="1200" dirty="0">
                <a:solidFill>
                  <a:srgbClr val="222222"/>
                </a:solidFill>
                <a:latin typeface="Calibri" pitchFamily="34" charset="0"/>
                <a:ea typeface="Calibri" pitchFamily="34" charset="-122"/>
                <a:cs typeface="Calibri" pitchFamily="34" charset="-120"/>
              </a:rPr>
              <a:t>Güçlüyken merhamet göstermenin yüceliğini anlar.</a:t>
            </a:r>
            <a:endParaRPr lang="en-US" sz="1200" dirty="0"/>
          </a:p>
        </p:txBody>
      </p:sp>
      <p:sp>
        <p:nvSpPr>
          <p:cNvPr id="13" name="Shape 11"/>
          <p:cNvSpPr/>
          <p:nvPr/>
        </p:nvSpPr>
        <p:spPr>
          <a:xfrm>
            <a:off x="274320" y="3794760"/>
            <a:ext cx="365760" cy="365760"/>
          </a:xfrm>
          <a:prstGeom prst="ellipse">
            <a:avLst/>
          </a:prstGeom>
          <a:solidFill>
            <a:srgbClr val="C8102E"/>
          </a:solidFill>
          <a:ln/>
        </p:spPr>
      </p:sp>
      <p:sp>
        <p:nvSpPr>
          <p:cNvPr id="14" name="Text 12"/>
          <p:cNvSpPr/>
          <p:nvPr/>
        </p:nvSpPr>
        <p:spPr>
          <a:xfrm>
            <a:off x="274320" y="3794760"/>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5" name="Text 13"/>
          <p:cNvSpPr/>
          <p:nvPr/>
        </p:nvSpPr>
        <p:spPr>
          <a:xfrm>
            <a:off x="777240" y="3703320"/>
            <a:ext cx="4091940" cy="640080"/>
          </a:xfrm>
          <a:prstGeom prst="rect">
            <a:avLst/>
          </a:prstGeom>
          <a:noFill/>
          <a:ln/>
        </p:spPr>
        <p:txBody>
          <a:bodyPr wrap="square" rtlCol="0" anchor="ctr"/>
          <a:lstStyle/>
          <a:p>
            <a:pPr algn="l" indent="0" marL="0">
              <a:buNone/>
            </a:pPr>
            <a:r>
              <a:rPr lang="en-US" sz="1200" dirty="0">
                <a:solidFill>
                  <a:srgbClr val="222222"/>
                </a:solidFill>
                <a:latin typeface="Calibri" pitchFamily="34" charset="0"/>
                <a:ea typeface="Calibri" pitchFamily="34" charset="-122"/>
                <a:cs typeface="Calibri" pitchFamily="34" charset="-120"/>
              </a:rPr>
              <a:t>Af ve merhametin toplumsal barışa katkısını değerlendirir.</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Anahtar Kavramlar</a:t>
            </a:r>
            <a:endParaRPr lang="en-US" sz="1800" dirty="0"/>
          </a:p>
        </p:txBody>
      </p:sp>
      <p:sp>
        <p:nvSpPr>
          <p:cNvPr id="4" name="Shape 2"/>
          <p:cNvSpPr/>
          <p:nvPr/>
        </p:nvSpPr>
        <p:spPr>
          <a:xfrm>
            <a:off x="274320" y="822960"/>
            <a:ext cx="2228850" cy="2377440"/>
          </a:xfrm>
          <a:prstGeom prst="roundRect">
            <a:avLst>
              <a:gd name="adj" fmla="val 3282"/>
            </a:avLst>
          </a:prstGeom>
          <a:solidFill>
            <a:srgbClr val="FCEAED"/>
          </a:solidFill>
          <a:ln/>
        </p:spPr>
      </p:sp>
      <p:sp>
        <p:nvSpPr>
          <p:cNvPr id="5" name="Text 3"/>
          <p:cNvSpPr/>
          <p:nvPr/>
        </p:nvSpPr>
        <p:spPr>
          <a:xfrm>
            <a:off x="365760" y="9144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Af</a:t>
            </a:r>
            <a:endParaRPr lang="en-US" sz="1100" dirty="0"/>
          </a:p>
        </p:txBody>
      </p:sp>
      <p:sp>
        <p:nvSpPr>
          <p:cNvPr id="6" name="Text 4"/>
          <p:cNvSpPr/>
          <p:nvPr/>
        </p:nvSpPr>
        <p:spPr>
          <a:xfrm>
            <a:off x="365760" y="12801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Haksızlık yapan kişiyi cezalandırma gücü varken bağışlama ve intikamdan vazgeçme.</a:t>
            </a:r>
            <a:endParaRPr lang="en-US" sz="900" dirty="0"/>
          </a:p>
        </p:txBody>
      </p:sp>
      <p:sp>
        <p:nvSpPr>
          <p:cNvPr id="7" name="Shape 5"/>
          <p:cNvSpPr/>
          <p:nvPr/>
        </p:nvSpPr>
        <p:spPr>
          <a:xfrm>
            <a:off x="2640330" y="822960"/>
            <a:ext cx="2228850" cy="2377440"/>
          </a:xfrm>
          <a:prstGeom prst="roundRect">
            <a:avLst>
              <a:gd name="adj" fmla="val 3282"/>
            </a:avLst>
          </a:prstGeom>
          <a:solidFill>
            <a:srgbClr val="FCEAED"/>
          </a:solidFill>
          <a:ln/>
        </p:spPr>
      </p:sp>
      <p:sp>
        <p:nvSpPr>
          <p:cNvPr id="8" name="Text 6"/>
          <p:cNvSpPr/>
          <p:nvPr/>
        </p:nvSpPr>
        <p:spPr>
          <a:xfrm>
            <a:off x="2731770" y="9144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Merhamet</a:t>
            </a:r>
            <a:endParaRPr lang="en-US" sz="1100" dirty="0"/>
          </a:p>
        </p:txBody>
      </p:sp>
      <p:sp>
        <p:nvSpPr>
          <p:cNvPr id="9" name="Text 7"/>
          <p:cNvSpPr/>
          <p:nvPr/>
        </p:nvSpPr>
        <p:spPr>
          <a:xfrm>
            <a:off x="2731770" y="12801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Başkalarının acısını hissederek onlara şefkat ve iyilikle yaklaşma.</a:t>
            </a:r>
            <a:endParaRPr lang="en-US" sz="900" dirty="0"/>
          </a:p>
        </p:txBody>
      </p:sp>
      <p:sp>
        <p:nvSpPr>
          <p:cNvPr id="10" name="Shape 8"/>
          <p:cNvSpPr/>
          <p:nvPr/>
        </p:nvSpPr>
        <p:spPr>
          <a:xfrm>
            <a:off x="274320" y="3337560"/>
            <a:ext cx="2228850" cy="2377440"/>
          </a:xfrm>
          <a:prstGeom prst="roundRect">
            <a:avLst>
              <a:gd name="adj" fmla="val 3282"/>
            </a:avLst>
          </a:prstGeom>
          <a:solidFill>
            <a:srgbClr val="FCEAED"/>
          </a:solidFill>
          <a:ln/>
        </p:spPr>
      </p:sp>
      <p:sp>
        <p:nvSpPr>
          <p:cNvPr id="11" name="Text 9"/>
          <p:cNvSpPr/>
          <p:nvPr/>
        </p:nvSpPr>
        <p:spPr>
          <a:xfrm>
            <a:off x="365760" y="34290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Tevazu</a:t>
            </a:r>
            <a:endParaRPr lang="en-US" sz="1100" dirty="0"/>
          </a:p>
        </p:txBody>
      </p:sp>
      <p:sp>
        <p:nvSpPr>
          <p:cNvPr id="12" name="Text 10"/>
          <p:cNvSpPr/>
          <p:nvPr/>
        </p:nvSpPr>
        <p:spPr>
          <a:xfrm>
            <a:off x="365760" y="37947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Başarı ve zafer anında bile kibirlenmeyip alçak gönüllü olma.</a:t>
            </a:r>
            <a:endParaRPr lang="en-US" sz="900" dirty="0"/>
          </a:p>
        </p:txBody>
      </p:sp>
      <p:sp>
        <p:nvSpPr>
          <p:cNvPr id="13" name="Shape 11"/>
          <p:cNvSpPr/>
          <p:nvPr/>
        </p:nvSpPr>
        <p:spPr>
          <a:xfrm>
            <a:off x="2640330" y="3337560"/>
            <a:ext cx="2228850" cy="2377440"/>
          </a:xfrm>
          <a:prstGeom prst="roundRect">
            <a:avLst>
              <a:gd name="adj" fmla="val 3282"/>
            </a:avLst>
          </a:prstGeom>
          <a:solidFill>
            <a:srgbClr val="FCEAED"/>
          </a:solidFill>
          <a:ln/>
        </p:spPr>
      </p:sp>
      <p:sp>
        <p:nvSpPr>
          <p:cNvPr id="14" name="Text 12"/>
          <p:cNvSpPr/>
          <p:nvPr/>
        </p:nvSpPr>
        <p:spPr>
          <a:xfrm>
            <a:off x="2731770" y="34290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Bağışlama</a:t>
            </a:r>
            <a:endParaRPr lang="en-US" sz="1100" dirty="0"/>
          </a:p>
        </p:txBody>
      </p:sp>
      <p:sp>
        <p:nvSpPr>
          <p:cNvPr id="15" name="Text 13"/>
          <p:cNvSpPr/>
          <p:nvPr/>
        </p:nvSpPr>
        <p:spPr>
          <a:xfrm>
            <a:off x="2731770" y="37947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Kırgınlıkları geride bırakarak kalbi kin ve nefretten arındırma.</a:t>
            </a:r>
            <a:endParaRPr lang="en-US" sz="900" dirty="0"/>
          </a:p>
        </p:txBody>
      </p:sp>
      <p:sp>
        <p:nvSpPr>
          <p:cNvPr id="16" name="Shape 14"/>
          <p:cNvSpPr/>
          <p:nvPr/>
        </p:nvSpPr>
        <p:spPr>
          <a:xfrm>
            <a:off x="274320" y="5852160"/>
            <a:ext cx="2228850" cy="2377440"/>
          </a:xfrm>
          <a:prstGeom prst="roundRect">
            <a:avLst>
              <a:gd name="adj" fmla="val 3282"/>
            </a:avLst>
          </a:prstGeom>
          <a:solidFill>
            <a:srgbClr val="FCEAED"/>
          </a:solidFill>
          <a:ln/>
        </p:spPr>
      </p:sp>
      <p:sp>
        <p:nvSpPr>
          <p:cNvPr id="17" name="Text 15"/>
          <p:cNvSpPr/>
          <p:nvPr/>
        </p:nvSpPr>
        <p:spPr>
          <a:xfrm>
            <a:off x="365760" y="59436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Barış</a:t>
            </a:r>
            <a:endParaRPr lang="en-US" sz="1100" dirty="0"/>
          </a:p>
        </p:txBody>
      </p:sp>
      <p:sp>
        <p:nvSpPr>
          <p:cNvPr id="18" name="Text 16"/>
          <p:cNvSpPr/>
          <p:nvPr/>
        </p:nvSpPr>
        <p:spPr>
          <a:xfrm>
            <a:off x="365760" y="63093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İnsanlar arasında huzur, güven ve uyumun sağlanması.</a:t>
            </a:r>
            <a:endParaRPr lang="en-US" sz="900" dirty="0"/>
          </a:p>
        </p:txBody>
      </p:sp>
      <p:sp>
        <p:nvSpPr>
          <p:cNvPr id="19" name="Shape 17"/>
          <p:cNvSpPr/>
          <p:nvPr/>
        </p:nvSpPr>
        <p:spPr>
          <a:xfrm>
            <a:off x="2640330" y="5852160"/>
            <a:ext cx="2228850" cy="2377440"/>
          </a:xfrm>
          <a:prstGeom prst="roundRect">
            <a:avLst>
              <a:gd name="adj" fmla="val 3282"/>
            </a:avLst>
          </a:prstGeom>
          <a:solidFill>
            <a:srgbClr val="FCEAED"/>
          </a:solidFill>
          <a:ln/>
        </p:spPr>
      </p:sp>
      <p:sp>
        <p:nvSpPr>
          <p:cNvPr id="20" name="Text 18"/>
          <p:cNvSpPr/>
          <p:nvPr/>
        </p:nvSpPr>
        <p:spPr>
          <a:xfrm>
            <a:off x="2731770" y="59436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Kerem</a:t>
            </a:r>
            <a:endParaRPr lang="en-US" sz="1100" dirty="0"/>
          </a:p>
        </p:txBody>
      </p:sp>
      <p:sp>
        <p:nvSpPr>
          <p:cNvPr id="21" name="Text 19"/>
          <p:cNvSpPr/>
          <p:nvPr/>
        </p:nvSpPr>
        <p:spPr>
          <a:xfrm>
            <a:off x="2731770" y="63093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Cömertlik, asâlet ve büyüklük göstererek insanlara iyi davranma.</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Mekke'nin Fethi ve Genel Af</a:t>
            </a:r>
            <a:endParaRPr lang="en-US" sz="1800" dirty="0"/>
          </a:p>
        </p:txBody>
      </p:sp>
      <p:sp>
        <p:nvSpPr>
          <p:cNvPr id="4" name="Text 2"/>
          <p:cNvSpPr/>
          <p:nvPr/>
        </p:nvSpPr>
        <p:spPr>
          <a:xfrm>
            <a:off x="274320" y="822960"/>
            <a:ext cx="4594860" cy="640080"/>
          </a:xfrm>
          <a:prstGeom prst="rect">
            <a:avLst/>
          </a:prstGeom>
          <a:noFill/>
          <a:ln/>
        </p:spPr>
        <p:txBody>
          <a:bodyPr wrap="square" rtlCol="0" anchor="ctr"/>
          <a:lstStyle/>
          <a:p>
            <a:pPr algn="l" indent="0" marL="0">
              <a:buNone/>
            </a:pPr>
            <a:r>
              <a:rPr lang="en-US" sz="1000" i="1" dirty="0">
                <a:solidFill>
                  <a:srgbClr val="666666"/>
                </a:solidFill>
                <a:latin typeface="Calibri" pitchFamily="34" charset="0"/>
                <a:ea typeface="Calibri" pitchFamily="34" charset="-122"/>
                <a:cs typeface="Calibri" pitchFamily="34" charset="-120"/>
              </a:rPr>
              <a:t>Hicret'in sekizinci yılında Kureyş müşriklerinin Hudeybiye Antlaşması'nı bozması üzerine Peygamber Efendimiz sallallahu aleyhi ve sellem on bin kişilik bir orduyla Mekke üzerine yürüdü. Yıllarca kendisine ve ashâbına zulüm, işkence ve sürgün yapan şehre dönüş zamanı gelmişti.</a:t>
            </a:r>
            <a:endParaRPr lang="en-US" sz="1000" dirty="0"/>
          </a:p>
        </p:txBody>
      </p:sp>
      <p:sp>
        <p:nvSpPr>
          <p:cNvPr id="5" name="Text 3"/>
          <p:cNvSpPr/>
          <p:nvPr/>
        </p:nvSpPr>
        <p:spPr>
          <a:xfrm>
            <a:off x="274320" y="1645920"/>
            <a:ext cx="4594860" cy="192024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Peygamber Efendimiz sallallahu aleyhi ve sellem Mekke'ye girerken başını secde eder gibi eğmiş, tevazu ile ilerlemişti. Tarihte benzeri görülmemiş bir şekilde şehir neredeyse hiç kan dökülmeden fethedildi. Kâbe putlardan temizlendi ve tevhid inancı tekrar hâkim kılındı. Bu, İslâm tarihinin en büyük zaferlerinden biriydi.</a:t>
            </a:r>
            <a:endParaRPr lang="en-US" sz="1000" dirty="0"/>
          </a:p>
        </p:txBody>
      </p:sp>
      <p:sp>
        <p:nvSpPr>
          <p:cNvPr id="6" name="Text 4"/>
          <p:cNvSpPr/>
          <p:nvPr/>
        </p:nvSpPr>
        <p:spPr>
          <a:xfrm>
            <a:off x="274320" y="3657600"/>
            <a:ext cx="4594860" cy="192024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Fetihten sonra Kureyşliler Peygamber Efendimiz sallallahu aleyhi ve sellem'in huzurunda toplandı. Yıllarca O'na ve Müslümanlara akla gelmez zulümler yapmışlardı. Herkes büyük bir korku içindeydi; intikam alınacağını düşünüyorlardı. Peygamber Efendimiz sallallahu aleyhi ve sellem onlara 'Bugün size ne yapacağımı zannediyorsunuz?' diye sordu. 'Sen kerim bir kardeşsin, kerim bir kardeşin oğlusun' dediler.</a:t>
            </a:r>
            <a:endParaRPr lang="en-US" sz="1000" dirty="0"/>
          </a:p>
        </p:txBody>
      </p:sp>
      <p:sp>
        <p:nvSpPr>
          <p:cNvPr id="7" name="Text 5"/>
          <p:cNvSpPr/>
          <p:nvPr/>
        </p:nvSpPr>
        <p:spPr>
          <a:xfrm>
            <a:off x="274320" y="5669280"/>
            <a:ext cx="4594860" cy="192024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Peygamber Efendimiz sallallahu aleyhi ve sellem tarihe altın harflerle yazılan şu sözleri buyurdu: 'Bugün size kınama yoktur. Gidiniz, hepiniz serbestsiniz!' Bu emsalsiz af, pek çok Kureyşlinin kalbini İslâm'a ısındırdı ve Ebû Süfyân dahil birçok kişi Müslüman oldu. Bu olay, gücü elinde tutarken affetmenin ne kadar yüce bir erdem olduğunun en parlak örneğidir.</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731520"/>
            <a:ext cx="914400" cy="1097280"/>
          </a:xfrm>
          <a:prstGeom prst="rect">
            <a:avLst/>
          </a:prstGeom>
          <a:noFill/>
          <a:ln/>
        </p:spPr>
        <p:txBody>
          <a:bodyPr wrap="square" rtlCol="0" anchor="ctr"/>
          <a:lstStyle/>
          <a:p>
            <a:pPr indent="0" marL="0">
              <a:buNone/>
            </a:pPr>
            <a:r>
              <a:rPr lang="en-US" sz="7200" b="1" dirty="0">
                <a:solidFill>
                  <a:srgbClr val="C8102E"/>
                </a:solidFill>
                <a:latin typeface="Calibri" pitchFamily="34" charset="0"/>
                <a:ea typeface="Calibri" pitchFamily="34" charset="-122"/>
                <a:cs typeface="Calibri" pitchFamily="34" charset="-120"/>
              </a:rPr>
              <a:t>“</a:t>
            </a:r>
            <a:endParaRPr lang="en-US" sz="7200" dirty="0"/>
          </a:p>
        </p:txBody>
      </p:sp>
      <p:sp>
        <p:nvSpPr>
          <p:cNvPr id="4" name="Shape 2"/>
          <p:cNvSpPr/>
          <p:nvPr/>
        </p:nvSpPr>
        <p:spPr>
          <a:xfrm>
            <a:off x="822960" y="1188720"/>
            <a:ext cx="45720" cy="4114800"/>
          </a:xfrm>
          <a:prstGeom prst="rect">
            <a:avLst/>
          </a:prstGeom>
          <a:solidFill>
            <a:srgbClr val="C8102E"/>
          </a:solidFill>
          <a:ln/>
        </p:spPr>
      </p:sp>
      <p:sp>
        <p:nvSpPr>
          <p:cNvPr id="5" name="Text 3"/>
          <p:cNvSpPr/>
          <p:nvPr/>
        </p:nvSpPr>
        <p:spPr>
          <a:xfrm>
            <a:off x="1051560" y="1188720"/>
            <a:ext cx="3680460" cy="4114800"/>
          </a:xfrm>
          <a:prstGeom prst="rect">
            <a:avLst/>
          </a:prstGeom>
          <a:noFill/>
          <a:ln/>
        </p:spPr>
        <p:txBody>
          <a:bodyPr wrap="square" rtlCol="0" anchor="ctr"/>
          <a:lstStyle/>
          <a:p>
            <a:pPr algn="l" indent="0" marL="0">
              <a:buNone/>
            </a:pPr>
            <a:r>
              <a:rPr lang="en-US" sz="1400" i="1" dirty="0">
                <a:solidFill>
                  <a:srgbClr val="222222"/>
                </a:solidFill>
                <a:latin typeface="Calibri" pitchFamily="34" charset="0"/>
                <a:ea typeface="Calibri" pitchFamily="34" charset="-122"/>
                <a:cs typeface="Calibri" pitchFamily="34" charset="-120"/>
              </a:rPr>
              <a:t>Bugün size kınama yoktur. Gidiniz, hepiniz serbestsiniz!</a:t>
            </a:r>
            <a:endParaRPr lang="en-US" sz="1400" dirty="0"/>
          </a:p>
        </p:txBody>
      </p:sp>
      <p:sp>
        <p:nvSpPr>
          <p:cNvPr id="6" name="Text 4"/>
          <p:cNvSpPr/>
          <p:nvPr/>
        </p:nvSpPr>
        <p:spPr>
          <a:xfrm>
            <a:off x="1051560" y="5669280"/>
            <a:ext cx="3680460" cy="457200"/>
          </a:xfrm>
          <a:prstGeom prst="rect">
            <a:avLst/>
          </a:prstGeom>
          <a:noFill/>
          <a:ln/>
        </p:spPr>
        <p:txBody>
          <a:bodyPr wrap="square" rtlCol="0" anchor="ctr"/>
          <a:lstStyle/>
          <a:p>
            <a:pPr algn="r" indent="0" marL="0">
              <a:buNone/>
            </a:pPr>
            <a:r>
              <a:rPr lang="en-US" sz="1000" dirty="0">
                <a:solidFill>
                  <a:srgbClr val="666666"/>
                </a:solidFill>
                <a:latin typeface="Calibri" pitchFamily="34" charset="0"/>
                <a:ea typeface="Calibri" pitchFamily="34" charset="-122"/>
                <a:cs typeface="Calibri" pitchFamily="34" charset="-120"/>
              </a:rPr>
              <a:t>— Peygamber Efendimiz sallallahu aleyhi ve sellem</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Shape 1"/>
          <p:cNvSpPr/>
          <p:nvPr/>
        </p:nvSpPr>
        <p:spPr>
          <a:xfrm>
            <a:off x="1657350" y="3200400"/>
            <a:ext cx="1828800" cy="27432"/>
          </a:xfrm>
          <a:prstGeom prst="rect">
            <a:avLst/>
          </a:prstGeom>
          <a:solidFill>
            <a:srgbClr val="C8102E"/>
          </a:solidFill>
          <a:ln/>
        </p:spPr>
      </p:sp>
      <p:sp>
        <p:nvSpPr>
          <p:cNvPr id="4" name="Text 2"/>
          <p:cNvSpPr/>
          <p:nvPr/>
        </p:nvSpPr>
        <p:spPr>
          <a:xfrm>
            <a:off x="457200" y="3474720"/>
            <a:ext cx="4229100" cy="3200400"/>
          </a:xfrm>
          <a:prstGeom prst="rect">
            <a:avLst/>
          </a:prstGeom>
          <a:noFill/>
          <a:ln/>
        </p:spPr>
        <p:txBody>
          <a:bodyPr wrap="square" rtlCol="0" anchor="ctr"/>
          <a:lstStyle/>
          <a:p>
            <a:pPr algn="ctr" indent="0" marL="0">
              <a:buNone/>
            </a:pPr>
            <a:r>
              <a:rPr lang="en-US" sz="1300" i="1" dirty="0">
                <a:solidFill>
                  <a:srgbClr val="8B0000"/>
                </a:solidFill>
                <a:latin typeface="Calibri" pitchFamily="34" charset="0"/>
                <a:ea typeface="Calibri" pitchFamily="34" charset="-122"/>
                <a:cs typeface="Calibri" pitchFamily="34" charset="-120"/>
              </a:rPr>
              <a:t>Onlar affetsinler, hoş görsünler. Allah'ın sizi bağışlamasını istemez misiniz? Allah çok bağışlayandır, çok merhamet edendir.</a:t>
            </a:r>
            <a:endParaRPr lang="en-US" sz="1300" dirty="0"/>
          </a:p>
        </p:txBody>
      </p:sp>
      <p:sp>
        <p:nvSpPr>
          <p:cNvPr id="5" name="Shape 3"/>
          <p:cNvSpPr/>
          <p:nvPr/>
        </p:nvSpPr>
        <p:spPr>
          <a:xfrm>
            <a:off x="1657350" y="6858000"/>
            <a:ext cx="1828800" cy="27432"/>
          </a:xfrm>
          <a:prstGeom prst="rect">
            <a:avLst/>
          </a:prstGeom>
          <a:solidFill>
            <a:srgbClr val="C8102E"/>
          </a:solidFill>
          <a:ln/>
        </p:spPr>
      </p:sp>
      <p:sp>
        <p:nvSpPr>
          <p:cNvPr id="6" name="Text 4"/>
          <p:cNvSpPr/>
          <p:nvPr/>
        </p:nvSpPr>
        <p:spPr>
          <a:xfrm>
            <a:off x="457200" y="7132320"/>
            <a:ext cx="4229100" cy="457200"/>
          </a:xfrm>
          <a:prstGeom prst="rect">
            <a:avLst/>
          </a:prstGeom>
          <a:noFill/>
          <a:ln/>
        </p:spPr>
        <p:txBody>
          <a:bodyPr wrap="square" rtlCol="0" anchor="ctr"/>
          <a:lstStyle/>
          <a:p>
            <a:pPr algn="ctr" indent="0" marL="0">
              <a:buNone/>
            </a:pPr>
            <a:r>
              <a:rPr lang="en-US" sz="900" dirty="0">
                <a:solidFill>
                  <a:srgbClr val="666666"/>
                </a:solidFill>
                <a:latin typeface="Calibri" pitchFamily="34" charset="0"/>
                <a:ea typeface="Calibri" pitchFamily="34" charset="-122"/>
                <a:cs typeface="Calibri" pitchFamily="34" charset="-120"/>
              </a:rPr>
              <a:t>Nûr Sûresi, 22. âyet</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Degerin Boyutlari</a:t>
            </a:r>
            <a:endParaRPr lang="en-US" sz="1800" dirty="0"/>
          </a:p>
        </p:txBody>
      </p:sp>
      <p:sp>
        <p:nvSpPr>
          <p:cNvPr id="4" name="Shape 2"/>
          <p:cNvSpPr/>
          <p:nvPr/>
        </p:nvSpPr>
        <p:spPr>
          <a:xfrm>
            <a:off x="274320" y="822960"/>
            <a:ext cx="2228850" cy="3474720"/>
          </a:xfrm>
          <a:prstGeom prst="roundRect">
            <a:avLst>
              <a:gd name="adj" fmla="val 3282"/>
            </a:avLst>
          </a:prstGeom>
          <a:solidFill>
            <a:srgbClr val="FCEAED"/>
          </a:solidFill>
          <a:ln/>
        </p:spPr>
      </p:sp>
      <p:sp>
        <p:nvSpPr>
          <p:cNvPr id="5" name="Text 3"/>
          <p:cNvSpPr/>
          <p:nvPr/>
        </p:nvSpPr>
        <p:spPr>
          <a:xfrm>
            <a:off x="274320" y="914400"/>
            <a:ext cx="222885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6" name="Text 4"/>
          <p:cNvSpPr/>
          <p:nvPr/>
        </p:nvSpPr>
        <p:spPr>
          <a:xfrm>
            <a:off x="347472" y="1371600"/>
            <a:ext cx="2082546" cy="365760"/>
          </a:xfrm>
          <a:prstGeom prst="rect">
            <a:avLst/>
          </a:prstGeom>
          <a:noFill/>
          <a:ln/>
        </p:spPr>
        <p:txBody>
          <a:bodyPr wrap="square" rtlCol="0" anchor="ctr"/>
          <a:lstStyle/>
          <a:p>
            <a:pPr algn="ctr" indent="0" marL="0">
              <a:buNone/>
            </a:pPr>
            <a:r>
              <a:rPr lang="en-US" sz="1100" b="1" dirty="0">
                <a:solidFill>
                  <a:srgbClr val="C8102E"/>
                </a:solidFill>
                <a:latin typeface="Calibri" pitchFamily="34" charset="0"/>
                <a:ea typeface="Calibri" pitchFamily="34" charset="-122"/>
                <a:cs typeface="Calibri" pitchFamily="34" charset="-120"/>
              </a:rPr>
              <a:t>Kişisel Af</a:t>
            </a:r>
            <a:endParaRPr lang="en-US" sz="1100" dirty="0"/>
          </a:p>
        </p:txBody>
      </p:sp>
      <p:sp>
        <p:nvSpPr>
          <p:cNvPr id="7" name="Text 5"/>
          <p:cNvSpPr/>
          <p:nvPr/>
        </p:nvSpPr>
        <p:spPr>
          <a:xfrm>
            <a:off x="347472" y="1783080"/>
            <a:ext cx="2082546" cy="2331720"/>
          </a:xfrm>
          <a:prstGeom prst="rect">
            <a:avLst/>
          </a:prstGeom>
          <a:noFill/>
          <a:ln/>
        </p:spPr>
        <p:txBody>
          <a:bodyPr wrap="square" rtlCol="0" anchor="t"/>
          <a:lstStyle/>
          <a:p>
            <a:pPr algn="l" indent="0" marL="0">
              <a:buNone/>
            </a:pPr>
            <a:r>
              <a:rPr lang="en-US" sz="800" dirty="0">
                <a:solidFill>
                  <a:srgbClr val="222222"/>
                </a:solidFill>
                <a:latin typeface="Calibri" pitchFamily="34" charset="0"/>
                <a:ea typeface="Calibri" pitchFamily="34" charset="-122"/>
                <a:cs typeface="Calibri" pitchFamily="34" charset="-120"/>
              </a:rPr>
              <a:t>Sana kötülük yapanlara karşı kalbindeki kini bırakabilme.</a:t>
            </a:r>
            <a:endParaRPr lang="en-US" sz="800" dirty="0"/>
          </a:p>
        </p:txBody>
      </p:sp>
      <p:sp>
        <p:nvSpPr>
          <p:cNvPr id="8" name="Shape 6"/>
          <p:cNvSpPr/>
          <p:nvPr/>
        </p:nvSpPr>
        <p:spPr>
          <a:xfrm>
            <a:off x="2640330" y="822960"/>
            <a:ext cx="2228850" cy="3474720"/>
          </a:xfrm>
          <a:prstGeom prst="roundRect">
            <a:avLst>
              <a:gd name="adj" fmla="val 3282"/>
            </a:avLst>
          </a:prstGeom>
          <a:solidFill>
            <a:srgbClr val="FCEAED"/>
          </a:solidFill>
          <a:ln/>
        </p:spPr>
      </p:sp>
      <p:sp>
        <p:nvSpPr>
          <p:cNvPr id="9" name="Text 7"/>
          <p:cNvSpPr/>
          <p:nvPr/>
        </p:nvSpPr>
        <p:spPr>
          <a:xfrm>
            <a:off x="2640330" y="914400"/>
            <a:ext cx="222885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0" name="Text 8"/>
          <p:cNvSpPr/>
          <p:nvPr/>
        </p:nvSpPr>
        <p:spPr>
          <a:xfrm>
            <a:off x="2713482" y="1371600"/>
            <a:ext cx="2082546" cy="365760"/>
          </a:xfrm>
          <a:prstGeom prst="rect">
            <a:avLst/>
          </a:prstGeom>
          <a:noFill/>
          <a:ln/>
        </p:spPr>
        <p:txBody>
          <a:bodyPr wrap="square" rtlCol="0" anchor="ctr"/>
          <a:lstStyle/>
          <a:p>
            <a:pPr algn="ctr" indent="0" marL="0">
              <a:buNone/>
            </a:pPr>
            <a:r>
              <a:rPr lang="en-US" sz="1100" b="1" dirty="0">
                <a:solidFill>
                  <a:srgbClr val="C8102E"/>
                </a:solidFill>
                <a:latin typeface="Calibri" pitchFamily="34" charset="0"/>
                <a:ea typeface="Calibri" pitchFamily="34" charset="-122"/>
                <a:cs typeface="Calibri" pitchFamily="34" charset="-120"/>
              </a:rPr>
              <a:t>Toplumsal Barış</a:t>
            </a:r>
            <a:endParaRPr lang="en-US" sz="1100" dirty="0"/>
          </a:p>
        </p:txBody>
      </p:sp>
      <p:sp>
        <p:nvSpPr>
          <p:cNvPr id="11" name="Text 9"/>
          <p:cNvSpPr/>
          <p:nvPr/>
        </p:nvSpPr>
        <p:spPr>
          <a:xfrm>
            <a:off x="2713482" y="1783080"/>
            <a:ext cx="2082546" cy="2331720"/>
          </a:xfrm>
          <a:prstGeom prst="rect">
            <a:avLst/>
          </a:prstGeom>
          <a:noFill/>
          <a:ln/>
        </p:spPr>
        <p:txBody>
          <a:bodyPr wrap="square" rtlCol="0" anchor="t"/>
          <a:lstStyle/>
          <a:p>
            <a:pPr algn="l" indent="0" marL="0">
              <a:buNone/>
            </a:pPr>
            <a:r>
              <a:rPr lang="en-US" sz="800" dirty="0">
                <a:solidFill>
                  <a:srgbClr val="222222"/>
                </a:solidFill>
                <a:latin typeface="Calibri" pitchFamily="34" charset="0"/>
                <a:ea typeface="Calibri" pitchFamily="34" charset="-122"/>
                <a:cs typeface="Calibri" pitchFamily="34" charset="-120"/>
              </a:rPr>
              <a:t>Affın toplumda huzur ve birliktelik sağlaması.</a:t>
            </a:r>
            <a:endParaRPr lang="en-US" sz="800" dirty="0"/>
          </a:p>
        </p:txBody>
      </p:sp>
      <p:sp>
        <p:nvSpPr>
          <p:cNvPr id="12" name="Shape 10"/>
          <p:cNvSpPr/>
          <p:nvPr/>
        </p:nvSpPr>
        <p:spPr>
          <a:xfrm>
            <a:off x="274320" y="4434840"/>
            <a:ext cx="2228850" cy="3474720"/>
          </a:xfrm>
          <a:prstGeom prst="roundRect">
            <a:avLst>
              <a:gd name="adj" fmla="val 3282"/>
            </a:avLst>
          </a:prstGeom>
          <a:solidFill>
            <a:srgbClr val="FCEAED"/>
          </a:solidFill>
          <a:ln/>
        </p:spPr>
      </p:sp>
      <p:sp>
        <p:nvSpPr>
          <p:cNvPr id="13" name="Text 11"/>
          <p:cNvSpPr/>
          <p:nvPr/>
        </p:nvSpPr>
        <p:spPr>
          <a:xfrm>
            <a:off x="274320" y="4526280"/>
            <a:ext cx="222885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4" name="Text 12"/>
          <p:cNvSpPr/>
          <p:nvPr/>
        </p:nvSpPr>
        <p:spPr>
          <a:xfrm>
            <a:off x="347472" y="4983480"/>
            <a:ext cx="2082546" cy="365760"/>
          </a:xfrm>
          <a:prstGeom prst="rect">
            <a:avLst/>
          </a:prstGeom>
          <a:noFill/>
          <a:ln/>
        </p:spPr>
        <p:txBody>
          <a:bodyPr wrap="square" rtlCol="0" anchor="ctr"/>
          <a:lstStyle/>
          <a:p>
            <a:pPr algn="ctr" indent="0" marL="0">
              <a:buNone/>
            </a:pPr>
            <a:r>
              <a:rPr lang="en-US" sz="1100" b="1" dirty="0">
                <a:solidFill>
                  <a:srgbClr val="C8102E"/>
                </a:solidFill>
                <a:latin typeface="Calibri" pitchFamily="34" charset="0"/>
                <a:ea typeface="Calibri" pitchFamily="34" charset="-122"/>
                <a:cs typeface="Calibri" pitchFamily="34" charset="-120"/>
              </a:rPr>
              <a:t>Güçlüyken Merhamet</a:t>
            </a:r>
            <a:endParaRPr lang="en-US" sz="1100" dirty="0"/>
          </a:p>
        </p:txBody>
      </p:sp>
      <p:sp>
        <p:nvSpPr>
          <p:cNvPr id="15" name="Text 13"/>
          <p:cNvSpPr/>
          <p:nvPr/>
        </p:nvSpPr>
        <p:spPr>
          <a:xfrm>
            <a:off x="347472" y="5394960"/>
            <a:ext cx="2082546" cy="2331720"/>
          </a:xfrm>
          <a:prstGeom prst="rect">
            <a:avLst/>
          </a:prstGeom>
          <a:noFill/>
          <a:ln/>
        </p:spPr>
        <p:txBody>
          <a:bodyPr wrap="square" rtlCol="0" anchor="t"/>
          <a:lstStyle/>
          <a:p>
            <a:pPr algn="l" indent="0" marL="0">
              <a:buNone/>
            </a:pPr>
            <a:r>
              <a:rPr lang="en-US" sz="800" dirty="0">
                <a:solidFill>
                  <a:srgbClr val="222222"/>
                </a:solidFill>
                <a:latin typeface="Calibri" pitchFamily="34" charset="0"/>
                <a:ea typeface="Calibri" pitchFamily="34" charset="-122"/>
                <a:cs typeface="Calibri" pitchFamily="34" charset="-120"/>
              </a:rPr>
              <a:t>İntikam alma gücü varken affetmeyi seçmenin yüceliği.</a:t>
            </a:r>
            <a:endParaRPr lang="en-US" sz="800" dirty="0"/>
          </a:p>
        </p:txBody>
      </p:sp>
      <p:sp>
        <p:nvSpPr>
          <p:cNvPr id="16" name="Shape 14"/>
          <p:cNvSpPr/>
          <p:nvPr/>
        </p:nvSpPr>
        <p:spPr>
          <a:xfrm>
            <a:off x="2640330" y="4434840"/>
            <a:ext cx="2228850" cy="3474720"/>
          </a:xfrm>
          <a:prstGeom prst="roundRect">
            <a:avLst>
              <a:gd name="adj" fmla="val 3282"/>
            </a:avLst>
          </a:prstGeom>
          <a:solidFill>
            <a:srgbClr val="FCEAED"/>
          </a:solidFill>
          <a:ln/>
        </p:spPr>
      </p:sp>
      <p:sp>
        <p:nvSpPr>
          <p:cNvPr id="17" name="Text 15"/>
          <p:cNvSpPr/>
          <p:nvPr/>
        </p:nvSpPr>
        <p:spPr>
          <a:xfrm>
            <a:off x="2640330" y="4526280"/>
            <a:ext cx="222885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8" name="Text 16"/>
          <p:cNvSpPr/>
          <p:nvPr/>
        </p:nvSpPr>
        <p:spPr>
          <a:xfrm>
            <a:off x="2713482" y="4983480"/>
            <a:ext cx="2082546" cy="365760"/>
          </a:xfrm>
          <a:prstGeom prst="rect">
            <a:avLst/>
          </a:prstGeom>
          <a:noFill/>
          <a:ln/>
        </p:spPr>
        <p:txBody>
          <a:bodyPr wrap="square" rtlCol="0" anchor="ctr"/>
          <a:lstStyle/>
          <a:p>
            <a:pPr algn="ctr" indent="0" marL="0">
              <a:buNone/>
            </a:pPr>
            <a:r>
              <a:rPr lang="en-US" sz="1100" b="1" dirty="0">
                <a:solidFill>
                  <a:srgbClr val="C8102E"/>
                </a:solidFill>
                <a:latin typeface="Calibri" pitchFamily="34" charset="0"/>
                <a:ea typeface="Calibri" pitchFamily="34" charset="-122"/>
                <a:cs typeface="Calibri" pitchFamily="34" charset="-120"/>
              </a:rPr>
              <a:t>Dönüştürücü Güç</a:t>
            </a:r>
            <a:endParaRPr lang="en-US" sz="1100" dirty="0"/>
          </a:p>
        </p:txBody>
      </p:sp>
      <p:sp>
        <p:nvSpPr>
          <p:cNvPr id="19" name="Text 17"/>
          <p:cNvSpPr/>
          <p:nvPr/>
        </p:nvSpPr>
        <p:spPr>
          <a:xfrm>
            <a:off x="2713482" y="5394960"/>
            <a:ext cx="2082546" cy="2331720"/>
          </a:xfrm>
          <a:prstGeom prst="rect">
            <a:avLst/>
          </a:prstGeom>
          <a:noFill/>
          <a:ln/>
        </p:spPr>
        <p:txBody>
          <a:bodyPr wrap="square" rtlCol="0" anchor="t"/>
          <a:lstStyle/>
          <a:p>
            <a:pPr algn="l" indent="0" marL="0">
              <a:buNone/>
            </a:pPr>
            <a:r>
              <a:rPr lang="en-US" sz="800" dirty="0">
                <a:solidFill>
                  <a:srgbClr val="222222"/>
                </a:solidFill>
                <a:latin typeface="Calibri" pitchFamily="34" charset="0"/>
                <a:ea typeface="Calibri" pitchFamily="34" charset="-122"/>
                <a:cs typeface="Calibri" pitchFamily="34" charset="-120"/>
              </a:rPr>
              <a:t>Affın düşmanları dosta çevirme gücü.</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Senaryolar</a:t>
            </a:r>
            <a:endParaRPr lang="en-US" sz="1800" dirty="0"/>
          </a:p>
        </p:txBody>
      </p:sp>
      <p:sp>
        <p:nvSpPr>
          <p:cNvPr id="4" name="Shape 2"/>
          <p:cNvSpPr/>
          <p:nvPr/>
        </p:nvSpPr>
        <p:spPr>
          <a:xfrm>
            <a:off x="274320" y="822960"/>
            <a:ext cx="4594860" cy="3474720"/>
          </a:xfrm>
          <a:prstGeom prst="roundRect">
            <a:avLst>
              <a:gd name="adj" fmla="val 2105"/>
            </a:avLst>
          </a:prstGeom>
          <a:solidFill>
            <a:srgbClr val="F5F5F5"/>
          </a:solidFill>
          <a:ln/>
        </p:spPr>
      </p:sp>
      <p:sp>
        <p:nvSpPr>
          <p:cNvPr id="5" name="Text 3"/>
          <p:cNvSpPr/>
          <p:nvPr/>
        </p:nvSpPr>
        <p:spPr>
          <a:xfrm>
            <a:off x="411480" y="914400"/>
            <a:ext cx="432054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Arkadaş İhaneti</a:t>
            </a:r>
            <a:endParaRPr lang="en-US" sz="1100" dirty="0"/>
          </a:p>
        </p:txBody>
      </p:sp>
      <p:sp>
        <p:nvSpPr>
          <p:cNvPr id="6" name="Text 4"/>
          <p:cNvSpPr/>
          <p:nvPr/>
        </p:nvSpPr>
        <p:spPr>
          <a:xfrm>
            <a:off x="411480" y="1280160"/>
            <a:ext cx="4320540" cy="137160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En yakın arkadaşın senin sırrını başkalarına anlatmış ve herkes bunu konuşuyor. Çok kırıldın ve ona güvenin sarsıldı. Arkadaşın gelip ağlayarak özür diliyor ve bir daha yapmayacağına söz veriyor.</a:t>
            </a:r>
            <a:endParaRPr lang="en-US" sz="900" dirty="0"/>
          </a:p>
        </p:txBody>
      </p:sp>
      <p:sp>
        <p:nvSpPr>
          <p:cNvPr id="7" name="Shape 5"/>
          <p:cNvSpPr/>
          <p:nvPr/>
        </p:nvSpPr>
        <p:spPr>
          <a:xfrm>
            <a:off x="411480" y="2743200"/>
            <a:ext cx="4320540" cy="347472"/>
          </a:xfrm>
          <a:prstGeom prst="roundRect">
            <a:avLst>
              <a:gd name="adj" fmla="val 15789"/>
            </a:avLst>
          </a:prstGeom>
          <a:solidFill>
            <a:srgbClr val="FCEAED"/>
          </a:solidFill>
          <a:ln/>
        </p:spPr>
      </p:sp>
      <p:sp>
        <p:nvSpPr>
          <p:cNvPr id="8" name="Text 6"/>
          <p:cNvSpPr/>
          <p:nvPr/>
        </p:nvSpPr>
        <p:spPr>
          <a:xfrm>
            <a:off x="411480" y="274320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Kırıldığımı söyler ama özürünü kabul ederim; güvenin yeniden inşa edilmesi za...</a:t>
            </a:r>
            <a:endParaRPr lang="en-US" sz="800" dirty="0"/>
          </a:p>
        </p:txBody>
      </p:sp>
      <p:sp>
        <p:nvSpPr>
          <p:cNvPr id="9" name="Shape 7"/>
          <p:cNvSpPr/>
          <p:nvPr/>
        </p:nvSpPr>
        <p:spPr>
          <a:xfrm>
            <a:off x="411480" y="3154680"/>
            <a:ext cx="4320540" cy="347472"/>
          </a:xfrm>
          <a:prstGeom prst="roundRect">
            <a:avLst>
              <a:gd name="adj" fmla="val 15789"/>
            </a:avLst>
          </a:prstGeom>
          <a:solidFill>
            <a:srgbClr val="FCEAED"/>
          </a:solidFill>
          <a:ln/>
        </p:spPr>
      </p:sp>
      <p:sp>
        <p:nvSpPr>
          <p:cNvPr id="10" name="Text 8"/>
          <p:cNvSpPr/>
          <p:nvPr/>
        </p:nvSpPr>
        <p:spPr>
          <a:xfrm>
            <a:off x="411480" y="315468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Onun da bir sırrını öğrenip başkalarına anlatırım, tadını anlasın.</a:t>
            </a:r>
            <a:endParaRPr lang="en-US" sz="800" dirty="0"/>
          </a:p>
        </p:txBody>
      </p:sp>
      <p:sp>
        <p:nvSpPr>
          <p:cNvPr id="11" name="Shape 9"/>
          <p:cNvSpPr/>
          <p:nvPr/>
        </p:nvSpPr>
        <p:spPr>
          <a:xfrm>
            <a:off x="411480" y="3566160"/>
            <a:ext cx="4320540" cy="347472"/>
          </a:xfrm>
          <a:prstGeom prst="roundRect">
            <a:avLst>
              <a:gd name="adj" fmla="val 15789"/>
            </a:avLst>
          </a:prstGeom>
          <a:solidFill>
            <a:srgbClr val="FCEAED"/>
          </a:solidFill>
          <a:ln/>
        </p:spPr>
      </p:sp>
      <p:sp>
        <p:nvSpPr>
          <p:cNvPr id="12" name="Text 10"/>
          <p:cNvSpPr/>
          <p:nvPr/>
        </p:nvSpPr>
        <p:spPr>
          <a:xfrm>
            <a:off x="411480" y="356616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Bir daha onunla hiç konuşmam ve arkadaşlığımızı bitiririm.</a:t>
            </a:r>
            <a:endParaRPr lang="en-US" sz="800" dirty="0"/>
          </a:p>
        </p:txBody>
      </p:sp>
      <p:sp>
        <p:nvSpPr>
          <p:cNvPr id="13" name="Shape 11"/>
          <p:cNvSpPr/>
          <p:nvPr/>
        </p:nvSpPr>
        <p:spPr>
          <a:xfrm>
            <a:off x="274320" y="4480560"/>
            <a:ext cx="4594860" cy="3474720"/>
          </a:xfrm>
          <a:prstGeom prst="roundRect">
            <a:avLst>
              <a:gd name="adj" fmla="val 2105"/>
            </a:avLst>
          </a:prstGeom>
          <a:solidFill>
            <a:srgbClr val="F5F5F5"/>
          </a:solidFill>
          <a:ln/>
        </p:spPr>
      </p:sp>
      <p:sp>
        <p:nvSpPr>
          <p:cNvPr id="14" name="Text 12"/>
          <p:cNvSpPr/>
          <p:nvPr/>
        </p:nvSpPr>
        <p:spPr>
          <a:xfrm>
            <a:off x="411480" y="4572000"/>
            <a:ext cx="432054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Kardeş Meselesi</a:t>
            </a:r>
            <a:endParaRPr lang="en-US" sz="1100" dirty="0"/>
          </a:p>
        </p:txBody>
      </p:sp>
      <p:sp>
        <p:nvSpPr>
          <p:cNvPr id="15" name="Text 13"/>
          <p:cNvSpPr/>
          <p:nvPr/>
        </p:nvSpPr>
        <p:spPr>
          <a:xfrm>
            <a:off x="411480" y="4937760"/>
            <a:ext cx="4320540" cy="137160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Küçük kardeşin senin en değer verdiğin model uçağını düşürüp kırmış. Saatlerce emek vermiştin o modele. Kardeşin çok korkmuş ve köşeye sinmiş, ağlıyor.</a:t>
            </a:r>
            <a:endParaRPr lang="en-US" sz="900" dirty="0"/>
          </a:p>
        </p:txBody>
      </p:sp>
      <p:sp>
        <p:nvSpPr>
          <p:cNvPr id="16" name="Shape 14"/>
          <p:cNvSpPr/>
          <p:nvPr/>
        </p:nvSpPr>
        <p:spPr>
          <a:xfrm>
            <a:off x="411480" y="6400800"/>
            <a:ext cx="4320540" cy="347472"/>
          </a:xfrm>
          <a:prstGeom prst="roundRect">
            <a:avLst>
              <a:gd name="adj" fmla="val 15789"/>
            </a:avLst>
          </a:prstGeom>
          <a:solidFill>
            <a:srgbClr val="FCEAED"/>
          </a:solidFill>
          <a:ln/>
        </p:spPr>
      </p:sp>
      <p:sp>
        <p:nvSpPr>
          <p:cNvPr id="17" name="Text 15"/>
          <p:cNvSpPr/>
          <p:nvPr/>
        </p:nvSpPr>
        <p:spPr>
          <a:xfrm>
            <a:off x="411480" y="640080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Üzüldüğümü söylerim ama kardeşimin korkmasına üzülürüm; beraber tamir edebile...</a:t>
            </a:r>
            <a:endParaRPr lang="en-US" sz="800" dirty="0"/>
          </a:p>
        </p:txBody>
      </p:sp>
      <p:sp>
        <p:nvSpPr>
          <p:cNvPr id="18" name="Shape 16"/>
          <p:cNvSpPr/>
          <p:nvPr/>
        </p:nvSpPr>
        <p:spPr>
          <a:xfrm>
            <a:off x="411480" y="6812280"/>
            <a:ext cx="4320540" cy="347472"/>
          </a:xfrm>
          <a:prstGeom prst="roundRect">
            <a:avLst>
              <a:gd name="adj" fmla="val 15789"/>
            </a:avLst>
          </a:prstGeom>
          <a:solidFill>
            <a:srgbClr val="FCEAED"/>
          </a:solidFill>
          <a:ln/>
        </p:spPr>
      </p:sp>
      <p:sp>
        <p:nvSpPr>
          <p:cNvPr id="19" name="Text 17"/>
          <p:cNvSpPr/>
          <p:nvPr/>
        </p:nvSpPr>
        <p:spPr>
          <a:xfrm>
            <a:off x="411480" y="681228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Kardeşime bağırır ve bir daha odama girmesini yasaklarım.</a:t>
            </a:r>
            <a:endParaRPr lang="en-US" sz="800" dirty="0"/>
          </a:p>
        </p:txBody>
      </p:sp>
      <p:sp>
        <p:nvSpPr>
          <p:cNvPr id="20" name="Shape 18"/>
          <p:cNvSpPr/>
          <p:nvPr/>
        </p:nvSpPr>
        <p:spPr>
          <a:xfrm>
            <a:off x="411480" y="7223760"/>
            <a:ext cx="4320540" cy="347472"/>
          </a:xfrm>
          <a:prstGeom prst="roundRect">
            <a:avLst>
              <a:gd name="adj" fmla="val 15789"/>
            </a:avLst>
          </a:prstGeom>
          <a:solidFill>
            <a:srgbClr val="FCEAED"/>
          </a:solidFill>
          <a:ln/>
        </p:spPr>
      </p:sp>
      <p:sp>
        <p:nvSpPr>
          <p:cNvPr id="21" name="Text 19"/>
          <p:cNvSpPr/>
          <p:nvPr/>
        </p:nvSpPr>
        <p:spPr>
          <a:xfrm>
            <a:off x="411480" y="722376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Anneme şikâyet eder, kardeşimin cezalandırılmasını isterim.</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Senaryolar</a:t>
            </a:r>
            <a:endParaRPr lang="en-US" sz="1800" dirty="0"/>
          </a:p>
        </p:txBody>
      </p:sp>
      <p:sp>
        <p:nvSpPr>
          <p:cNvPr id="4" name="Shape 2"/>
          <p:cNvSpPr/>
          <p:nvPr/>
        </p:nvSpPr>
        <p:spPr>
          <a:xfrm>
            <a:off x="274320" y="822960"/>
            <a:ext cx="4594860" cy="3474720"/>
          </a:xfrm>
          <a:prstGeom prst="roundRect">
            <a:avLst>
              <a:gd name="adj" fmla="val 2105"/>
            </a:avLst>
          </a:prstGeom>
          <a:solidFill>
            <a:srgbClr val="F5F5F5"/>
          </a:solidFill>
          <a:ln/>
        </p:spPr>
      </p:sp>
      <p:sp>
        <p:nvSpPr>
          <p:cNvPr id="5" name="Text 3"/>
          <p:cNvSpPr/>
          <p:nvPr/>
        </p:nvSpPr>
        <p:spPr>
          <a:xfrm>
            <a:off x="411480" y="914400"/>
            <a:ext cx="432054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Öğretmenin Haksızlığı</a:t>
            </a:r>
            <a:endParaRPr lang="en-US" sz="1100" dirty="0"/>
          </a:p>
        </p:txBody>
      </p:sp>
      <p:sp>
        <p:nvSpPr>
          <p:cNvPr id="6" name="Text 4"/>
          <p:cNvSpPr/>
          <p:nvPr/>
        </p:nvSpPr>
        <p:spPr>
          <a:xfrm>
            <a:off x="411480" y="1280160"/>
            <a:ext cx="4320540" cy="137160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Öğretmenin seni yanlışlıkla herkesin önünde azarladı ve konuşmadığın bir konuda suçladı. Çok utandın. Ders sonunda öğretmenin yanılmış olduğunu anladı ve özür diledi.</a:t>
            </a:r>
            <a:endParaRPr lang="en-US" sz="900" dirty="0"/>
          </a:p>
        </p:txBody>
      </p:sp>
      <p:sp>
        <p:nvSpPr>
          <p:cNvPr id="7" name="Shape 5"/>
          <p:cNvSpPr/>
          <p:nvPr/>
        </p:nvSpPr>
        <p:spPr>
          <a:xfrm>
            <a:off x="411480" y="2743200"/>
            <a:ext cx="4320540" cy="347472"/>
          </a:xfrm>
          <a:prstGeom prst="roundRect">
            <a:avLst>
              <a:gd name="adj" fmla="val 15789"/>
            </a:avLst>
          </a:prstGeom>
          <a:solidFill>
            <a:srgbClr val="FCEAED"/>
          </a:solidFill>
          <a:ln/>
        </p:spPr>
      </p:sp>
      <p:sp>
        <p:nvSpPr>
          <p:cNvPr id="8" name="Text 6"/>
          <p:cNvSpPr/>
          <p:nvPr/>
        </p:nvSpPr>
        <p:spPr>
          <a:xfrm>
            <a:off x="411480" y="274320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Özrünü kabul ederim; herkes hata yapabilir diyerek olgunluk gösteririm.</a:t>
            </a:r>
            <a:endParaRPr lang="en-US" sz="800" dirty="0"/>
          </a:p>
        </p:txBody>
      </p:sp>
      <p:sp>
        <p:nvSpPr>
          <p:cNvPr id="9" name="Shape 7"/>
          <p:cNvSpPr/>
          <p:nvPr/>
        </p:nvSpPr>
        <p:spPr>
          <a:xfrm>
            <a:off x="411480" y="3154680"/>
            <a:ext cx="4320540" cy="347472"/>
          </a:xfrm>
          <a:prstGeom prst="roundRect">
            <a:avLst>
              <a:gd name="adj" fmla="val 15789"/>
            </a:avLst>
          </a:prstGeom>
          <a:solidFill>
            <a:srgbClr val="FCEAED"/>
          </a:solidFill>
          <a:ln/>
        </p:spPr>
      </p:sp>
      <p:sp>
        <p:nvSpPr>
          <p:cNvPr id="10" name="Text 8"/>
          <p:cNvSpPr/>
          <p:nvPr/>
        </p:nvSpPr>
        <p:spPr>
          <a:xfrm>
            <a:off x="411480" y="315468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Özrünü kabul etmem, bir daha o dersi sevmem.</a:t>
            </a:r>
            <a:endParaRPr lang="en-US" sz="800" dirty="0"/>
          </a:p>
        </p:txBody>
      </p:sp>
      <p:sp>
        <p:nvSpPr>
          <p:cNvPr id="11" name="Shape 9"/>
          <p:cNvSpPr/>
          <p:nvPr/>
        </p:nvSpPr>
        <p:spPr>
          <a:xfrm>
            <a:off x="411480" y="3566160"/>
            <a:ext cx="4320540" cy="347472"/>
          </a:xfrm>
          <a:prstGeom prst="roundRect">
            <a:avLst>
              <a:gd name="adj" fmla="val 15789"/>
            </a:avLst>
          </a:prstGeom>
          <a:solidFill>
            <a:srgbClr val="FCEAED"/>
          </a:solidFill>
          <a:ln/>
        </p:spPr>
      </p:sp>
      <p:sp>
        <p:nvSpPr>
          <p:cNvPr id="12" name="Text 10"/>
          <p:cNvSpPr/>
          <p:nvPr/>
        </p:nvSpPr>
        <p:spPr>
          <a:xfrm>
            <a:off x="411480" y="356616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Aileme şikâyet ederek öğretmenin cezalandırılmasını isterim.</a:t>
            </a:r>
            <a:endParaRPr lang="en-US" sz="800" dirty="0"/>
          </a:p>
        </p:txBody>
      </p:sp>
      <p:sp>
        <p:nvSpPr>
          <p:cNvPr id="13" name="Shape 11"/>
          <p:cNvSpPr/>
          <p:nvPr/>
        </p:nvSpPr>
        <p:spPr>
          <a:xfrm>
            <a:off x="274320" y="4480560"/>
            <a:ext cx="4594860" cy="3474720"/>
          </a:xfrm>
          <a:prstGeom prst="roundRect">
            <a:avLst>
              <a:gd name="adj" fmla="val 2105"/>
            </a:avLst>
          </a:prstGeom>
          <a:solidFill>
            <a:srgbClr val="F5F5F5"/>
          </a:solidFill>
          <a:ln/>
        </p:spPr>
      </p:sp>
      <p:sp>
        <p:nvSpPr>
          <p:cNvPr id="14" name="Text 12"/>
          <p:cNvSpPr/>
          <p:nvPr/>
        </p:nvSpPr>
        <p:spPr>
          <a:xfrm>
            <a:off x="411480" y="4572000"/>
            <a:ext cx="432054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Turnuva Rakibi</a:t>
            </a:r>
            <a:endParaRPr lang="en-US" sz="1100" dirty="0"/>
          </a:p>
        </p:txBody>
      </p:sp>
      <p:sp>
        <p:nvSpPr>
          <p:cNvPr id="15" name="Text 13"/>
          <p:cNvSpPr/>
          <p:nvPr/>
        </p:nvSpPr>
        <p:spPr>
          <a:xfrm>
            <a:off x="411480" y="4937760"/>
            <a:ext cx="4320540" cy="137160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Satranç turnuvasında rakibin seni yenmek için hile yapmış ve bunu hakeme ispatlayamadın. Turnuvayı kaybettin. Bir süre sonra o arkadaşın gelip hile yaptığını itiraf ediyor ve çok pişman olduğunu söylüyor.</a:t>
            </a:r>
            <a:endParaRPr lang="en-US" sz="900" dirty="0"/>
          </a:p>
        </p:txBody>
      </p:sp>
      <p:sp>
        <p:nvSpPr>
          <p:cNvPr id="16" name="Shape 14"/>
          <p:cNvSpPr/>
          <p:nvPr/>
        </p:nvSpPr>
        <p:spPr>
          <a:xfrm>
            <a:off x="411480" y="6400800"/>
            <a:ext cx="4320540" cy="347472"/>
          </a:xfrm>
          <a:prstGeom prst="roundRect">
            <a:avLst>
              <a:gd name="adj" fmla="val 15789"/>
            </a:avLst>
          </a:prstGeom>
          <a:solidFill>
            <a:srgbClr val="FCEAED"/>
          </a:solidFill>
          <a:ln/>
        </p:spPr>
      </p:sp>
      <p:sp>
        <p:nvSpPr>
          <p:cNvPr id="17" name="Text 15"/>
          <p:cNvSpPr/>
          <p:nvPr/>
        </p:nvSpPr>
        <p:spPr>
          <a:xfrm>
            <a:off x="411480" y="640080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Pişmanlığını kabul eder, doğruyu söylediği için teşekkür ederim; hakeme birli...</a:t>
            </a:r>
            <a:endParaRPr lang="en-US" sz="800" dirty="0"/>
          </a:p>
        </p:txBody>
      </p:sp>
      <p:sp>
        <p:nvSpPr>
          <p:cNvPr id="18" name="Shape 16"/>
          <p:cNvSpPr/>
          <p:nvPr/>
        </p:nvSpPr>
        <p:spPr>
          <a:xfrm>
            <a:off x="411480" y="6812280"/>
            <a:ext cx="4320540" cy="347472"/>
          </a:xfrm>
          <a:prstGeom prst="roundRect">
            <a:avLst>
              <a:gd name="adj" fmla="val 15789"/>
            </a:avLst>
          </a:prstGeom>
          <a:solidFill>
            <a:srgbClr val="FCEAED"/>
          </a:solidFill>
          <a:ln/>
        </p:spPr>
      </p:sp>
      <p:sp>
        <p:nvSpPr>
          <p:cNvPr id="19" name="Text 17"/>
          <p:cNvSpPr/>
          <p:nvPr/>
        </p:nvSpPr>
        <p:spPr>
          <a:xfrm>
            <a:off x="411480" y="681228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Affetmem, herkesin önünde hile yaptığını ilan ederim.</a:t>
            </a:r>
            <a:endParaRPr lang="en-US" sz="800" dirty="0"/>
          </a:p>
        </p:txBody>
      </p:sp>
      <p:sp>
        <p:nvSpPr>
          <p:cNvPr id="20" name="Shape 18"/>
          <p:cNvSpPr/>
          <p:nvPr/>
        </p:nvSpPr>
        <p:spPr>
          <a:xfrm>
            <a:off x="411480" y="7223760"/>
            <a:ext cx="4320540" cy="347472"/>
          </a:xfrm>
          <a:prstGeom prst="roundRect">
            <a:avLst>
              <a:gd name="adj" fmla="val 15789"/>
            </a:avLst>
          </a:prstGeom>
          <a:solidFill>
            <a:srgbClr val="FCEAED"/>
          </a:solidFill>
          <a:ln/>
        </p:spPr>
      </p:sp>
      <p:sp>
        <p:nvSpPr>
          <p:cNvPr id="21" name="Text 19"/>
          <p:cNvSpPr/>
          <p:nvPr/>
        </p:nvSpPr>
        <p:spPr>
          <a:xfrm>
            <a:off x="411480" y="722376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Bir dahaki turnuvada ben de hile yaparım.</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5143500" cy="9144000"/>
          </a:xfrm>
          <a:prstGeom prst="rect">
            <a:avLst/>
          </a:prstGeom>
          <a:solidFill>
            <a:srgbClr val="8B0000"/>
          </a:solidFill>
          <a:ln/>
        </p:spPr>
      </p:sp>
      <p:sp>
        <p:nvSpPr>
          <p:cNvPr id="3" name="Shape 1"/>
          <p:cNvSpPr/>
          <p:nvPr/>
        </p:nvSpPr>
        <p:spPr>
          <a:xfrm>
            <a:off x="0" y="0"/>
            <a:ext cx="5143500" cy="4572000"/>
          </a:xfrm>
          <a:prstGeom prst="rect">
            <a:avLst/>
          </a:prstGeom>
          <a:solidFill>
            <a:srgbClr val="C8102E">
              <a:alpha val="60000"/>
            </a:srgbClr>
          </a:solidFill>
          <a:ln/>
        </p:spPr>
      </p:sp>
      <p:sp>
        <p:nvSpPr>
          <p:cNvPr id="4" name="Text 2"/>
          <p:cNvSpPr/>
          <p:nvPr/>
        </p:nvSpPr>
        <p:spPr>
          <a:xfrm>
            <a:off x="0" y="182880"/>
            <a:ext cx="5143500" cy="54864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Quiz</a:t>
            </a:r>
            <a:endParaRPr lang="en-US" sz="2000" dirty="0"/>
          </a:p>
        </p:txBody>
      </p:sp>
      <p:sp>
        <p:nvSpPr>
          <p:cNvPr id="5" name="Shape 3"/>
          <p:cNvSpPr/>
          <p:nvPr/>
        </p:nvSpPr>
        <p:spPr>
          <a:xfrm>
            <a:off x="274320" y="914400"/>
            <a:ext cx="4594860" cy="2377440"/>
          </a:xfrm>
          <a:prstGeom prst="roundRect">
            <a:avLst>
              <a:gd name="adj" fmla="val 3077"/>
            </a:avLst>
          </a:prstGeom>
          <a:solidFill>
            <a:srgbClr val="FFFFFF">
              <a:alpha val="90000"/>
            </a:srgbClr>
          </a:solidFill>
          <a:ln/>
        </p:spPr>
      </p:sp>
      <p:sp>
        <p:nvSpPr>
          <p:cNvPr id="6" name="Text 4"/>
          <p:cNvSpPr/>
          <p:nvPr/>
        </p:nvSpPr>
        <p:spPr>
          <a:xfrm>
            <a:off x="365760" y="1005840"/>
            <a:ext cx="4411980" cy="640080"/>
          </a:xfrm>
          <a:prstGeom prst="rect">
            <a:avLst/>
          </a:prstGeom>
          <a:noFill/>
          <a:ln/>
        </p:spPr>
        <p:txBody>
          <a:bodyPr wrap="square" rtlCol="0" anchor="t"/>
          <a:lstStyle/>
          <a:p>
            <a:pPr algn="l" indent="0" marL="0">
              <a:buNone/>
            </a:pPr>
            <a:r>
              <a:rPr lang="en-US" sz="900" b="1" dirty="0">
                <a:solidFill>
                  <a:srgbClr val="8B0000"/>
                </a:solidFill>
                <a:latin typeface="Calibri" pitchFamily="34" charset="0"/>
                <a:ea typeface="Calibri" pitchFamily="34" charset="-122"/>
                <a:cs typeface="Calibri" pitchFamily="34" charset="-120"/>
              </a:rPr>
              <a:t>Mekke'nin fethi Hicret'in kaçıncı yılında gerçekleşmiştir?</a:t>
            </a:r>
            <a:endParaRPr lang="en-US" sz="900" dirty="0"/>
          </a:p>
        </p:txBody>
      </p:sp>
      <p:sp>
        <p:nvSpPr>
          <p:cNvPr id="7" name="Text 5"/>
          <p:cNvSpPr/>
          <p:nvPr/>
        </p:nvSpPr>
        <p:spPr>
          <a:xfrm>
            <a:off x="365760" y="1645920"/>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A) Altıncı yıl</a:t>
            </a:r>
            <a:endParaRPr lang="en-US" sz="800" dirty="0"/>
          </a:p>
        </p:txBody>
      </p:sp>
      <p:sp>
        <p:nvSpPr>
          <p:cNvPr id="8" name="Text 6"/>
          <p:cNvSpPr/>
          <p:nvPr/>
        </p:nvSpPr>
        <p:spPr>
          <a:xfrm>
            <a:off x="365760" y="2029968"/>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B) Yedinci yıl</a:t>
            </a:r>
            <a:endParaRPr lang="en-US" sz="800" dirty="0"/>
          </a:p>
        </p:txBody>
      </p:sp>
      <p:sp>
        <p:nvSpPr>
          <p:cNvPr id="9" name="Text 7"/>
          <p:cNvSpPr/>
          <p:nvPr/>
        </p:nvSpPr>
        <p:spPr>
          <a:xfrm>
            <a:off x="365760" y="2414016"/>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C) Sekizinci yıl</a:t>
            </a:r>
            <a:endParaRPr lang="en-US" sz="800" dirty="0"/>
          </a:p>
        </p:txBody>
      </p:sp>
      <p:sp>
        <p:nvSpPr>
          <p:cNvPr id="10" name="Text 8"/>
          <p:cNvSpPr/>
          <p:nvPr/>
        </p:nvSpPr>
        <p:spPr>
          <a:xfrm>
            <a:off x="365760" y="2798064"/>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D) Dokuzuncu yıl</a:t>
            </a:r>
            <a:endParaRPr lang="en-US" sz="800" dirty="0"/>
          </a:p>
        </p:txBody>
      </p:sp>
      <p:sp>
        <p:nvSpPr>
          <p:cNvPr id="11" name="Shape 9"/>
          <p:cNvSpPr/>
          <p:nvPr/>
        </p:nvSpPr>
        <p:spPr>
          <a:xfrm>
            <a:off x="274320" y="3429000"/>
            <a:ext cx="4594860" cy="2377440"/>
          </a:xfrm>
          <a:prstGeom prst="roundRect">
            <a:avLst>
              <a:gd name="adj" fmla="val 3077"/>
            </a:avLst>
          </a:prstGeom>
          <a:solidFill>
            <a:srgbClr val="FFFFFF">
              <a:alpha val="90000"/>
            </a:srgbClr>
          </a:solidFill>
          <a:ln/>
        </p:spPr>
      </p:sp>
      <p:sp>
        <p:nvSpPr>
          <p:cNvPr id="12" name="Text 10"/>
          <p:cNvSpPr/>
          <p:nvPr/>
        </p:nvSpPr>
        <p:spPr>
          <a:xfrm>
            <a:off x="365760" y="3520440"/>
            <a:ext cx="4411980" cy="640080"/>
          </a:xfrm>
          <a:prstGeom prst="rect">
            <a:avLst/>
          </a:prstGeom>
          <a:noFill/>
          <a:ln/>
        </p:spPr>
        <p:txBody>
          <a:bodyPr wrap="square" rtlCol="0" anchor="t"/>
          <a:lstStyle/>
          <a:p>
            <a:pPr algn="l" indent="0" marL="0">
              <a:buNone/>
            </a:pPr>
            <a:r>
              <a:rPr lang="en-US" sz="900" b="1" dirty="0">
                <a:solidFill>
                  <a:srgbClr val="8B0000"/>
                </a:solidFill>
                <a:latin typeface="Calibri" pitchFamily="34" charset="0"/>
                <a:ea typeface="Calibri" pitchFamily="34" charset="-122"/>
                <a:cs typeface="Calibri" pitchFamily="34" charset="-120"/>
              </a:rPr>
              <a:t>Peygamber Efendimiz sallallahu aleyhi ve sellem fetihten sonra Kureyşlilere ne buyurmuştur?</a:t>
            </a:r>
            <a:endParaRPr lang="en-US" sz="900" dirty="0"/>
          </a:p>
        </p:txBody>
      </p:sp>
      <p:sp>
        <p:nvSpPr>
          <p:cNvPr id="13" name="Text 11"/>
          <p:cNvSpPr/>
          <p:nvPr/>
        </p:nvSpPr>
        <p:spPr>
          <a:xfrm>
            <a:off x="365760" y="4160520"/>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A) Hepiniz cezalandırılacaksınız</a:t>
            </a:r>
            <a:endParaRPr lang="en-US" sz="800" dirty="0"/>
          </a:p>
        </p:txBody>
      </p:sp>
      <p:sp>
        <p:nvSpPr>
          <p:cNvPr id="14" name="Text 12"/>
          <p:cNvSpPr/>
          <p:nvPr/>
        </p:nvSpPr>
        <p:spPr>
          <a:xfrm>
            <a:off x="365760" y="4544568"/>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B) Mekke'yi terk edin</a:t>
            </a:r>
            <a:endParaRPr lang="en-US" sz="800" dirty="0"/>
          </a:p>
        </p:txBody>
      </p:sp>
      <p:sp>
        <p:nvSpPr>
          <p:cNvPr id="15" name="Text 13"/>
          <p:cNvSpPr/>
          <p:nvPr/>
        </p:nvSpPr>
        <p:spPr>
          <a:xfrm>
            <a:off x="365760" y="4928616"/>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C) Bugün size kınama yoktur, gidiniz hepiniz serbestsiniz</a:t>
            </a:r>
            <a:endParaRPr lang="en-US" sz="800" dirty="0"/>
          </a:p>
        </p:txBody>
      </p:sp>
      <p:sp>
        <p:nvSpPr>
          <p:cNvPr id="16" name="Text 14"/>
          <p:cNvSpPr/>
          <p:nvPr/>
        </p:nvSpPr>
        <p:spPr>
          <a:xfrm>
            <a:off x="365760" y="5312664"/>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D) Fidye ödemeniz gerekir</a:t>
            </a:r>
            <a:endParaRPr lang="en-US" sz="800" dirty="0"/>
          </a:p>
        </p:txBody>
      </p:sp>
      <p:sp>
        <p:nvSpPr>
          <p:cNvPr id="17" name="Shape 15"/>
          <p:cNvSpPr/>
          <p:nvPr/>
        </p:nvSpPr>
        <p:spPr>
          <a:xfrm>
            <a:off x="274320" y="5943600"/>
            <a:ext cx="4594860" cy="2377440"/>
          </a:xfrm>
          <a:prstGeom prst="roundRect">
            <a:avLst>
              <a:gd name="adj" fmla="val 3077"/>
            </a:avLst>
          </a:prstGeom>
          <a:solidFill>
            <a:srgbClr val="FFFFFF">
              <a:alpha val="90000"/>
            </a:srgbClr>
          </a:solidFill>
          <a:ln/>
        </p:spPr>
      </p:sp>
      <p:sp>
        <p:nvSpPr>
          <p:cNvPr id="18" name="Text 16"/>
          <p:cNvSpPr/>
          <p:nvPr/>
        </p:nvSpPr>
        <p:spPr>
          <a:xfrm>
            <a:off x="365760" y="6035040"/>
            <a:ext cx="4411980" cy="640080"/>
          </a:xfrm>
          <a:prstGeom prst="rect">
            <a:avLst/>
          </a:prstGeom>
          <a:noFill/>
          <a:ln/>
        </p:spPr>
        <p:txBody>
          <a:bodyPr wrap="square" rtlCol="0" anchor="t"/>
          <a:lstStyle/>
          <a:p>
            <a:pPr algn="l" indent="0" marL="0">
              <a:buNone/>
            </a:pPr>
            <a:r>
              <a:rPr lang="en-US" sz="900" b="1" dirty="0">
                <a:solidFill>
                  <a:srgbClr val="8B0000"/>
                </a:solidFill>
                <a:latin typeface="Calibri" pitchFamily="34" charset="0"/>
                <a:ea typeface="Calibri" pitchFamily="34" charset="-122"/>
                <a:cs typeface="Calibri" pitchFamily="34" charset="-120"/>
              </a:rPr>
              <a:t>Peygamber Efendimiz sallallahu aleyhi ve sellem Mekke'ye girerken nasıl bir tavır sergilemiştir?</a:t>
            </a:r>
            <a:endParaRPr lang="en-US" sz="900" dirty="0"/>
          </a:p>
        </p:txBody>
      </p:sp>
      <p:sp>
        <p:nvSpPr>
          <p:cNvPr id="19" name="Text 17"/>
          <p:cNvSpPr/>
          <p:nvPr/>
        </p:nvSpPr>
        <p:spPr>
          <a:xfrm>
            <a:off x="365760" y="6675120"/>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A) Zafer coşkusuyla bağırmıştır</a:t>
            </a:r>
            <a:endParaRPr lang="en-US" sz="800" dirty="0"/>
          </a:p>
        </p:txBody>
      </p:sp>
      <p:sp>
        <p:nvSpPr>
          <p:cNvPr id="20" name="Text 18"/>
          <p:cNvSpPr/>
          <p:nvPr/>
        </p:nvSpPr>
        <p:spPr>
          <a:xfrm>
            <a:off x="365760" y="7059168"/>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B) Başını secde eder gibi eğerek tevazu göstermiştir</a:t>
            </a:r>
            <a:endParaRPr lang="en-US" sz="800" dirty="0"/>
          </a:p>
        </p:txBody>
      </p:sp>
      <p:sp>
        <p:nvSpPr>
          <p:cNvPr id="21" name="Text 19"/>
          <p:cNvSpPr/>
          <p:nvPr/>
        </p:nvSpPr>
        <p:spPr>
          <a:xfrm>
            <a:off x="365760" y="7443216"/>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C) Atının üzerinde kibirli bir şekilde ilerlemiştir</a:t>
            </a:r>
            <a:endParaRPr lang="en-US" sz="800" dirty="0"/>
          </a:p>
        </p:txBody>
      </p:sp>
      <p:sp>
        <p:nvSpPr>
          <p:cNvPr id="22" name="Text 20"/>
          <p:cNvSpPr/>
          <p:nvPr/>
        </p:nvSpPr>
        <p:spPr>
          <a:xfrm>
            <a:off x="365760" y="7827264"/>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D) Şehre girmeden beklemiştir</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5143500" cy="9144000"/>
          </a:xfrm>
          <a:prstGeom prst="rect">
            <a:avLst/>
          </a:prstGeom>
          <a:solidFill>
            <a:srgbClr val="8B0000"/>
          </a:solidFill>
          <a:ln/>
        </p:spPr>
      </p:sp>
      <p:sp>
        <p:nvSpPr>
          <p:cNvPr id="3" name="Shape 1"/>
          <p:cNvSpPr/>
          <p:nvPr/>
        </p:nvSpPr>
        <p:spPr>
          <a:xfrm>
            <a:off x="0" y="0"/>
            <a:ext cx="5143500" cy="4572000"/>
          </a:xfrm>
          <a:prstGeom prst="rect">
            <a:avLst/>
          </a:prstGeom>
          <a:solidFill>
            <a:srgbClr val="C8102E">
              <a:alpha val="60000"/>
            </a:srgbClr>
          </a:solidFill>
          <a:ln/>
        </p:spPr>
      </p:sp>
      <p:sp>
        <p:nvSpPr>
          <p:cNvPr id="4" name="Text 2"/>
          <p:cNvSpPr/>
          <p:nvPr/>
        </p:nvSpPr>
        <p:spPr>
          <a:xfrm>
            <a:off x="0" y="1371600"/>
            <a:ext cx="5143500" cy="548640"/>
          </a:xfrm>
          <a:prstGeom prst="rect">
            <a:avLst/>
          </a:prstGeom>
          <a:noFill/>
          <a:ln/>
        </p:spPr>
        <p:txBody>
          <a:bodyPr wrap="square" rtlCol="0" anchor="ctr"/>
          <a:lstStyle/>
          <a:p>
            <a:pPr algn="ctr" indent="0" marL="0">
              <a:buNone/>
            </a:pPr>
            <a:r>
              <a:rPr lang="en-US" sz="2000" dirty="0">
                <a:solidFill>
                  <a:srgbClr val="FCEAED"/>
                </a:solidFill>
              </a:rPr>
              <a:t>✦</a:t>
            </a:r>
            <a:endParaRPr lang="en-US" sz="2000" dirty="0"/>
          </a:p>
        </p:txBody>
      </p:sp>
      <p:sp>
        <p:nvSpPr>
          <p:cNvPr id="5" name="Text 3"/>
          <p:cNvSpPr/>
          <p:nvPr/>
        </p:nvSpPr>
        <p:spPr>
          <a:xfrm>
            <a:off x="365760" y="2286000"/>
            <a:ext cx="4411980" cy="3657600"/>
          </a:xfrm>
          <a:prstGeom prst="rect">
            <a:avLst/>
          </a:prstGeom>
          <a:noFill/>
          <a:ln/>
        </p:spPr>
        <p:txBody>
          <a:bodyPr wrap="square" rtlCol="0" anchor="ctr"/>
          <a:lstStyle/>
          <a:p>
            <a:pPr algn="ctr" indent="0" marL="0">
              <a:buNone/>
            </a:pPr>
            <a:r>
              <a:rPr lang="en-US" sz="1500" i="1" dirty="0">
                <a:solidFill>
                  <a:srgbClr val="FFFFFF"/>
                </a:solidFill>
                <a:latin typeface="Calibri" pitchFamily="34" charset="0"/>
                <a:ea typeface="Calibri" pitchFamily="34" charset="-122"/>
                <a:cs typeface="Calibri" pitchFamily="34" charset="-120"/>
              </a:rPr>
              <a:t>Onlar affetsinler, hoş görsünler. Allah'ın sizi bağışlamasını istemez misiniz? Allah çok bağışlayandır, çok merhamet edendir.</a:t>
            </a:r>
            <a:endParaRPr lang="en-US" sz="1500" dirty="0"/>
          </a:p>
        </p:txBody>
      </p:sp>
      <p:sp>
        <p:nvSpPr>
          <p:cNvPr id="6" name="Text 4"/>
          <p:cNvSpPr/>
          <p:nvPr/>
        </p:nvSpPr>
        <p:spPr>
          <a:xfrm>
            <a:off x="365760" y="6217920"/>
            <a:ext cx="4411980" cy="457200"/>
          </a:xfrm>
          <a:prstGeom prst="rect">
            <a:avLst/>
          </a:prstGeom>
          <a:noFill/>
          <a:ln/>
        </p:spPr>
        <p:txBody>
          <a:bodyPr wrap="square" rtlCol="0" anchor="ctr"/>
          <a:lstStyle/>
          <a:p>
            <a:pPr algn="ctr" indent="0" marL="0">
              <a:buNone/>
            </a:pPr>
            <a:r>
              <a:rPr lang="en-US" sz="1000" dirty="0">
                <a:solidFill>
                  <a:srgbClr val="FCEAED"/>
                </a:solidFill>
                <a:latin typeface="Calibri" pitchFamily="34" charset="0"/>
                <a:ea typeface="Calibri" pitchFamily="34" charset="-122"/>
                <a:cs typeface="Calibri" pitchFamily="34" charset="-120"/>
              </a:rPr>
              <a:t>Nûr Sûresi, 22. âyet</a:t>
            </a:r>
            <a:endParaRPr lang="en-US" sz="1000" dirty="0"/>
          </a:p>
        </p:txBody>
      </p:sp>
      <p:sp>
        <p:nvSpPr>
          <p:cNvPr id="7" name="Text 5"/>
          <p:cNvSpPr/>
          <p:nvPr/>
        </p:nvSpPr>
        <p:spPr>
          <a:xfrm>
            <a:off x="0" y="6858000"/>
            <a:ext cx="5143500" cy="548640"/>
          </a:xfrm>
          <a:prstGeom prst="rect">
            <a:avLst/>
          </a:prstGeom>
          <a:noFill/>
          <a:ln/>
        </p:spPr>
        <p:txBody>
          <a:bodyPr wrap="square" rtlCol="0" anchor="ctr"/>
          <a:lstStyle/>
          <a:p>
            <a:pPr algn="ctr" indent="0" marL="0">
              <a:buNone/>
            </a:pPr>
            <a:r>
              <a:rPr lang="en-US" sz="2000" dirty="0">
                <a:solidFill>
                  <a:srgbClr val="FCEAED"/>
                </a:solidFill>
              </a:rPr>
              <a:t>✦</a:t>
            </a:r>
            <a:endParaRPr lang="en-US" sz="2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Duesuenelim</a:t>
            </a:r>
            <a:endParaRPr lang="en-US" sz="1800" dirty="0"/>
          </a:p>
        </p:txBody>
      </p:sp>
      <p:sp>
        <p:nvSpPr>
          <p:cNvPr id="4" name="Shape 2"/>
          <p:cNvSpPr/>
          <p:nvPr/>
        </p:nvSpPr>
        <p:spPr>
          <a:xfrm>
            <a:off x="274320" y="822960"/>
            <a:ext cx="4594860" cy="2194560"/>
          </a:xfrm>
          <a:prstGeom prst="roundRect">
            <a:avLst>
              <a:gd name="adj" fmla="val 3333"/>
            </a:avLst>
          </a:prstGeom>
          <a:solidFill>
            <a:srgbClr val="FCEAED"/>
          </a:solidFill>
          <a:ln/>
        </p:spPr>
      </p:sp>
      <p:sp>
        <p:nvSpPr>
          <p:cNvPr id="5" name="Text 3"/>
          <p:cNvSpPr/>
          <p:nvPr/>
        </p:nvSpPr>
        <p:spPr>
          <a:xfrm>
            <a:off x="411480" y="960120"/>
            <a:ext cx="365760" cy="320040"/>
          </a:xfrm>
          <a:prstGeom prst="rect">
            <a:avLst/>
          </a:prstGeom>
          <a:noFill/>
          <a:ln/>
        </p:spPr>
        <p:txBody>
          <a:bodyPr wrap="square" rtlCol="0" anchor="ctr"/>
          <a:lstStyle/>
          <a:p>
            <a:pPr indent="0" marL="0">
              <a:buNone/>
            </a:pPr>
            <a:r>
              <a:rPr lang="en-US" sz="1400" b="1" dirty="0">
                <a:solidFill>
                  <a:srgbClr val="C8102E"/>
                </a:solidFill>
                <a:latin typeface="Calibri" pitchFamily="34" charset="0"/>
                <a:ea typeface="Calibri" pitchFamily="34" charset="-122"/>
                <a:cs typeface="Calibri" pitchFamily="34" charset="-120"/>
              </a:rPr>
              <a:t>1.</a:t>
            </a:r>
            <a:endParaRPr lang="en-US" sz="1400" dirty="0"/>
          </a:p>
        </p:txBody>
      </p:sp>
      <p:sp>
        <p:nvSpPr>
          <p:cNvPr id="6" name="Text 4"/>
          <p:cNvSpPr/>
          <p:nvPr/>
        </p:nvSpPr>
        <p:spPr>
          <a:xfrm>
            <a:off x="731520" y="960120"/>
            <a:ext cx="3954780" cy="1920240"/>
          </a:xfrm>
          <a:prstGeom prst="rect">
            <a:avLst/>
          </a:prstGeom>
          <a:noFill/>
          <a:ln/>
        </p:spPr>
        <p:txBody>
          <a:bodyPr wrap="square" rtlCol="0" anchor="ctr"/>
          <a:lstStyle/>
          <a:p>
            <a:pPr algn="l" indent="0" marL="0">
              <a:buNone/>
            </a:pPr>
            <a:r>
              <a:rPr lang="en-US" sz="1100" dirty="0">
                <a:solidFill>
                  <a:srgbClr val="222222"/>
                </a:solidFill>
                <a:latin typeface="Calibri" pitchFamily="34" charset="0"/>
                <a:ea typeface="Calibri" pitchFamily="34" charset="-122"/>
                <a:cs typeface="Calibri" pitchFamily="34" charset="-120"/>
              </a:rPr>
              <a:t>Birini affetmekte zorlandığın bir durum oldu mu? Sonunda ne yaptın?</a:t>
            </a:r>
            <a:endParaRPr lang="en-US" sz="1100" dirty="0"/>
          </a:p>
        </p:txBody>
      </p:sp>
      <p:sp>
        <p:nvSpPr>
          <p:cNvPr id="7" name="Shape 5"/>
          <p:cNvSpPr/>
          <p:nvPr/>
        </p:nvSpPr>
        <p:spPr>
          <a:xfrm>
            <a:off x="274320" y="3200400"/>
            <a:ext cx="4594860" cy="2194560"/>
          </a:xfrm>
          <a:prstGeom prst="roundRect">
            <a:avLst>
              <a:gd name="adj" fmla="val 3333"/>
            </a:avLst>
          </a:prstGeom>
          <a:solidFill>
            <a:srgbClr val="FCEAED"/>
          </a:solidFill>
          <a:ln/>
        </p:spPr>
      </p:sp>
      <p:sp>
        <p:nvSpPr>
          <p:cNvPr id="8" name="Text 6"/>
          <p:cNvSpPr/>
          <p:nvPr/>
        </p:nvSpPr>
        <p:spPr>
          <a:xfrm>
            <a:off x="411480" y="3337560"/>
            <a:ext cx="365760" cy="320040"/>
          </a:xfrm>
          <a:prstGeom prst="rect">
            <a:avLst/>
          </a:prstGeom>
          <a:noFill/>
          <a:ln/>
        </p:spPr>
        <p:txBody>
          <a:bodyPr wrap="square" rtlCol="0" anchor="ctr"/>
          <a:lstStyle/>
          <a:p>
            <a:pPr indent="0" marL="0">
              <a:buNone/>
            </a:pPr>
            <a:r>
              <a:rPr lang="en-US" sz="1400" b="1" dirty="0">
                <a:solidFill>
                  <a:srgbClr val="C8102E"/>
                </a:solidFill>
                <a:latin typeface="Calibri" pitchFamily="34" charset="0"/>
                <a:ea typeface="Calibri" pitchFamily="34" charset="-122"/>
                <a:cs typeface="Calibri" pitchFamily="34" charset="-120"/>
              </a:rPr>
              <a:t>2.</a:t>
            </a:r>
            <a:endParaRPr lang="en-US" sz="1400" dirty="0"/>
          </a:p>
        </p:txBody>
      </p:sp>
      <p:sp>
        <p:nvSpPr>
          <p:cNvPr id="9" name="Text 7"/>
          <p:cNvSpPr/>
          <p:nvPr/>
        </p:nvSpPr>
        <p:spPr>
          <a:xfrm>
            <a:off x="731520" y="3337560"/>
            <a:ext cx="3954780" cy="1920240"/>
          </a:xfrm>
          <a:prstGeom prst="rect">
            <a:avLst/>
          </a:prstGeom>
          <a:noFill/>
          <a:ln/>
        </p:spPr>
        <p:txBody>
          <a:bodyPr wrap="square" rtlCol="0" anchor="ctr"/>
          <a:lstStyle/>
          <a:p>
            <a:pPr algn="l" indent="0" marL="0">
              <a:buNone/>
            </a:pPr>
            <a:r>
              <a:rPr lang="en-US" sz="1100" dirty="0">
                <a:solidFill>
                  <a:srgbClr val="222222"/>
                </a:solidFill>
                <a:latin typeface="Calibri" pitchFamily="34" charset="0"/>
                <a:ea typeface="Calibri" pitchFamily="34" charset="-122"/>
                <a:cs typeface="Calibri" pitchFamily="34" charset="-120"/>
              </a:rPr>
              <a:t>Sana kötülük yapan birini affettiğinde nasıl hissedersin? Af kalbini hafifletir mi?</a:t>
            </a:r>
            <a:endParaRPr lang="en-US" sz="1100" dirty="0"/>
          </a:p>
        </p:txBody>
      </p:sp>
      <p:sp>
        <p:nvSpPr>
          <p:cNvPr id="10" name="Shape 8"/>
          <p:cNvSpPr/>
          <p:nvPr/>
        </p:nvSpPr>
        <p:spPr>
          <a:xfrm>
            <a:off x="274320" y="5577840"/>
            <a:ext cx="4594860" cy="2194560"/>
          </a:xfrm>
          <a:prstGeom prst="roundRect">
            <a:avLst>
              <a:gd name="adj" fmla="val 3333"/>
            </a:avLst>
          </a:prstGeom>
          <a:solidFill>
            <a:srgbClr val="FCEAED"/>
          </a:solidFill>
          <a:ln/>
        </p:spPr>
      </p:sp>
      <p:sp>
        <p:nvSpPr>
          <p:cNvPr id="11" name="Text 9"/>
          <p:cNvSpPr/>
          <p:nvPr/>
        </p:nvSpPr>
        <p:spPr>
          <a:xfrm>
            <a:off x="411480" y="5715000"/>
            <a:ext cx="365760" cy="320040"/>
          </a:xfrm>
          <a:prstGeom prst="rect">
            <a:avLst/>
          </a:prstGeom>
          <a:noFill/>
          <a:ln/>
        </p:spPr>
        <p:txBody>
          <a:bodyPr wrap="square" rtlCol="0" anchor="ctr"/>
          <a:lstStyle/>
          <a:p>
            <a:pPr indent="0" marL="0">
              <a:buNone/>
            </a:pPr>
            <a:r>
              <a:rPr lang="en-US" sz="1400" b="1" dirty="0">
                <a:solidFill>
                  <a:srgbClr val="C8102E"/>
                </a:solidFill>
                <a:latin typeface="Calibri" pitchFamily="34" charset="0"/>
                <a:ea typeface="Calibri" pitchFamily="34" charset="-122"/>
                <a:cs typeface="Calibri" pitchFamily="34" charset="-120"/>
              </a:rPr>
              <a:t>3.</a:t>
            </a:r>
            <a:endParaRPr lang="en-US" sz="1400" dirty="0"/>
          </a:p>
        </p:txBody>
      </p:sp>
      <p:sp>
        <p:nvSpPr>
          <p:cNvPr id="12" name="Text 10"/>
          <p:cNvSpPr/>
          <p:nvPr/>
        </p:nvSpPr>
        <p:spPr>
          <a:xfrm>
            <a:off x="731520" y="5715000"/>
            <a:ext cx="3954780" cy="1920240"/>
          </a:xfrm>
          <a:prstGeom prst="rect">
            <a:avLst/>
          </a:prstGeom>
          <a:noFill/>
          <a:ln/>
        </p:spPr>
        <p:txBody>
          <a:bodyPr wrap="square" rtlCol="0" anchor="ctr"/>
          <a:lstStyle/>
          <a:p>
            <a:pPr algn="l" indent="0" marL="0">
              <a:buNone/>
            </a:pPr>
            <a:r>
              <a:rPr lang="en-US" sz="1100" dirty="0">
                <a:solidFill>
                  <a:srgbClr val="222222"/>
                </a:solidFill>
                <a:latin typeface="Calibri" pitchFamily="34" charset="0"/>
                <a:ea typeface="Calibri" pitchFamily="34" charset="-122"/>
                <a:cs typeface="Calibri" pitchFamily="34" charset="-120"/>
              </a:rPr>
              <a:t>Peygamber Efendimiz sallallahu aleyhi ve sellem'in düşmanlarını affetmesi seni nasıl etkiliyor?</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5143500" cy="9144000"/>
          </a:xfrm>
          <a:prstGeom prst="rect">
            <a:avLst/>
          </a:prstGeom>
          <a:solidFill>
            <a:srgbClr val="8B0000"/>
          </a:solidFill>
          <a:ln/>
        </p:spPr>
      </p:sp>
      <p:sp>
        <p:nvSpPr>
          <p:cNvPr id="3" name="Shape 1"/>
          <p:cNvSpPr/>
          <p:nvPr/>
        </p:nvSpPr>
        <p:spPr>
          <a:xfrm>
            <a:off x="0" y="0"/>
            <a:ext cx="5143500" cy="4572000"/>
          </a:xfrm>
          <a:prstGeom prst="rect">
            <a:avLst/>
          </a:prstGeom>
          <a:solidFill>
            <a:srgbClr val="C8102E">
              <a:alpha val="60000"/>
            </a:srgbClr>
          </a:solidFill>
          <a:ln/>
        </p:spPr>
      </p:sp>
      <p:sp>
        <p:nvSpPr>
          <p:cNvPr id="4" name="Text 2"/>
          <p:cNvSpPr/>
          <p:nvPr/>
        </p:nvSpPr>
        <p:spPr>
          <a:xfrm>
            <a:off x="0" y="2286000"/>
            <a:ext cx="5143500" cy="914400"/>
          </a:xfrm>
          <a:prstGeom prst="rect">
            <a:avLst/>
          </a:prstGeom>
          <a:noFill/>
          <a:ln/>
        </p:spPr>
        <p:txBody>
          <a:bodyPr wrap="square" rtlCol="0" anchor="ctr"/>
          <a:lstStyle/>
          <a:p>
            <a:pPr algn="ctr" indent="0" marL="0">
              <a:buNone/>
            </a:pPr>
            <a:r>
              <a:rPr lang="en-US" sz="4400" dirty="0">
                <a:solidFill>
                  <a:srgbClr val="000000"/>
                </a:solidFill>
              </a:rPr>
              <a:t>❤️</a:t>
            </a:r>
            <a:endParaRPr lang="en-US" sz="4400" dirty="0"/>
          </a:p>
        </p:txBody>
      </p:sp>
      <p:sp>
        <p:nvSpPr>
          <p:cNvPr id="5" name="Text 3"/>
          <p:cNvSpPr/>
          <p:nvPr/>
        </p:nvSpPr>
        <p:spPr>
          <a:xfrm>
            <a:off x="0" y="3474720"/>
            <a:ext cx="5143500" cy="731520"/>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Birlikte Iyilik Akademisi</a:t>
            </a:r>
            <a:endParaRPr lang="en-US" sz="2200" dirty="0"/>
          </a:p>
        </p:txBody>
      </p:sp>
      <p:sp>
        <p:nvSpPr>
          <p:cNvPr id="6" name="Text 4"/>
          <p:cNvSpPr/>
          <p:nvPr/>
        </p:nvSpPr>
        <p:spPr>
          <a:xfrm>
            <a:off x="0" y="4297680"/>
            <a:ext cx="5143500" cy="548640"/>
          </a:xfrm>
          <a:prstGeom prst="rect">
            <a:avLst/>
          </a:prstGeom>
          <a:noFill/>
          <a:ln/>
        </p:spPr>
        <p:txBody>
          <a:bodyPr wrap="square" rtlCol="0" anchor="ctr"/>
          <a:lstStyle/>
          <a:p>
            <a:pPr algn="ctr" indent="0" marL="0">
              <a:buNone/>
            </a:pPr>
            <a:r>
              <a:rPr lang="en-US" sz="1400" dirty="0">
                <a:solidFill>
                  <a:srgbClr val="FCEAED"/>
                </a:solidFill>
                <a:latin typeface="Calibri" pitchFamily="34" charset="0"/>
                <a:ea typeface="Calibri" pitchFamily="34" charset="-122"/>
                <a:cs typeface="Calibri" pitchFamily="34" charset="-120"/>
              </a:rPr>
              <a:t>Degerler Egitimi</a:t>
            </a:r>
            <a:endParaRPr lang="en-US" sz="1400" dirty="0"/>
          </a:p>
        </p:txBody>
      </p:sp>
      <p:sp>
        <p:nvSpPr>
          <p:cNvPr id="7" name="Text 5"/>
          <p:cNvSpPr/>
          <p:nvPr/>
        </p:nvSpPr>
        <p:spPr>
          <a:xfrm>
            <a:off x="0" y="5303520"/>
            <a:ext cx="5143500" cy="457200"/>
          </a:xfrm>
          <a:prstGeom prst="rect">
            <a:avLst/>
          </a:prstGeom>
          <a:noFill/>
          <a:ln/>
        </p:spPr>
        <p:txBody>
          <a:bodyPr wrap="square" rtlCol="0" anchor="ctr"/>
          <a:lstStyle/>
          <a:p>
            <a:pPr algn="ctr" indent="0" marL="0">
              <a:buNone/>
            </a:pPr>
            <a:r>
              <a:rPr lang="en-US" sz="1200" i="1" dirty="0">
                <a:solidFill>
                  <a:srgbClr val="FCEAED"/>
                </a:solidFill>
                <a:latin typeface="Calibri" pitchFamily="34" charset="0"/>
                <a:ea typeface="Calibri" pitchFamily="34" charset="-122"/>
                <a:cs typeface="Calibri" pitchFamily="34" charset="-120"/>
              </a:rPr>
              <a:t>Ders 23</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Af ve Merhamet</dc:title>
  <dc:subject>Degerler Egitimi</dc:subject>
  <dc:creator>Birlikte Iyilik Akademisi</dc:creator>
  <cp:lastModifiedBy>Birlikte Iyilik Akademisi</cp:lastModifiedBy>
  <cp:revision>1</cp:revision>
  <dcterms:created xsi:type="dcterms:W3CDTF">2026-03-21T08:52:35Z</dcterms:created>
  <dcterms:modified xsi:type="dcterms:W3CDTF">2026-03-21T08:52:35Z</dcterms:modified>
</cp:coreProperties>
</file>