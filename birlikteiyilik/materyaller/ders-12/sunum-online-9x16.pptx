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5143500" cy="9144000"/>
  <p:notesSz cx="9144000" cy="51435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548640"/>
            <a:ext cx="5143500" cy="457200"/>
          </a:xfrm>
          <a:prstGeom prst="rect">
            <a:avLst/>
          </a:prstGeom>
          <a:noFill/>
          <a:ln/>
        </p:spPr>
        <p:txBody>
          <a:bodyPr wrap="square" rtlCol="0" anchor="ctr"/>
          <a:lstStyle/>
          <a:p>
            <a:pPr algn="ctr" indent="0" marL="0">
              <a:buNone/>
            </a:pPr>
            <a:r>
              <a:rPr lang="en-US" sz="1100" dirty="0">
                <a:solidFill>
                  <a:srgbClr val="FCEAED"/>
                </a:solidFill>
                <a:latin typeface="Calibri" pitchFamily="34" charset="0"/>
                <a:ea typeface="Calibri" pitchFamily="34" charset="-122"/>
                <a:cs typeface="Calibri" pitchFamily="34" charset="-120"/>
              </a:rPr>
              <a:t>Birlikte Iyilik Akademisi</a:t>
            </a:r>
            <a:endParaRPr lang="en-US" sz="1100" dirty="0"/>
          </a:p>
        </p:txBody>
      </p:sp>
      <p:sp>
        <p:nvSpPr>
          <p:cNvPr id="5" name="Text 3"/>
          <p:cNvSpPr/>
          <p:nvPr/>
        </p:nvSpPr>
        <p:spPr>
          <a:xfrm>
            <a:off x="365760" y="2743200"/>
            <a:ext cx="4411980" cy="137160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Söz Vermek ve Sadakat</a:t>
            </a:r>
            <a:endParaRPr lang="en-US" sz="2800" dirty="0"/>
          </a:p>
        </p:txBody>
      </p:sp>
      <p:sp>
        <p:nvSpPr>
          <p:cNvPr id="6" name="Text 4"/>
          <p:cNvSpPr/>
          <p:nvPr/>
        </p:nvSpPr>
        <p:spPr>
          <a:xfrm>
            <a:off x="457200" y="4206240"/>
            <a:ext cx="4229100" cy="548640"/>
          </a:xfrm>
          <a:prstGeom prst="rect">
            <a:avLst/>
          </a:prstGeom>
          <a:noFill/>
          <a:ln/>
        </p:spPr>
        <p:txBody>
          <a:bodyPr wrap="square" rtlCol="0" anchor="ctr"/>
          <a:lstStyle/>
          <a:p>
            <a:pPr algn="ctr" indent="0" marL="0">
              <a:buNone/>
            </a:pPr>
            <a:r>
              <a:rPr lang="en-US" sz="1500" i="1" dirty="0">
                <a:solidFill>
                  <a:srgbClr val="FCEAED"/>
                </a:solidFill>
                <a:latin typeface="Calibri" pitchFamily="34" charset="0"/>
                <a:ea typeface="Calibri" pitchFamily="34" charset="-122"/>
                <a:cs typeface="Calibri" pitchFamily="34" charset="-120"/>
              </a:rPr>
              <a:t>Verilen söze bağlılığın önemi</a:t>
            </a:r>
            <a:endParaRPr lang="en-US" sz="1500" dirty="0"/>
          </a:p>
        </p:txBody>
      </p:sp>
      <p:sp>
        <p:nvSpPr>
          <p:cNvPr id="7" name="Text 5"/>
          <p:cNvSpPr/>
          <p:nvPr/>
        </p:nvSpPr>
        <p:spPr>
          <a:xfrm>
            <a:off x="0" y="8412480"/>
            <a:ext cx="5143500" cy="457200"/>
          </a:xfrm>
          <a:prstGeom prst="rect">
            <a:avLst/>
          </a:prstGeom>
          <a:noFill/>
          <a:ln/>
        </p:spPr>
        <p:txBody>
          <a:bodyPr wrap="square" rtlCol="0" anchor="ctr"/>
          <a:lstStyle/>
          <a:p>
            <a:pPr algn="ctr" indent="0" marL="0">
              <a:buNone/>
            </a:pPr>
            <a:r>
              <a:rPr lang="en-US" sz="1000" dirty="0">
                <a:solidFill>
                  <a:srgbClr val="FCEAED"/>
                </a:solidFill>
                <a:latin typeface="Calibri" pitchFamily="34" charset="0"/>
                <a:ea typeface="Calibri" pitchFamily="34" charset="-122"/>
                <a:cs typeface="Calibri" pitchFamily="34" charset="-120"/>
              </a:rPr>
              <a:t>Degerler Egitimi</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Buguen Ne Oegreneceegiz?</a:t>
            </a:r>
            <a:endParaRPr lang="en-US" sz="1800" dirty="0"/>
          </a:p>
        </p:txBody>
      </p:sp>
      <p:sp>
        <p:nvSpPr>
          <p:cNvPr id="4" name="Shape 2"/>
          <p:cNvSpPr/>
          <p:nvPr/>
        </p:nvSpPr>
        <p:spPr>
          <a:xfrm>
            <a:off x="274320" y="914400"/>
            <a:ext cx="365760" cy="365760"/>
          </a:xfrm>
          <a:prstGeom prst="ellipse">
            <a:avLst/>
          </a:prstGeom>
          <a:solidFill>
            <a:srgbClr val="C8102E"/>
          </a:solidFill>
          <a:ln/>
        </p:spPr>
      </p:sp>
      <p:sp>
        <p:nvSpPr>
          <p:cNvPr id="5" name="Text 3"/>
          <p:cNvSpPr/>
          <p:nvPr/>
        </p:nvSpPr>
        <p:spPr>
          <a:xfrm>
            <a:off x="274320" y="91440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777240" y="82296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Akabe Bî'atlarının tarihî önemini ve içeriğini açıklayabilirim.</a:t>
            </a:r>
            <a:endParaRPr lang="en-US" sz="1200" dirty="0"/>
          </a:p>
        </p:txBody>
      </p:sp>
      <p:sp>
        <p:nvSpPr>
          <p:cNvPr id="7" name="Shape 5"/>
          <p:cNvSpPr/>
          <p:nvPr/>
        </p:nvSpPr>
        <p:spPr>
          <a:xfrm>
            <a:off x="274320" y="1874520"/>
            <a:ext cx="365760" cy="365760"/>
          </a:xfrm>
          <a:prstGeom prst="ellipse">
            <a:avLst/>
          </a:prstGeom>
          <a:solidFill>
            <a:srgbClr val="C8102E"/>
          </a:solidFill>
          <a:ln/>
        </p:spPr>
      </p:sp>
      <p:sp>
        <p:nvSpPr>
          <p:cNvPr id="8" name="Text 6"/>
          <p:cNvSpPr/>
          <p:nvPr/>
        </p:nvSpPr>
        <p:spPr>
          <a:xfrm>
            <a:off x="274320" y="187452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9" name="Text 7"/>
          <p:cNvSpPr/>
          <p:nvPr/>
        </p:nvSpPr>
        <p:spPr>
          <a:xfrm>
            <a:off x="777240" y="178308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Söz vermenin ve verilen söze bağlı kalmanın önemini kavrayabilirim.</a:t>
            </a:r>
            <a:endParaRPr lang="en-US" sz="1200" dirty="0"/>
          </a:p>
        </p:txBody>
      </p:sp>
      <p:sp>
        <p:nvSpPr>
          <p:cNvPr id="10" name="Shape 8"/>
          <p:cNvSpPr/>
          <p:nvPr/>
        </p:nvSpPr>
        <p:spPr>
          <a:xfrm>
            <a:off x="274320" y="2834640"/>
            <a:ext cx="365760" cy="365760"/>
          </a:xfrm>
          <a:prstGeom prst="ellipse">
            <a:avLst/>
          </a:prstGeom>
          <a:solidFill>
            <a:srgbClr val="C8102E"/>
          </a:solidFill>
          <a:ln/>
        </p:spPr>
      </p:sp>
      <p:sp>
        <p:nvSpPr>
          <p:cNvPr id="11" name="Text 9"/>
          <p:cNvSpPr/>
          <p:nvPr/>
        </p:nvSpPr>
        <p:spPr>
          <a:xfrm>
            <a:off x="274320" y="283464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2" name="Text 10"/>
          <p:cNvSpPr/>
          <p:nvPr/>
        </p:nvSpPr>
        <p:spPr>
          <a:xfrm>
            <a:off x="777240" y="274320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Sadakat kavramını tanımlayabilir, hayattan örnekler verebilirim.</a:t>
            </a:r>
            <a:endParaRPr lang="en-US" sz="1200" dirty="0"/>
          </a:p>
        </p:txBody>
      </p:sp>
      <p:sp>
        <p:nvSpPr>
          <p:cNvPr id="13" name="Shape 11"/>
          <p:cNvSpPr/>
          <p:nvPr/>
        </p:nvSpPr>
        <p:spPr>
          <a:xfrm>
            <a:off x="274320" y="3794760"/>
            <a:ext cx="365760" cy="365760"/>
          </a:xfrm>
          <a:prstGeom prst="ellipse">
            <a:avLst/>
          </a:prstGeom>
          <a:solidFill>
            <a:srgbClr val="C8102E"/>
          </a:solidFill>
          <a:ln/>
        </p:spPr>
      </p:sp>
      <p:sp>
        <p:nvSpPr>
          <p:cNvPr id="14" name="Text 12"/>
          <p:cNvSpPr/>
          <p:nvPr/>
        </p:nvSpPr>
        <p:spPr>
          <a:xfrm>
            <a:off x="274320" y="379476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5" name="Text 13"/>
          <p:cNvSpPr/>
          <p:nvPr/>
        </p:nvSpPr>
        <p:spPr>
          <a:xfrm>
            <a:off x="777240" y="370332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Güvenilir bir insan olmanın toplumda nasıl bir değer taşıdığını yorumlayabilirim.</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Anahtar Kavramlar</a:t>
            </a:r>
            <a:endParaRPr lang="en-US" sz="1800" dirty="0"/>
          </a:p>
        </p:txBody>
      </p:sp>
      <p:sp>
        <p:nvSpPr>
          <p:cNvPr id="4" name="Shape 2"/>
          <p:cNvSpPr/>
          <p:nvPr/>
        </p:nvSpPr>
        <p:spPr>
          <a:xfrm>
            <a:off x="274320" y="822960"/>
            <a:ext cx="2228850" cy="2377440"/>
          </a:xfrm>
          <a:prstGeom prst="roundRect">
            <a:avLst>
              <a:gd name="adj" fmla="val 3282"/>
            </a:avLst>
          </a:prstGeom>
          <a:solidFill>
            <a:srgbClr val="FCEAED"/>
          </a:solidFill>
          <a:ln/>
        </p:spPr>
      </p:sp>
      <p:sp>
        <p:nvSpPr>
          <p:cNvPr id="5" name="Text 3"/>
          <p:cNvSpPr/>
          <p:nvPr/>
        </p:nvSpPr>
        <p:spPr>
          <a:xfrm>
            <a:off x="365760" y="9144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Bîat</a:t>
            </a:r>
            <a:endParaRPr lang="en-US" sz="1100" dirty="0"/>
          </a:p>
        </p:txBody>
      </p:sp>
      <p:sp>
        <p:nvSpPr>
          <p:cNvPr id="6" name="Text 4"/>
          <p:cNvSpPr/>
          <p:nvPr/>
        </p:nvSpPr>
        <p:spPr>
          <a:xfrm>
            <a:off x="365760" y="12801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Bir lidere veya ilkeye bağlılık sözü verme, söz vererek bağlanma.</a:t>
            </a:r>
            <a:endParaRPr lang="en-US" sz="900" dirty="0"/>
          </a:p>
        </p:txBody>
      </p:sp>
      <p:sp>
        <p:nvSpPr>
          <p:cNvPr id="7" name="Shape 5"/>
          <p:cNvSpPr/>
          <p:nvPr/>
        </p:nvSpPr>
        <p:spPr>
          <a:xfrm>
            <a:off x="2640330" y="822960"/>
            <a:ext cx="2228850" cy="2377440"/>
          </a:xfrm>
          <a:prstGeom prst="roundRect">
            <a:avLst>
              <a:gd name="adj" fmla="val 3282"/>
            </a:avLst>
          </a:prstGeom>
          <a:solidFill>
            <a:srgbClr val="FCEAED"/>
          </a:solidFill>
          <a:ln/>
        </p:spPr>
      </p:sp>
      <p:sp>
        <p:nvSpPr>
          <p:cNvPr id="8" name="Text 6"/>
          <p:cNvSpPr/>
          <p:nvPr/>
        </p:nvSpPr>
        <p:spPr>
          <a:xfrm>
            <a:off x="2731770" y="9144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Sadakat</a:t>
            </a:r>
            <a:endParaRPr lang="en-US" sz="1100" dirty="0"/>
          </a:p>
        </p:txBody>
      </p:sp>
      <p:sp>
        <p:nvSpPr>
          <p:cNvPr id="9" name="Text 7"/>
          <p:cNvSpPr/>
          <p:nvPr/>
        </p:nvSpPr>
        <p:spPr>
          <a:xfrm>
            <a:off x="2731770" y="12801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Verilen söze, dostluğa ve ilkelere bağlı kalma.</a:t>
            </a:r>
            <a:endParaRPr lang="en-US" sz="900" dirty="0"/>
          </a:p>
        </p:txBody>
      </p:sp>
      <p:sp>
        <p:nvSpPr>
          <p:cNvPr id="10" name="Shape 8"/>
          <p:cNvSpPr/>
          <p:nvPr/>
        </p:nvSpPr>
        <p:spPr>
          <a:xfrm>
            <a:off x="274320" y="3337560"/>
            <a:ext cx="2228850" cy="2377440"/>
          </a:xfrm>
          <a:prstGeom prst="roundRect">
            <a:avLst>
              <a:gd name="adj" fmla="val 3282"/>
            </a:avLst>
          </a:prstGeom>
          <a:solidFill>
            <a:srgbClr val="FCEAED"/>
          </a:solidFill>
          <a:ln/>
        </p:spPr>
      </p:sp>
      <p:sp>
        <p:nvSpPr>
          <p:cNvPr id="11" name="Text 9"/>
          <p:cNvSpPr/>
          <p:nvPr/>
        </p:nvSpPr>
        <p:spPr>
          <a:xfrm>
            <a:off x="365760" y="34290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Ahde Vefâ</a:t>
            </a:r>
            <a:endParaRPr lang="en-US" sz="1100" dirty="0"/>
          </a:p>
        </p:txBody>
      </p:sp>
      <p:sp>
        <p:nvSpPr>
          <p:cNvPr id="12" name="Text 10"/>
          <p:cNvSpPr/>
          <p:nvPr/>
        </p:nvSpPr>
        <p:spPr>
          <a:xfrm>
            <a:off x="365760" y="37947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Yapılan anlaşmaya ve verilen söze sadık kalma.</a:t>
            </a:r>
            <a:endParaRPr lang="en-US" sz="900" dirty="0"/>
          </a:p>
        </p:txBody>
      </p:sp>
      <p:sp>
        <p:nvSpPr>
          <p:cNvPr id="13" name="Shape 11"/>
          <p:cNvSpPr/>
          <p:nvPr/>
        </p:nvSpPr>
        <p:spPr>
          <a:xfrm>
            <a:off x="2640330" y="3337560"/>
            <a:ext cx="2228850" cy="2377440"/>
          </a:xfrm>
          <a:prstGeom prst="roundRect">
            <a:avLst>
              <a:gd name="adj" fmla="val 3282"/>
            </a:avLst>
          </a:prstGeom>
          <a:solidFill>
            <a:srgbClr val="FCEAED"/>
          </a:solidFill>
          <a:ln/>
        </p:spPr>
      </p:sp>
      <p:sp>
        <p:nvSpPr>
          <p:cNvPr id="14" name="Text 12"/>
          <p:cNvSpPr/>
          <p:nvPr/>
        </p:nvSpPr>
        <p:spPr>
          <a:xfrm>
            <a:off x="2731770" y="34290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Akabe</a:t>
            </a:r>
            <a:endParaRPr lang="en-US" sz="1100" dirty="0"/>
          </a:p>
        </p:txBody>
      </p:sp>
      <p:sp>
        <p:nvSpPr>
          <p:cNvPr id="15" name="Text 13"/>
          <p:cNvSpPr/>
          <p:nvPr/>
        </p:nvSpPr>
        <p:spPr>
          <a:xfrm>
            <a:off x="2731770" y="37947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Mekke yakınında Medîneli Müslümanların bîat ettiği yer.</a:t>
            </a:r>
            <a:endParaRPr lang="en-US" sz="900" dirty="0"/>
          </a:p>
        </p:txBody>
      </p:sp>
      <p:sp>
        <p:nvSpPr>
          <p:cNvPr id="16" name="Shape 14"/>
          <p:cNvSpPr/>
          <p:nvPr/>
        </p:nvSpPr>
        <p:spPr>
          <a:xfrm>
            <a:off x="274320" y="5852160"/>
            <a:ext cx="2228850" cy="2377440"/>
          </a:xfrm>
          <a:prstGeom prst="roundRect">
            <a:avLst>
              <a:gd name="adj" fmla="val 3282"/>
            </a:avLst>
          </a:prstGeom>
          <a:solidFill>
            <a:srgbClr val="FCEAED"/>
          </a:solidFill>
          <a:ln/>
        </p:spPr>
      </p:sp>
      <p:sp>
        <p:nvSpPr>
          <p:cNvPr id="17" name="Text 15"/>
          <p:cNvSpPr/>
          <p:nvPr/>
        </p:nvSpPr>
        <p:spPr>
          <a:xfrm>
            <a:off x="365760" y="59436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Güven</a:t>
            </a:r>
            <a:endParaRPr lang="en-US" sz="1100" dirty="0"/>
          </a:p>
        </p:txBody>
      </p:sp>
      <p:sp>
        <p:nvSpPr>
          <p:cNvPr id="18" name="Text 16"/>
          <p:cNvSpPr/>
          <p:nvPr/>
        </p:nvSpPr>
        <p:spPr>
          <a:xfrm>
            <a:off x="365760" y="63093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Başkalarının sözüne inanabilme ve güvenilir olma durumu.</a:t>
            </a:r>
            <a:endParaRPr lang="en-US" sz="900" dirty="0"/>
          </a:p>
        </p:txBody>
      </p:sp>
      <p:sp>
        <p:nvSpPr>
          <p:cNvPr id="19" name="Shape 17"/>
          <p:cNvSpPr/>
          <p:nvPr/>
        </p:nvSpPr>
        <p:spPr>
          <a:xfrm>
            <a:off x="2640330" y="5852160"/>
            <a:ext cx="2228850" cy="2377440"/>
          </a:xfrm>
          <a:prstGeom prst="roundRect">
            <a:avLst>
              <a:gd name="adj" fmla="val 3282"/>
            </a:avLst>
          </a:prstGeom>
          <a:solidFill>
            <a:srgbClr val="FCEAED"/>
          </a:solidFill>
          <a:ln/>
        </p:spPr>
      </p:sp>
      <p:sp>
        <p:nvSpPr>
          <p:cNvPr id="20" name="Text 18"/>
          <p:cNvSpPr/>
          <p:nvPr/>
        </p:nvSpPr>
        <p:spPr>
          <a:xfrm>
            <a:off x="2731770" y="59436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Sorumluluk</a:t>
            </a:r>
            <a:endParaRPr lang="en-US" sz="1100" dirty="0"/>
          </a:p>
        </p:txBody>
      </p:sp>
      <p:sp>
        <p:nvSpPr>
          <p:cNvPr id="21" name="Text 19"/>
          <p:cNvSpPr/>
          <p:nvPr/>
        </p:nvSpPr>
        <p:spPr>
          <a:xfrm>
            <a:off x="2731770" y="63093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Verilen sözün ve üstlenilen görevin gereğini yerine getirme.</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Akabe'de Verilen Söz</a:t>
            </a:r>
            <a:endParaRPr lang="en-US" sz="1800" dirty="0"/>
          </a:p>
        </p:txBody>
      </p:sp>
      <p:sp>
        <p:nvSpPr>
          <p:cNvPr id="4" name="Text 2"/>
          <p:cNvSpPr/>
          <p:nvPr/>
        </p:nvSpPr>
        <p:spPr>
          <a:xfrm>
            <a:off x="274320" y="822960"/>
            <a:ext cx="4594860" cy="640080"/>
          </a:xfrm>
          <a:prstGeom prst="rect">
            <a:avLst/>
          </a:prstGeom>
          <a:noFill/>
          <a:ln/>
        </p:spPr>
        <p:txBody>
          <a:bodyPr wrap="square" rtlCol="0" anchor="ctr"/>
          <a:lstStyle/>
          <a:p>
            <a:pPr algn="l" indent="0" marL="0">
              <a:buNone/>
            </a:pPr>
            <a:r>
              <a:rPr lang="en-US" sz="1000" i="1" dirty="0">
                <a:solidFill>
                  <a:srgbClr val="666666"/>
                </a:solidFill>
                <a:latin typeface="Calibri" pitchFamily="34" charset="0"/>
                <a:ea typeface="Calibri" pitchFamily="34" charset="-122"/>
                <a:cs typeface="Calibri" pitchFamily="34" charset="-120"/>
              </a:rPr>
              <a:t>Peygamber Efendimiz sallallahu aleyhi ve sellem, hac mevsimlerinde Mekke'ye gelen kabilelere İslâm'ı anlattı. Medîneli (Yesribli) bir grup bu davete icabet etti ve Akabe'de gizlice buluşarak biat ettiler.</a:t>
            </a:r>
            <a:endParaRPr lang="en-US" sz="1000" dirty="0"/>
          </a:p>
        </p:txBody>
      </p:sp>
      <p:sp>
        <p:nvSpPr>
          <p:cNvPr id="5" name="Text 3"/>
          <p:cNvSpPr/>
          <p:nvPr/>
        </p:nvSpPr>
        <p:spPr>
          <a:xfrm>
            <a:off x="274320" y="1645920"/>
            <a:ext cx="4594860" cy="192024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Medîneli Müslümanlar, hac mevsiminde Mekke'ye geldiklerinde Akabe mevkiinde Peygamber Efendimiz sallallahu aleyhi ve sellem ile gizlice buluştular. Birinci Akabe Bî'atı'nda on iki kişi, Allah'a şirk koşmamaya, hırsızlık yapmamaya, yalan söylememeye ve Peygamber Efendimiz'e itaat etmeye söz verdiler. Bu sözler, İslâm'ın temel ahlâk ilkelerini içeriyordu.</a:t>
            </a:r>
            <a:endParaRPr lang="en-US" sz="1000" dirty="0"/>
          </a:p>
        </p:txBody>
      </p:sp>
      <p:sp>
        <p:nvSpPr>
          <p:cNvPr id="6" name="Text 4"/>
          <p:cNvSpPr/>
          <p:nvPr/>
        </p:nvSpPr>
        <p:spPr>
          <a:xfrm>
            <a:off x="274320" y="3657600"/>
            <a:ext cx="4594860" cy="192024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Bir yıl sonra İkinci Akabe Bî'atı'nda yetmiş üç erkek ve iki kadın Müslüman, gece karanlığında sessizce Akabe'ye geldi. Peygamber Efendimiz'e 'Canlarımızı, mallarımızı, ailelerimizi nasıl koruyorsak seni de öyle koruyacağız' diye söz verdiler. Hz. Abbas radıyallahu anh, 'Bu sözün ne anlama geldiğini biliyor musunuz? Tüm Arabistan'ı karşınıza alacaksınız' diye uyardı. Medîneliler kararlıydı.</a:t>
            </a:r>
            <a:endParaRPr lang="en-US" sz="1000" dirty="0"/>
          </a:p>
        </p:txBody>
      </p:sp>
      <p:sp>
        <p:nvSpPr>
          <p:cNvPr id="7" name="Text 5"/>
          <p:cNvSpPr/>
          <p:nvPr/>
        </p:nvSpPr>
        <p:spPr>
          <a:xfrm>
            <a:off x="274320" y="5669280"/>
            <a:ext cx="4594860" cy="192024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Akabe Bî'atları, İslâm tarihinde verilen sözün kutsallığını gösteren en güçlü örneklerdendir. Medîneli Müslümanlar bu sözlerini hiçbir zaman bozmadılar. Hicret'te Peygamber Efendimiz'i bağırlarına bastılar, mallarını paylaştılar, canlarını ortaya koydular. Verilen söz, sadece bir kelime değil; onur, güven ve sorumluluktur.</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731520"/>
            <a:ext cx="914400" cy="1097280"/>
          </a:xfrm>
          <a:prstGeom prst="rect">
            <a:avLst/>
          </a:prstGeom>
          <a:noFill/>
          <a:ln/>
        </p:spPr>
        <p:txBody>
          <a:bodyPr wrap="square" rtlCol="0" anchor="ctr"/>
          <a:lstStyle/>
          <a:p>
            <a:pPr indent="0" marL="0">
              <a:buNone/>
            </a:pPr>
            <a:r>
              <a:rPr lang="en-US" sz="7200" b="1" dirty="0">
                <a:solidFill>
                  <a:srgbClr val="C8102E"/>
                </a:solidFill>
                <a:latin typeface="Calibri" pitchFamily="34" charset="0"/>
                <a:ea typeface="Calibri" pitchFamily="34" charset="-122"/>
                <a:cs typeface="Calibri" pitchFamily="34" charset="-120"/>
              </a:rPr>
              <a:t>“</a:t>
            </a:r>
            <a:endParaRPr lang="en-US" sz="7200" dirty="0"/>
          </a:p>
        </p:txBody>
      </p:sp>
      <p:sp>
        <p:nvSpPr>
          <p:cNvPr id="4" name="Shape 2"/>
          <p:cNvSpPr/>
          <p:nvPr/>
        </p:nvSpPr>
        <p:spPr>
          <a:xfrm>
            <a:off x="822960" y="1188720"/>
            <a:ext cx="45720" cy="4114800"/>
          </a:xfrm>
          <a:prstGeom prst="rect">
            <a:avLst/>
          </a:prstGeom>
          <a:solidFill>
            <a:srgbClr val="C8102E"/>
          </a:solidFill>
          <a:ln/>
        </p:spPr>
      </p:sp>
      <p:sp>
        <p:nvSpPr>
          <p:cNvPr id="5" name="Text 3"/>
          <p:cNvSpPr/>
          <p:nvPr/>
        </p:nvSpPr>
        <p:spPr>
          <a:xfrm>
            <a:off x="1051560" y="1188720"/>
            <a:ext cx="3680460" cy="4114800"/>
          </a:xfrm>
          <a:prstGeom prst="rect">
            <a:avLst/>
          </a:prstGeom>
          <a:noFill/>
          <a:ln/>
        </p:spPr>
        <p:txBody>
          <a:bodyPr wrap="square" rtlCol="0" anchor="ctr"/>
          <a:lstStyle/>
          <a:p>
            <a:pPr algn="l" indent="0" marL="0">
              <a:buNone/>
            </a:pPr>
            <a:r>
              <a:rPr lang="en-US" sz="1400" i="1" dirty="0">
                <a:solidFill>
                  <a:srgbClr val="222222"/>
                </a:solidFill>
                <a:latin typeface="Calibri" pitchFamily="34" charset="0"/>
                <a:ea typeface="Calibri" pitchFamily="34" charset="-122"/>
                <a:cs typeface="Calibri" pitchFamily="34" charset="-120"/>
              </a:rPr>
              <a:t>Canlarımızı, ailelerimizi ve çocuklarımızı nasıl koruyorsak, seni de öyle koruyacağız!</a:t>
            </a:r>
            <a:endParaRPr lang="en-US" sz="1400" dirty="0"/>
          </a:p>
        </p:txBody>
      </p:sp>
      <p:sp>
        <p:nvSpPr>
          <p:cNvPr id="6" name="Text 4"/>
          <p:cNvSpPr/>
          <p:nvPr/>
        </p:nvSpPr>
        <p:spPr>
          <a:xfrm>
            <a:off x="1051560" y="5669280"/>
            <a:ext cx="3680460" cy="457200"/>
          </a:xfrm>
          <a:prstGeom prst="rect">
            <a:avLst/>
          </a:prstGeom>
          <a:noFill/>
          <a:ln/>
        </p:spPr>
        <p:txBody>
          <a:bodyPr wrap="square" rtlCol="0" anchor="ctr"/>
          <a:lstStyle/>
          <a:p>
            <a:pPr algn="r" indent="0" marL="0">
              <a:buNone/>
            </a:pPr>
            <a:r>
              <a:rPr lang="en-US" sz="1000" dirty="0">
                <a:solidFill>
                  <a:srgbClr val="666666"/>
                </a:solidFill>
                <a:latin typeface="Calibri" pitchFamily="34" charset="0"/>
                <a:ea typeface="Calibri" pitchFamily="34" charset="-122"/>
                <a:cs typeface="Calibri" pitchFamily="34" charset="-120"/>
              </a:rPr>
              <a:t>— Medîneli Müslümanlar (Akabe Bî'atı)</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Shape 1"/>
          <p:cNvSpPr/>
          <p:nvPr/>
        </p:nvSpPr>
        <p:spPr>
          <a:xfrm>
            <a:off x="1657350" y="3200400"/>
            <a:ext cx="1828800" cy="27432"/>
          </a:xfrm>
          <a:prstGeom prst="rect">
            <a:avLst/>
          </a:prstGeom>
          <a:solidFill>
            <a:srgbClr val="C8102E"/>
          </a:solidFill>
          <a:ln/>
        </p:spPr>
      </p:sp>
      <p:sp>
        <p:nvSpPr>
          <p:cNvPr id="4" name="Text 2"/>
          <p:cNvSpPr/>
          <p:nvPr/>
        </p:nvSpPr>
        <p:spPr>
          <a:xfrm>
            <a:off x="457200" y="3474720"/>
            <a:ext cx="4229100" cy="3200400"/>
          </a:xfrm>
          <a:prstGeom prst="rect">
            <a:avLst/>
          </a:prstGeom>
          <a:noFill/>
          <a:ln/>
        </p:spPr>
        <p:txBody>
          <a:bodyPr wrap="square" rtlCol="0" anchor="ctr"/>
          <a:lstStyle/>
          <a:p>
            <a:pPr algn="ctr" indent="0" marL="0">
              <a:buNone/>
            </a:pPr>
            <a:r>
              <a:rPr lang="en-US" sz="1300" i="1" dirty="0">
                <a:solidFill>
                  <a:srgbClr val="8B0000"/>
                </a:solidFill>
                <a:latin typeface="Calibri" pitchFamily="34" charset="0"/>
                <a:ea typeface="Calibri" pitchFamily="34" charset="-122"/>
                <a:cs typeface="Calibri" pitchFamily="34" charset="-120"/>
              </a:rPr>
              <a:t>Sözleşme yaptığınız zaman Allah'ın ahdini yerine getirin. Allah'ı kendinize kefil kılarak pekiştirdikten sonra yeminlerinizi bozmayın.</a:t>
            </a:r>
            <a:endParaRPr lang="en-US" sz="1300" dirty="0"/>
          </a:p>
        </p:txBody>
      </p:sp>
      <p:sp>
        <p:nvSpPr>
          <p:cNvPr id="5" name="Shape 3"/>
          <p:cNvSpPr/>
          <p:nvPr/>
        </p:nvSpPr>
        <p:spPr>
          <a:xfrm>
            <a:off x="1657350" y="6858000"/>
            <a:ext cx="1828800" cy="27432"/>
          </a:xfrm>
          <a:prstGeom prst="rect">
            <a:avLst/>
          </a:prstGeom>
          <a:solidFill>
            <a:srgbClr val="C8102E"/>
          </a:solidFill>
          <a:ln/>
        </p:spPr>
      </p:sp>
      <p:sp>
        <p:nvSpPr>
          <p:cNvPr id="6" name="Text 4"/>
          <p:cNvSpPr/>
          <p:nvPr/>
        </p:nvSpPr>
        <p:spPr>
          <a:xfrm>
            <a:off x="457200" y="7132320"/>
            <a:ext cx="4229100" cy="457200"/>
          </a:xfrm>
          <a:prstGeom prst="rect">
            <a:avLst/>
          </a:prstGeom>
          <a:noFill/>
          <a:ln/>
        </p:spPr>
        <p:txBody>
          <a:bodyPr wrap="square" rtlCol="0" anchor="ctr"/>
          <a:lstStyle/>
          <a:p>
            <a:pPr algn="ctr" indent="0" marL="0">
              <a:buNone/>
            </a:pPr>
            <a:r>
              <a:rPr lang="en-US" sz="900" dirty="0">
                <a:solidFill>
                  <a:srgbClr val="666666"/>
                </a:solidFill>
                <a:latin typeface="Calibri" pitchFamily="34" charset="0"/>
                <a:ea typeface="Calibri" pitchFamily="34" charset="-122"/>
                <a:cs typeface="Calibri" pitchFamily="34" charset="-120"/>
              </a:rPr>
              <a:t>Nahl Sûresi, 91</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Degerin Boyutlari</a:t>
            </a:r>
            <a:endParaRPr lang="en-US" sz="1800" dirty="0"/>
          </a:p>
        </p:txBody>
      </p:sp>
      <p:sp>
        <p:nvSpPr>
          <p:cNvPr id="4" name="Shape 2"/>
          <p:cNvSpPr/>
          <p:nvPr/>
        </p:nvSpPr>
        <p:spPr>
          <a:xfrm>
            <a:off x="274320" y="822960"/>
            <a:ext cx="2228850" cy="3474720"/>
          </a:xfrm>
          <a:prstGeom prst="roundRect">
            <a:avLst>
              <a:gd name="adj" fmla="val 3282"/>
            </a:avLst>
          </a:prstGeom>
          <a:solidFill>
            <a:srgbClr val="FCEAED"/>
          </a:solidFill>
          <a:ln/>
        </p:spPr>
      </p:sp>
      <p:sp>
        <p:nvSpPr>
          <p:cNvPr id="5" name="Text 3"/>
          <p:cNvSpPr/>
          <p:nvPr/>
        </p:nvSpPr>
        <p:spPr>
          <a:xfrm>
            <a:off x="274320" y="91440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6" name="Text 4"/>
          <p:cNvSpPr/>
          <p:nvPr/>
        </p:nvSpPr>
        <p:spPr>
          <a:xfrm>
            <a:off x="347472" y="137160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Sözünde Durma</a:t>
            </a:r>
            <a:endParaRPr lang="en-US" sz="1100" dirty="0"/>
          </a:p>
        </p:txBody>
      </p:sp>
      <p:sp>
        <p:nvSpPr>
          <p:cNvPr id="7" name="Text 5"/>
          <p:cNvSpPr/>
          <p:nvPr/>
        </p:nvSpPr>
        <p:spPr>
          <a:xfrm>
            <a:off x="347472" y="178308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Verdiğin sözü ne olursa olsun yerine getirme kararlılığı.</a:t>
            </a:r>
            <a:endParaRPr lang="en-US" sz="800" dirty="0"/>
          </a:p>
        </p:txBody>
      </p:sp>
      <p:sp>
        <p:nvSpPr>
          <p:cNvPr id="8" name="Shape 6"/>
          <p:cNvSpPr/>
          <p:nvPr/>
        </p:nvSpPr>
        <p:spPr>
          <a:xfrm>
            <a:off x="2640330" y="822960"/>
            <a:ext cx="2228850" cy="3474720"/>
          </a:xfrm>
          <a:prstGeom prst="roundRect">
            <a:avLst>
              <a:gd name="adj" fmla="val 3282"/>
            </a:avLst>
          </a:prstGeom>
          <a:solidFill>
            <a:srgbClr val="FCEAED"/>
          </a:solidFill>
          <a:ln/>
        </p:spPr>
      </p:sp>
      <p:sp>
        <p:nvSpPr>
          <p:cNvPr id="9" name="Text 7"/>
          <p:cNvSpPr/>
          <p:nvPr/>
        </p:nvSpPr>
        <p:spPr>
          <a:xfrm>
            <a:off x="2640330" y="91440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0" name="Text 8"/>
          <p:cNvSpPr/>
          <p:nvPr/>
        </p:nvSpPr>
        <p:spPr>
          <a:xfrm>
            <a:off x="2713482" y="137160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Güvenilirlik</a:t>
            </a:r>
            <a:endParaRPr lang="en-US" sz="1100" dirty="0"/>
          </a:p>
        </p:txBody>
      </p:sp>
      <p:sp>
        <p:nvSpPr>
          <p:cNvPr id="11" name="Text 9"/>
          <p:cNvSpPr/>
          <p:nvPr/>
        </p:nvSpPr>
        <p:spPr>
          <a:xfrm>
            <a:off x="2713482" y="178308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Çevrende güvenilir bir insan olarak tanınma.</a:t>
            </a:r>
            <a:endParaRPr lang="en-US" sz="800" dirty="0"/>
          </a:p>
        </p:txBody>
      </p:sp>
      <p:sp>
        <p:nvSpPr>
          <p:cNvPr id="12" name="Shape 10"/>
          <p:cNvSpPr/>
          <p:nvPr/>
        </p:nvSpPr>
        <p:spPr>
          <a:xfrm>
            <a:off x="274320" y="4434840"/>
            <a:ext cx="2228850" cy="3474720"/>
          </a:xfrm>
          <a:prstGeom prst="roundRect">
            <a:avLst>
              <a:gd name="adj" fmla="val 3282"/>
            </a:avLst>
          </a:prstGeom>
          <a:solidFill>
            <a:srgbClr val="FCEAED"/>
          </a:solidFill>
          <a:ln/>
        </p:spPr>
      </p:sp>
      <p:sp>
        <p:nvSpPr>
          <p:cNvPr id="13" name="Text 11"/>
          <p:cNvSpPr/>
          <p:nvPr/>
        </p:nvSpPr>
        <p:spPr>
          <a:xfrm>
            <a:off x="274320" y="452628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4" name="Text 12"/>
          <p:cNvSpPr/>
          <p:nvPr/>
        </p:nvSpPr>
        <p:spPr>
          <a:xfrm>
            <a:off x="347472" y="498348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Sadakat</a:t>
            </a:r>
            <a:endParaRPr lang="en-US" sz="1100" dirty="0"/>
          </a:p>
        </p:txBody>
      </p:sp>
      <p:sp>
        <p:nvSpPr>
          <p:cNvPr id="15" name="Text 13"/>
          <p:cNvSpPr/>
          <p:nvPr/>
        </p:nvSpPr>
        <p:spPr>
          <a:xfrm>
            <a:off x="347472" y="539496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Dostlara, aileye ve ilkelere bağlı kalma.</a:t>
            </a:r>
            <a:endParaRPr lang="en-US" sz="800" dirty="0"/>
          </a:p>
        </p:txBody>
      </p:sp>
      <p:sp>
        <p:nvSpPr>
          <p:cNvPr id="16" name="Shape 14"/>
          <p:cNvSpPr/>
          <p:nvPr/>
        </p:nvSpPr>
        <p:spPr>
          <a:xfrm>
            <a:off x="2640330" y="4434840"/>
            <a:ext cx="2228850" cy="3474720"/>
          </a:xfrm>
          <a:prstGeom prst="roundRect">
            <a:avLst>
              <a:gd name="adj" fmla="val 3282"/>
            </a:avLst>
          </a:prstGeom>
          <a:solidFill>
            <a:srgbClr val="FCEAED"/>
          </a:solidFill>
          <a:ln/>
        </p:spPr>
      </p:sp>
      <p:sp>
        <p:nvSpPr>
          <p:cNvPr id="17" name="Text 15"/>
          <p:cNvSpPr/>
          <p:nvPr/>
        </p:nvSpPr>
        <p:spPr>
          <a:xfrm>
            <a:off x="2640330" y="452628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8" name="Text 16"/>
          <p:cNvSpPr/>
          <p:nvPr/>
        </p:nvSpPr>
        <p:spPr>
          <a:xfrm>
            <a:off x="2713482" y="498348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Cesaret</a:t>
            </a:r>
            <a:endParaRPr lang="en-US" sz="1100" dirty="0"/>
          </a:p>
        </p:txBody>
      </p:sp>
      <p:sp>
        <p:nvSpPr>
          <p:cNvPr id="19" name="Text 17"/>
          <p:cNvSpPr/>
          <p:nvPr/>
        </p:nvSpPr>
        <p:spPr>
          <a:xfrm>
            <a:off x="2713482" y="539496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Verilen sözün sonuçlarına katlanma cesareti gösterme.</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Senaryolar</a:t>
            </a:r>
            <a:endParaRPr lang="en-US" sz="1800" dirty="0"/>
          </a:p>
        </p:txBody>
      </p:sp>
      <p:sp>
        <p:nvSpPr>
          <p:cNvPr id="4" name="Shape 2"/>
          <p:cNvSpPr/>
          <p:nvPr/>
        </p:nvSpPr>
        <p:spPr>
          <a:xfrm>
            <a:off x="274320" y="822960"/>
            <a:ext cx="4594860" cy="3474720"/>
          </a:xfrm>
          <a:prstGeom prst="roundRect">
            <a:avLst>
              <a:gd name="adj" fmla="val 2105"/>
            </a:avLst>
          </a:prstGeom>
          <a:solidFill>
            <a:srgbClr val="F5F5F5"/>
          </a:solidFill>
          <a:ln/>
        </p:spPr>
      </p:sp>
      <p:sp>
        <p:nvSpPr>
          <p:cNvPr id="5" name="Text 3"/>
          <p:cNvSpPr/>
          <p:nvPr/>
        </p:nvSpPr>
        <p:spPr>
          <a:xfrm>
            <a:off x="411480" y="9144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Arkadaşa Verilen Söz</a:t>
            </a:r>
            <a:endParaRPr lang="en-US" sz="1100" dirty="0"/>
          </a:p>
        </p:txBody>
      </p:sp>
      <p:sp>
        <p:nvSpPr>
          <p:cNvPr id="6" name="Text 4"/>
          <p:cNvSpPr/>
          <p:nvPr/>
        </p:nvSpPr>
        <p:spPr>
          <a:xfrm>
            <a:off x="411480" y="12801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Arkadaşınıza cumartesi günü ders çalışmak için buluşacağınıza söz verdiniz. Cumartesi sabahı başka arkadaşlarınız sizi çok eğlenceli bir etkinliğe davet etti. Çok gitmek istiyorsunuz.</a:t>
            </a:r>
            <a:endParaRPr lang="en-US" sz="900" dirty="0"/>
          </a:p>
        </p:txBody>
      </p:sp>
      <p:sp>
        <p:nvSpPr>
          <p:cNvPr id="7" name="Shape 5"/>
          <p:cNvSpPr/>
          <p:nvPr/>
        </p:nvSpPr>
        <p:spPr>
          <a:xfrm>
            <a:off x="411480" y="2743200"/>
            <a:ext cx="4320540" cy="347472"/>
          </a:xfrm>
          <a:prstGeom prst="roundRect">
            <a:avLst>
              <a:gd name="adj" fmla="val 15789"/>
            </a:avLst>
          </a:prstGeom>
          <a:solidFill>
            <a:srgbClr val="FCEAED"/>
          </a:solidFill>
          <a:ln/>
        </p:spPr>
      </p:sp>
      <p:sp>
        <p:nvSpPr>
          <p:cNvPr id="8" name="Text 6"/>
          <p:cNvSpPr/>
          <p:nvPr/>
        </p:nvSpPr>
        <p:spPr>
          <a:xfrm>
            <a:off x="411480" y="27432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Arkadaşıma verdiğim sözü tutarım, etkinliğe gidemeyeceğimi söylerim.</a:t>
            </a:r>
            <a:endParaRPr lang="en-US" sz="800" dirty="0"/>
          </a:p>
        </p:txBody>
      </p:sp>
      <p:sp>
        <p:nvSpPr>
          <p:cNvPr id="9" name="Shape 7"/>
          <p:cNvSpPr/>
          <p:nvPr/>
        </p:nvSpPr>
        <p:spPr>
          <a:xfrm>
            <a:off x="411480" y="3154680"/>
            <a:ext cx="4320540" cy="347472"/>
          </a:xfrm>
          <a:prstGeom prst="roundRect">
            <a:avLst>
              <a:gd name="adj" fmla="val 15789"/>
            </a:avLst>
          </a:prstGeom>
          <a:solidFill>
            <a:srgbClr val="FCEAED"/>
          </a:solidFill>
          <a:ln/>
        </p:spPr>
      </p:sp>
      <p:sp>
        <p:nvSpPr>
          <p:cNvPr id="10" name="Text 8"/>
          <p:cNvSpPr/>
          <p:nvPr/>
        </p:nvSpPr>
        <p:spPr>
          <a:xfrm>
            <a:off x="411480" y="31546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Arkadaşımı arayıp durumu anlatır, buluşmamızı pazar gününe ertelemeyi teklif ...</a:t>
            </a:r>
            <a:endParaRPr lang="en-US" sz="800" dirty="0"/>
          </a:p>
        </p:txBody>
      </p:sp>
      <p:sp>
        <p:nvSpPr>
          <p:cNvPr id="11" name="Shape 9"/>
          <p:cNvSpPr/>
          <p:nvPr/>
        </p:nvSpPr>
        <p:spPr>
          <a:xfrm>
            <a:off x="411480" y="3566160"/>
            <a:ext cx="4320540" cy="347472"/>
          </a:xfrm>
          <a:prstGeom prst="roundRect">
            <a:avLst>
              <a:gd name="adj" fmla="val 15789"/>
            </a:avLst>
          </a:prstGeom>
          <a:solidFill>
            <a:srgbClr val="FCEAED"/>
          </a:solidFill>
          <a:ln/>
        </p:spPr>
      </p:sp>
      <p:sp>
        <p:nvSpPr>
          <p:cNvPr id="12" name="Text 10"/>
          <p:cNvSpPr/>
          <p:nvPr/>
        </p:nvSpPr>
        <p:spPr>
          <a:xfrm>
            <a:off x="411480" y="35661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Arkadaşıma haber vermeden etkinliğe giderim.</a:t>
            </a:r>
            <a:endParaRPr lang="en-US" sz="800" dirty="0"/>
          </a:p>
        </p:txBody>
      </p:sp>
      <p:sp>
        <p:nvSpPr>
          <p:cNvPr id="13" name="Shape 11"/>
          <p:cNvSpPr/>
          <p:nvPr/>
        </p:nvSpPr>
        <p:spPr>
          <a:xfrm>
            <a:off x="274320" y="4480560"/>
            <a:ext cx="4594860" cy="3474720"/>
          </a:xfrm>
          <a:prstGeom prst="roundRect">
            <a:avLst>
              <a:gd name="adj" fmla="val 2105"/>
            </a:avLst>
          </a:prstGeom>
          <a:solidFill>
            <a:srgbClr val="F5F5F5"/>
          </a:solidFill>
          <a:ln/>
        </p:spPr>
      </p:sp>
      <p:sp>
        <p:nvSpPr>
          <p:cNvPr id="14" name="Text 12"/>
          <p:cNvSpPr/>
          <p:nvPr/>
        </p:nvSpPr>
        <p:spPr>
          <a:xfrm>
            <a:off x="411480" y="45720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Takım Kaptanının Sorumluluğu</a:t>
            </a:r>
            <a:endParaRPr lang="en-US" sz="1100" dirty="0"/>
          </a:p>
        </p:txBody>
      </p:sp>
      <p:sp>
        <p:nvSpPr>
          <p:cNvPr id="15" name="Text 13"/>
          <p:cNvSpPr/>
          <p:nvPr/>
        </p:nvSpPr>
        <p:spPr>
          <a:xfrm>
            <a:off x="411480" y="49377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Sınıf başkanı seçildiniz ve herkesin sorunlarını dinleyeceğinize, adil olacağınıza söz verdiniz. Ancak en yakın arkadaşınız haksız bir istekte bulunuyor ve sizden torpil bekliyor.</a:t>
            </a:r>
            <a:endParaRPr lang="en-US" sz="900" dirty="0"/>
          </a:p>
        </p:txBody>
      </p:sp>
      <p:sp>
        <p:nvSpPr>
          <p:cNvPr id="16" name="Shape 14"/>
          <p:cNvSpPr/>
          <p:nvPr/>
        </p:nvSpPr>
        <p:spPr>
          <a:xfrm>
            <a:off x="411480" y="6400800"/>
            <a:ext cx="4320540" cy="347472"/>
          </a:xfrm>
          <a:prstGeom prst="roundRect">
            <a:avLst>
              <a:gd name="adj" fmla="val 15789"/>
            </a:avLst>
          </a:prstGeom>
          <a:solidFill>
            <a:srgbClr val="FCEAED"/>
          </a:solidFill>
          <a:ln/>
        </p:spPr>
      </p:sp>
      <p:sp>
        <p:nvSpPr>
          <p:cNvPr id="17" name="Text 15"/>
          <p:cNvSpPr/>
          <p:nvPr/>
        </p:nvSpPr>
        <p:spPr>
          <a:xfrm>
            <a:off x="411480" y="64008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Arkadaşıma durumu açıklar, herkese adil olmaya söz verdiğimi hatırlatırım.</a:t>
            </a:r>
            <a:endParaRPr lang="en-US" sz="800" dirty="0"/>
          </a:p>
        </p:txBody>
      </p:sp>
      <p:sp>
        <p:nvSpPr>
          <p:cNvPr id="18" name="Shape 16"/>
          <p:cNvSpPr/>
          <p:nvPr/>
        </p:nvSpPr>
        <p:spPr>
          <a:xfrm>
            <a:off x="411480" y="6812280"/>
            <a:ext cx="4320540" cy="347472"/>
          </a:xfrm>
          <a:prstGeom prst="roundRect">
            <a:avLst>
              <a:gd name="adj" fmla="val 15789"/>
            </a:avLst>
          </a:prstGeom>
          <a:solidFill>
            <a:srgbClr val="FCEAED"/>
          </a:solidFill>
          <a:ln/>
        </p:spPr>
      </p:sp>
      <p:sp>
        <p:nvSpPr>
          <p:cNvPr id="19" name="Text 17"/>
          <p:cNvSpPr/>
          <p:nvPr/>
        </p:nvSpPr>
        <p:spPr>
          <a:xfrm>
            <a:off x="411480" y="68122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Arkadaşımın isteğini yerine getiririm, sonuçta en yakın arkadaşım.</a:t>
            </a:r>
            <a:endParaRPr lang="en-US" sz="800" dirty="0"/>
          </a:p>
        </p:txBody>
      </p:sp>
      <p:sp>
        <p:nvSpPr>
          <p:cNvPr id="20" name="Shape 18"/>
          <p:cNvSpPr/>
          <p:nvPr/>
        </p:nvSpPr>
        <p:spPr>
          <a:xfrm>
            <a:off x="411480" y="7223760"/>
            <a:ext cx="4320540" cy="347472"/>
          </a:xfrm>
          <a:prstGeom prst="roundRect">
            <a:avLst>
              <a:gd name="adj" fmla="val 15789"/>
            </a:avLst>
          </a:prstGeom>
          <a:solidFill>
            <a:srgbClr val="FCEAED"/>
          </a:solidFill>
          <a:ln/>
        </p:spPr>
      </p:sp>
      <p:sp>
        <p:nvSpPr>
          <p:cNvPr id="21" name="Text 19"/>
          <p:cNvSpPr/>
          <p:nvPr/>
        </p:nvSpPr>
        <p:spPr>
          <a:xfrm>
            <a:off x="411480" y="72237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Sınıf başkanlığından istifa ederim, bu kadar zor olmasını beklemiyordum.</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Senaryolar</a:t>
            </a:r>
            <a:endParaRPr lang="en-US" sz="1800" dirty="0"/>
          </a:p>
        </p:txBody>
      </p:sp>
      <p:sp>
        <p:nvSpPr>
          <p:cNvPr id="4" name="Shape 2"/>
          <p:cNvSpPr/>
          <p:nvPr/>
        </p:nvSpPr>
        <p:spPr>
          <a:xfrm>
            <a:off x="274320" y="822960"/>
            <a:ext cx="4594860" cy="3474720"/>
          </a:xfrm>
          <a:prstGeom prst="roundRect">
            <a:avLst>
              <a:gd name="adj" fmla="val 2105"/>
            </a:avLst>
          </a:prstGeom>
          <a:solidFill>
            <a:srgbClr val="F5F5F5"/>
          </a:solidFill>
          <a:ln/>
        </p:spPr>
      </p:sp>
      <p:sp>
        <p:nvSpPr>
          <p:cNvPr id="5" name="Text 3"/>
          <p:cNvSpPr/>
          <p:nvPr/>
        </p:nvSpPr>
        <p:spPr>
          <a:xfrm>
            <a:off x="411480" y="9144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Sır Tutma Sözü</a:t>
            </a:r>
            <a:endParaRPr lang="en-US" sz="1100" dirty="0"/>
          </a:p>
        </p:txBody>
      </p:sp>
      <p:sp>
        <p:nvSpPr>
          <p:cNvPr id="6" name="Text 4"/>
          <p:cNvSpPr/>
          <p:nvPr/>
        </p:nvSpPr>
        <p:spPr>
          <a:xfrm>
            <a:off x="411480" y="12801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Arkadaşınız size çok özel bir sırrını anlattı ve kimseye söylememenizi istedi. Başka bir arkadaşınız size 'O sana ne söyledi? Merak ediyorum' diye soruyor ve çok ısrar ediyor.</a:t>
            </a:r>
            <a:endParaRPr lang="en-US" sz="900" dirty="0"/>
          </a:p>
        </p:txBody>
      </p:sp>
      <p:sp>
        <p:nvSpPr>
          <p:cNvPr id="7" name="Shape 5"/>
          <p:cNvSpPr/>
          <p:nvPr/>
        </p:nvSpPr>
        <p:spPr>
          <a:xfrm>
            <a:off x="411480" y="2743200"/>
            <a:ext cx="4320540" cy="347472"/>
          </a:xfrm>
          <a:prstGeom prst="roundRect">
            <a:avLst>
              <a:gd name="adj" fmla="val 15789"/>
            </a:avLst>
          </a:prstGeom>
          <a:solidFill>
            <a:srgbClr val="FCEAED"/>
          </a:solidFill>
          <a:ln/>
        </p:spPr>
      </p:sp>
      <p:sp>
        <p:nvSpPr>
          <p:cNvPr id="8" name="Text 6"/>
          <p:cNvSpPr/>
          <p:nvPr/>
        </p:nvSpPr>
        <p:spPr>
          <a:xfrm>
            <a:off x="411480" y="27432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Arkadaşıma verdiğim sözü tutar, hiçbir şey söylemem.</a:t>
            </a:r>
            <a:endParaRPr lang="en-US" sz="800" dirty="0"/>
          </a:p>
        </p:txBody>
      </p:sp>
      <p:sp>
        <p:nvSpPr>
          <p:cNvPr id="9" name="Shape 7"/>
          <p:cNvSpPr/>
          <p:nvPr/>
        </p:nvSpPr>
        <p:spPr>
          <a:xfrm>
            <a:off x="411480" y="3154680"/>
            <a:ext cx="4320540" cy="347472"/>
          </a:xfrm>
          <a:prstGeom prst="roundRect">
            <a:avLst>
              <a:gd name="adj" fmla="val 15789"/>
            </a:avLst>
          </a:prstGeom>
          <a:solidFill>
            <a:srgbClr val="FCEAED"/>
          </a:solidFill>
          <a:ln/>
        </p:spPr>
      </p:sp>
      <p:sp>
        <p:nvSpPr>
          <p:cNvPr id="10" name="Text 8"/>
          <p:cNvSpPr/>
          <p:nvPr/>
        </p:nvSpPr>
        <p:spPr>
          <a:xfrm>
            <a:off x="411480" y="31546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Sadece bir kısmını söylerim, tam detay vermem.</a:t>
            </a:r>
            <a:endParaRPr lang="en-US" sz="800" dirty="0"/>
          </a:p>
        </p:txBody>
      </p:sp>
      <p:sp>
        <p:nvSpPr>
          <p:cNvPr id="11" name="Shape 9"/>
          <p:cNvSpPr/>
          <p:nvPr/>
        </p:nvSpPr>
        <p:spPr>
          <a:xfrm>
            <a:off x="411480" y="3566160"/>
            <a:ext cx="4320540" cy="347472"/>
          </a:xfrm>
          <a:prstGeom prst="roundRect">
            <a:avLst>
              <a:gd name="adj" fmla="val 15789"/>
            </a:avLst>
          </a:prstGeom>
          <a:solidFill>
            <a:srgbClr val="FCEAED"/>
          </a:solidFill>
          <a:ln/>
        </p:spPr>
      </p:sp>
      <p:sp>
        <p:nvSpPr>
          <p:cNvPr id="12" name="Text 10"/>
          <p:cNvSpPr/>
          <p:nvPr/>
        </p:nvSpPr>
        <p:spPr>
          <a:xfrm>
            <a:off x="411480" y="35661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Sırrı söylerim, nasılsa duyacaktı.</a:t>
            </a:r>
            <a:endParaRPr lang="en-US" sz="800" dirty="0"/>
          </a:p>
        </p:txBody>
      </p:sp>
      <p:sp>
        <p:nvSpPr>
          <p:cNvPr id="13" name="Shape 11"/>
          <p:cNvSpPr/>
          <p:nvPr/>
        </p:nvSpPr>
        <p:spPr>
          <a:xfrm>
            <a:off x="274320" y="4480560"/>
            <a:ext cx="4594860" cy="3474720"/>
          </a:xfrm>
          <a:prstGeom prst="roundRect">
            <a:avLst>
              <a:gd name="adj" fmla="val 2105"/>
            </a:avLst>
          </a:prstGeom>
          <a:solidFill>
            <a:srgbClr val="F5F5F5"/>
          </a:solidFill>
          <a:ln/>
        </p:spPr>
      </p:sp>
      <p:sp>
        <p:nvSpPr>
          <p:cNvPr id="14" name="Text 12"/>
          <p:cNvSpPr/>
          <p:nvPr/>
        </p:nvSpPr>
        <p:spPr>
          <a:xfrm>
            <a:off x="411480" y="45720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Proje Teslim Tarihi</a:t>
            </a:r>
            <a:endParaRPr lang="en-US" sz="1100" dirty="0"/>
          </a:p>
        </p:txBody>
      </p:sp>
      <p:sp>
        <p:nvSpPr>
          <p:cNvPr id="15" name="Text 13"/>
          <p:cNvSpPr/>
          <p:nvPr/>
        </p:nvSpPr>
        <p:spPr>
          <a:xfrm>
            <a:off x="411480" y="49377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Grup projesinde kendi bölümünüzü cuma gününe kadar tamamlayacağınıza söz verdiniz. Çarşamba günü henüz başlamamış olduğunuzu fark ediyorsunuz. Grup arkadaşlarınız size güveniyor.</a:t>
            </a:r>
            <a:endParaRPr lang="en-US" sz="900" dirty="0"/>
          </a:p>
        </p:txBody>
      </p:sp>
      <p:sp>
        <p:nvSpPr>
          <p:cNvPr id="16" name="Shape 14"/>
          <p:cNvSpPr/>
          <p:nvPr/>
        </p:nvSpPr>
        <p:spPr>
          <a:xfrm>
            <a:off x="411480" y="6400800"/>
            <a:ext cx="4320540" cy="347472"/>
          </a:xfrm>
          <a:prstGeom prst="roundRect">
            <a:avLst>
              <a:gd name="adj" fmla="val 15789"/>
            </a:avLst>
          </a:prstGeom>
          <a:solidFill>
            <a:srgbClr val="FCEAED"/>
          </a:solidFill>
          <a:ln/>
        </p:spPr>
      </p:sp>
      <p:sp>
        <p:nvSpPr>
          <p:cNvPr id="17" name="Text 15"/>
          <p:cNvSpPr/>
          <p:nvPr/>
        </p:nvSpPr>
        <p:spPr>
          <a:xfrm>
            <a:off x="411480" y="64008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Hemen çalışmaya başlar, gerekirse gece geç saatlere kadar çalışarak sözümü tu...</a:t>
            </a:r>
            <a:endParaRPr lang="en-US" sz="800" dirty="0"/>
          </a:p>
        </p:txBody>
      </p:sp>
      <p:sp>
        <p:nvSpPr>
          <p:cNvPr id="18" name="Shape 16"/>
          <p:cNvSpPr/>
          <p:nvPr/>
        </p:nvSpPr>
        <p:spPr>
          <a:xfrm>
            <a:off x="411480" y="6812280"/>
            <a:ext cx="4320540" cy="347472"/>
          </a:xfrm>
          <a:prstGeom prst="roundRect">
            <a:avLst>
              <a:gd name="adj" fmla="val 15789"/>
            </a:avLst>
          </a:prstGeom>
          <a:solidFill>
            <a:srgbClr val="FCEAED"/>
          </a:solidFill>
          <a:ln/>
        </p:spPr>
      </p:sp>
      <p:sp>
        <p:nvSpPr>
          <p:cNvPr id="19" name="Text 17"/>
          <p:cNvSpPr/>
          <p:nvPr/>
        </p:nvSpPr>
        <p:spPr>
          <a:xfrm>
            <a:off x="411480" y="68122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Grup arkadaşlarıma dürüstçe durumu anlatır, bir gün ek süre isterim.</a:t>
            </a:r>
            <a:endParaRPr lang="en-US" sz="800" dirty="0"/>
          </a:p>
        </p:txBody>
      </p:sp>
      <p:sp>
        <p:nvSpPr>
          <p:cNvPr id="20" name="Shape 18"/>
          <p:cNvSpPr/>
          <p:nvPr/>
        </p:nvSpPr>
        <p:spPr>
          <a:xfrm>
            <a:off x="411480" y="7223760"/>
            <a:ext cx="4320540" cy="347472"/>
          </a:xfrm>
          <a:prstGeom prst="roundRect">
            <a:avLst>
              <a:gd name="adj" fmla="val 15789"/>
            </a:avLst>
          </a:prstGeom>
          <a:solidFill>
            <a:srgbClr val="FCEAED"/>
          </a:solidFill>
          <a:ln/>
        </p:spPr>
      </p:sp>
      <p:sp>
        <p:nvSpPr>
          <p:cNvPr id="21" name="Text 19"/>
          <p:cNvSpPr/>
          <p:nvPr/>
        </p:nvSpPr>
        <p:spPr>
          <a:xfrm>
            <a:off x="411480" y="72237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Son gün bir bahane uydururum, nasılsa hallederiz.</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182880"/>
            <a:ext cx="5143500" cy="54864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Quiz</a:t>
            </a:r>
            <a:endParaRPr lang="en-US" sz="2000" dirty="0"/>
          </a:p>
        </p:txBody>
      </p:sp>
      <p:sp>
        <p:nvSpPr>
          <p:cNvPr id="5" name="Shape 3"/>
          <p:cNvSpPr/>
          <p:nvPr/>
        </p:nvSpPr>
        <p:spPr>
          <a:xfrm>
            <a:off x="274320" y="914400"/>
            <a:ext cx="4594860" cy="2377440"/>
          </a:xfrm>
          <a:prstGeom prst="roundRect">
            <a:avLst>
              <a:gd name="adj" fmla="val 3077"/>
            </a:avLst>
          </a:prstGeom>
          <a:solidFill>
            <a:srgbClr val="FFFFFF">
              <a:alpha val="90000"/>
            </a:srgbClr>
          </a:solidFill>
          <a:ln/>
        </p:spPr>
      </p:sp>
      <p:sp>
        <p:nvSpPr>
          <p:cNvPr id="6" name="Text 4"/>
          <p:cNvSpPr/>
          <p:nvPr/>
        </p:nvSpPr>
        <p:spPr>
          <a:xfrm>
            <a:off x="365760" y="1005840"/>
            <a:ext cx="4411980" cy="640080"/>
          </a:xfrm>
          <a:prstGeom prst="rect">
            <a:avLst/>
          </a:prstGeom>
          <a:noFill/>
          <a:ln/>
        </p:spPr>
        <p:txBody>
          <a:bodyPr wrap="square" rtlCol="0" anchor="t"/>
          <a:lstStyle/>
          <a:p>
            <a:pPr algn="l" indent="0" marL="0">
              <a:buNone/>
            </a:pPr>
            <a:r>
              <a:rPr lang="en-US" sz="900" b="1" dirty="0">
                <a:solidFill>
                  <a:srgbClr val="8B0000"/>
                </a:solidFill>
                <a:latin typeface="Calibri" pitchFamily="34" charset="0"/>
                <a:ea typeface="Calibri" pitchFamily="34" charset="-122"/>
                <a:cs typeface="Calibri" pitchFamily="34" charset="-120"/>
              </a:rPr>
              <a:t>Birinci Akabe Bî'atı'na kaç Medîneli Müslüman katılmıştır?</a:t>
            </a:r>
            <a:endParaRPr lang="en-US" sz="900" dirty="0"/>
          </a:p>
        </p:txBody>
      </p:sp>
      <p:sp>
        <p:nvSpPr>
          <p:cNvPr id="7" name="Text 5"/>
          <p:cNvSpPr/>
          <p:nvPr/>
        </p:nvSpPr>
        <p:spPr>
          <a:xfrm>
            <a:off x="365760" y="1645920"/>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A) 6 kişi</a:t>
            </a:r>
            <a:endParaRPr lang="en-US" sz="800" dirty="0"/>
          </a:p>
        </p:txBody>
      </p:sp>
      <p:sp>
        <p:nvSpPr>
          <p:cNvPr id="8" name="Text 6"/>
          <p:cNvSpPr/>
          <p:nvPr/>
        </p:nvSpPr>
        <p:spPr>
          <a:xfrm>
            <a:off x="365760" y="2029968"/>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B) 12 kişi</a:t>
            </a:r>
            <a:endParaRPr lang="en-US" sz="800" dirty="0"/>
          </a:p>
        </p:txBody>
      </p:sp>
      <p:sp>
        <p:nvSpPr>
          <p:cNvPr id="9" name="Text 7"/>
          <p:cNvSpPr/>
          <p:nvPr/>
        </p:nvSpPr>
        <p:spPr>
          <a:xfrm>
            <a:off x="365760" y="2414016"/>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C) 40 kişi</a:t>
            </a:r>
            <a:endParaRPr lang="en-US" sz="800" dirty="0"/>
          </a:p>
        </p:txBody>
      </p:sp>
      <p:sp>
        <p:nvSpPr>
          <p:cNvPr id="10" name="Text 8"/>
          <p:cNvSpPr/>
          <p:nvPr/>
        </p:nvSpPr>
        <p:spPr>
          <a:xfrm>
            <a:off x="365760" y="2798064"/>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D) 73 kişi</a:t>
            </a:r>
            <a:endParaRPr lang="en-US" sz="800" dirty="0"/>
          </a:p>
        </p:txBody>
      </p:sp>
      <p:sp>
        <p:nvSpPr>
          <p:cNvPr id="11" name="Shape 9"/>
          <p:cNvSpPr/>
          <p:nvPr/>
        </p:nvSpPr>
        <p:spPr>
          <a:xfrm>
            <a:off x="274320" y="3429000"/>
            <a:ext cx="4594860" cy="2377440"/>
          </a:xfrm>
          <a:prstGeom prst="roundRect">
            <a:avLst>
              <a:gd name="adj" fmla="val 3077"/>
            </a:avLst>
          </a:prstGeom>
          <a:solidFill>
            <a:srgbClr val="FFFFFF">
              <a:alpha val="90000"/>
            </a:srgbClr>
          </a:solidFill>
          <a:ln/>
        </p:spPr>
      </p:sp>
      <p:sp>
        <p:nvSpPr>
          <p:cNvPr id="12" name="Text 10"/>
          <p:cNvSpPr/>
          <p:nvPr/>
        </p:nvSpPr>
        <p:spPr>
          <a:xfrm>
            <a:off x="365760" y="3520440"/>
            <a:ext cx="4411980" cy="640080"/>
          </a:xfrm>
          <a:prstGeom prst="rect">
            <a:avLst/>
          </a:prstGeom>
          <a:noFill/>
          <a:ln/>
        </p:spPr>
        <p:txBody>
          <a:bodyPr wrap="square" rtlCol="0" anchor="t"/>
          <a:lstStyle/>
          <a:p>
            <a:pPr algn="l" indent="0" marL="0">
              <a:buNone/>
            </a:pPr>
            <a:r>
              <a:rPr lang="en-US" sz="900" b="1" dirty="0">
                <a:solidFill>
                  <a:srgbClr val="8B0000"/>
                </a:solidFill>
                <a:latin typeface="Calibri" pitchFamily="34" charset="0"/>
                <a:ea typeface="Calibri" pitchFamily="34" charset="-122"/>
                <a:cs typeface="Calibri" pitchFamily="34" charset="-120"/>
              </a:rPr>
              <a:t>Bîat ne demektir?</a:t>
            </a:r>
            <a:endParaRPr lang="en-US" sz="900" dirty="0"/>
          </a:p>
        </p:txBody>
      </p:sp>
      <p:sp>
        <p:nvSpPr>
          <p:cNvPr id="13" name="Text 11"/>
          <p:cNvSpPr/>
          <p:nvPr/>
        </p:nvSpPr>
        <p:spPr>
          <a:xfrm>
            <a:off x="365760" y="4160520"/>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A) Savaş ilanı</a:t>
            </a:r>
            <a:endParaRPr lang="en-US" sz="800" dirty="0"/>
          </a:p>
        </p:txBody>
      </p:sp>
      <p:sp>
        <p:nvSpPr>
          <p:cNvPr id="14" name="Text 12"/>
          <p:cNvSpPr/>
          <p:nvPr/>
        </p:nvSpPr>
        <p:spPr>
          <a:xfrm>
            <a:off x="365760" y="4544568"/>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B) Bir lidere bağlılık sözü verme</a:t>
            </a:r>
            <a:endParaRPr lang="en-US" sz="800" dirty="0"/>
          </a:p>
        </p:txBody>
      </p:sp>
      <p:sp>
        <p:nvSpPr>
          <p:cNvPr id="15" name="Text 13"/>
          <p:cNvSpPr/>
          <p:nvPr/>
        </p:nvSpPr>
        <p:spPr>
          <a:xfrm>
            <a:off x="365760" y="4928616"/>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C) Ticaret anlaşması</a:t>
            </a:r>
            <a:endParaRPr lang="en-US" sz="800" dirty="0"/>
          </a:p>
        </p:txBody>
      </p:sp>
      <p:sp>
        <p:nvSpPr>
          <p:cNvPr id="16" name="Text 14"/>
          <p:cNvSpPr/>
          <p:nvPr/>
        </p:nvSpPr>
        <p:spPr>
          <a:xfrm>
            <a:off x="365760" y="5312664"/>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D) Barış antlaşması</a:t>
            </a:r>
            <a:endParaRPr lang="en-US" sz="800" dirty="0"/>
          </a:p>
        </p:txBody>
      </p:sp>
      <p:sp>
        <p:nvSpPr>
          <p:cNvPr id="17" name="Shape 15"/>
          <p:cNvSpPr/>
          <p:nvPr/>
        </p:nvSpPr>
        <p:spPr>
          <a:xfrm>
            <a:off x="274320" y="5943600"/>
            <a:ext cx="4594860" cy="2377440"/>
          </a:xfrm>
          <a:prstGeom prst="roundRect">
            <a:avLst>
              <a:gd name="adj" fmla="val 3077"/>
            </a:avLst>
          </a:prstGeom>
          <a:solidFill>
            <a:srgbClr val="FFFFFF">
              <a:alpha val="90000"/>
            </a:srgbClr>
          </a:solidFill>
          <a:ln/>
        </p:spPr>
      </p:sp>
      <p:sp>
        <p:nvSpPr>
          <p:cNvPr id="18" name="Text 16"/>
          <p:cNvSpPr/>
          <p:nvPr/>
        </p:nvSpPr>
        <p:spPr>
          <a:xfrm>
            <a:off x="365760" y="6035040"/>
            <a:ext cx="4411980" cy="640080"/>
          </a:xfrm>
          <a:prstGeom prst="rect">
            <a:avLst/>
          </a:prstGeom>
          <a:noFill/>
          <a:ln/>
        </p:spPr>
        <p:txBody>
          <a:bodyPr wrap="square" rtlCol="0" anchor="t"/>
          <a:lstStyle/>
          <a:p>
            <a:pPr algn="l" indent="0" marL="0">
              <a:buNone/>
            </a:pPr>
            <a:r>
              <a:rPr lang="en-US" sz="900" b="1" dirty="0">
                <a:solidFill>
                  <a:srgbClr val="8B0000"/>
                </a:solidFill>
                <a:latin typeface="Calibri" pitchFamily="34" charset="0"/>
                <a:ea typeface="Calibri" pitchFamily="34" charset="-122"/>
                <a:cs typeface="Calibri" pitchFamily="34" charset="-120"/>
              </a:rPr>
              <a:t>Aşağıdakilerden hangisi güvenilir bir insanın özelliği değildir?</a:t>
            </a:r>
            <a:endParaRPr lang="en-US" sz="900" dirty="0"/>
          </a:p>
        </p:txBody>
      </p:sp>
      <p:sp>
        <p:nvSpPr>
          <p:cNvPr id="19" name="Text 17"/>
          <p:cNvSpPr/>
          <p:nvPr/>
        </p:nvSpPr>
        <p:spPr>
          <a:xfrm>
            <a:off x="365760" y="6675120"/>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A) Sözünde durmak</a:t>
            </a:r>
            <a:endParaRPr lang="en-US" sz="800" dirty="0"/>
          </a:p>
        </p:txBody>
      </p:sp>
      <p:sp>
        <p:nvSpPr>
          <p:cNvPr id="20" name="Text 18"/>
          <p:cNvSpPr/>
          <p:nvPr/>
        </p:nvSpPr>
        <p:spPr>
          <a:xfrm>
            <a:off x="365760" y="7059168"/>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B) Dürüst olmak</a:t>
            </a:r>
            <a:endParaRPr lang="en-US" sz="800" dirty="0"/>
          </a:p>
        </p:txBody>
      </p:sp>
      <p:sp>
        <p:nvSpPr>
          <p:cNvPr id="21" name="Text 19"/>
          <p:cNvSpPr/>
          <p:nvPr/>
        </p:nvSpPr>
        <p:spPr>
          <a:xfrm>
            <a:off x="365760" y="7443216"/>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C) Sık sık söz verip tutmamak</a:t>
            </a:r>
            <a:endParaRPr lang="en-US" sz="800" dirty="0"/>
          </a:p>
        </p:txBody>
      </p:sp>
      <p:sp>
        <p:nvSpPr>
          <p:cNvPr id="22" name="Text 20"/>
          <p:cNvSpPr/>
          <p:nvPr/>
        </p:nvSpPr>
        <p:spPr>
          <a:xfrm>
            <a:off x="365760" y="7827264"/>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D) Sorumluluk almak</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1371600"/>
            <a:ext cx="5143500" cy="548640"/>
          </a:xfrm>
          <a:prstGeom prst="rect">
            <a:avLst/>
          </a:prstGeom>
          <a:noFill/>
          <a:ln/>
        </p:spPr>
        <p:txBody>
          <a:bodyPr wrap="square" rtlCol="0" anchor="ctr"/>
          <a:lstStyle/>
          <a:p>
            <a:pPr algn="ctr" indent="0" marL="0">
              <a:buNone/>
            </a:pPr>
            <a:r>
              <a:rPr lang="en-US" sz="2000" dirty="0">
                <a:solidFill>
                  <a:srgbClr val="FCEAED"/>
                </a:solidFill>
              </a:rPr>
              <a:t>✦</a:t>
            </a:r>
            <a:endParaRPr lang="en-US" sz="2000" dirty="0"/>
          </a:p>
        </p:txBody>
      </p:sp>
      <p:sp>
        <p:nvSpPr>
          <p:cNvPr id="5" name="Text 3"/>
          <p:cNvSpPr/>
          <p:nvPr/>
        </p:nvSpPr>
        <p:spPr>
          <a:xfrm>
            <a:off x="365760" y="2286000"/>
            <a:ext cx="4411980" cy="3657600"/>
          </a:xfrm>
          <a:prstGeom prst="rect">
            <a:avLst/>
          </a:prstGeom>
          <a:noFill/>
          <a:ln/>
        </p:spPr>
        <p:txBody>
          <a:bodyPr wrap="square" rtlCol="0" anchor="ctr"/>
          <a:lstStyle/>
          <a:p>
            <a:pPr algn="ctr" indent="0" marL="0">
              <a:buNone/>
            </a:pPr>
            <a:r>
              <a:rPr lang="en-US" sz="1500" i="1" dirty="0">
                <a:solidFill>
                  <a:srgbClr val="FFFFFF"/>
                </a:solidFill>
                <a:latin typeface="Calibri" pitchFamily="34" charset="0"/>
                <a:ea typeface="Calibri" pitchFamily="34" charset="-122"/>
                <a:cs typeface="Calibri" pitchFamily="34" charset="-120"/>
              </a:rPr>
              <a:t>Sözleşme yaptığınız zaman Allah'ın ahdini yerine getirin. Allah'ı kendinize kefil kılarak pekiştirdikten sonra yeminlerinizi bozmayın.</a:t>
            </a:r>
            <a:endParaRPr lang="en-US" sz="1500" dirty="0"/>
          </a:p>
        </p:txBody>
      </p:sp>
      <p:sp>
        <p:nvSpPr>
          <p:cNvPr id="6" name="Text 4"/>
          <p:cNvSpPr/>
          <p:nvPr/>
        </p:nvSpPr>
        <p:spPr>
          <a:xfrm>
            <a:off x="365760" y="6217920"/>
            <a:ext cx="4411980" cy="457200"/>
          </a:xfrm>
          <a:prstGeom prst="rect">
            <a:avLst/>
          </a:prstGeom>
          <a:noFill/>
          <a:ln/>
        </p:spPr>
        <p:txBody>
          <a:bodyPr wrap="square" rtlCol="0" anchor="ctr"/>
          <a:lstStyle/>
          <a:p>
            <a:pPr algn="ctr" indent="0" marL="0">
              <a:buNone/>
            </a:pPr>
            <a:r>
              <a:rPr lang="en-US" sz="1000" dirty="0">
                <a:solidFill>
                  <a:srgbClr val="FCEAED"/>
                </a:solidFill>
                <a:latin typeface="Calibri" pitchFamily="34" charset="0"/>
                <a:ea typeface="Calibri" pitchFamily="34" charset="-122"/>
                <a:cs typeface="Calibri" pitchFamily="34" charset="-120"/>
              </a:rPr>
              <a:t>Nahl Sûresi, 91</a:t>
            </a:r>
            <a:endParaRPr lang="en-US" sz="1000" dirty="0"/>
          </a:p>
        </p:txBody>
      </p:sp>
      <p:sp>
        <p:nvSpPr>
          <p:cNvPr id="7" name="Text 5"/>
          <p:cNvSpPr/>
          <p:nvPr/>
        </p:nvSpPr>
        <p:spPr>
          <a:xfrm>
            <a:off x="0" y="6858000"/>
            <a:ext cx="5143500" cy="548640"/>
          </a:xfrm>
          <a:prstGeom prst="rect">
            <a:avLst/>
          </a:prstGeom>
          <a:noFill/>
          <a:ln/>
        </p:spPr>
        <p:txBody>
          <a:bodyPr wrap="square" rtlCol="0" anchor="ctr"/>
          <a:lstStyle/>
          <a:p>
            <a:pPr algn="ctr" indent="0" marL="0">
              <a:buNone/>
            </a:pPr>
            <a:r>
              <a:rPr lang="en-US" sz="2000" dirty="0">
                <a:solidFill>
                  <a:srgbClr val="FCEAED"/>
                </a:solidFill>
              </a:rPr>
              <a:t>✦</a:t>
            </a:r>
            <a:endParaRPr 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Duesuenelim</a:t>
            </a:r>
            <a:endParaRPr lang="en-US" sz="1800" dirty="0"/>
          </a:p>
        </p:txBody>
      </p:sp>
      <p:sp>
        <p:nvSpPr>
          <p:cNvPr id="4" name="Shape 2"/>
          <p:cNvSpPr/>
          <p:nvPr/>
        </p:nvSpPr>
        <p:spPr>
          <a:xfrm>
            <a:off x="274320" y="822960"/>
            <a:ext cx="4594860" cy="2194560"/>
          </a:xfrm>
          <a:prstGeom prst="roundRect">
            <a:avLst>
              <a:gd name="adj" fmla="val 3333"/>
            </a:avLst>
          </a:prstGeom>
          <a:solidFill>
            <a:srgbClr val="FCEAED"/>
          </a:solidFill>
          <a:ln/>
        </p:spPr>
      </p:sp>
      <p:sp>
        <p:nvSpPr>
          <p:cNvPr id="5" name="Text 3"/>
          <p:cNvSpPr/>
          <p:nvPr/>
        </p:nvSpPr>
        <p:spPr>
          <a:xfrm>
            <a:off x="411480" y="960120"/>
            <a:ext cx="365760" cy="320040"/>
          </a:xfrm>
          <a:prstGeom prst="rect">
            <a:avLst/>
          </a:prstGeom>
          <a:noFill/>
          <a:ln/>
        </p:spPr>
        <p:txBody>
          <a:bodyPr wrap="square" rtlCol="0" anchor="ctr"/>
          <a:lstStyle/>
          <a:p>
            <a:pPr indent="0" marL="0">
              <a:buNone/>
            </a:pPr>
            <a:r>
              <a:rPr lang="en-US" sz="1400" b="1" dirty="0">
                <a:solidFill>
                  <a:srgbClr val="C8102E"/>
                </a:solidFill>
                <a:latin typeface="Calibri" pitchFamily="34" charset="0"/>
                <a:ea typeface="Calibri" pitchFamily="34" charset="-122"/>
                <a:cs typeface="Calibri" pitchFamily="34" charset="-120"/>
              </a:rPr>
              <a:t>1.</a:t>
            </a:r>
            <a:endParaRPr lang="en-US" sz="1400" dirty="0"/>
          </a:p>
        </p:txBody>
      </p:sp>
      <p:sp>
        <p:nvSpPr>
          <p:cNvPr id="6" name="Text 4"/>
          <p:cNvSpPr/>
          <p:nvPr/>
        </p:nvSpPr>
        <p:spPr>
          <a:xfrm>
            <a:off x="731520" y="960120"/>
            <a:ext cx="3954780" cy="1920240"/>
          </a:xfrm>
          <a:prstGeom prst="rect">
            <a:avLst/>
          </a:prstGeom>
          <a:noFill/>
          <a:ln/>
        </p:spPr>
        <p:txBody>
          <a:bodyPr wrap="square" rtlCol="0" anchor="ctr"/>
          <a:lstStyle/>
          <a:p>
            <a:pPr algn="l" indent="0" marL="0">
              <a:buNone/>
            </a:pPr>
            <a:r>
              <a:rPr lang="en-US" sz="1100" dirty="0">
                <a:solidFill>
                  <a:srgbClr val="222222"/>
                </a:solidFill>
                <a:latin typeface="Calibri" pitchFamily="34" charset="0"/>
                <a:ea typeface="Calibri" pitchFamily="34" charset="-122"/>
                <a:cs typeface="Calibri" pitchFamily="34" charset="-120"/>
              </a:rPr>
              <a:t>Verdiğin bir sözü tutamadığın bir zaman oldu mu? O zaman ne hissettin?</a:t>
            </a:r>
            <a:endParaRPr lang="en-US" sz="1100" dirty="0"/>
          </a:p>
        </p:txBody>
      </p:sp>
      <p:sp>
        <p:nvSpPr>
          <p:cNvPr id="7" name="Shape 5"/>
          <p:cNvSpPr/>
          <p:nvPr/>
        </p:nvSpPr>
        <p:spPr>
          <a:xfrm>
            <a:off x="274320" y="3200400"/>
            <a:ext cx="4594860" cy="2194560"/>
          </a:xfrm>
          <a:prstGeom prst="roundRect">
            <a:avLst>
              <a:gd name="adj" fmla="val 3333"/>
            </a:avLst>
          </a:prstGeom>
          <a:solidFill>
            <a:srgbClr val="FCEAED"/>
          </a:solidFill>
          <a:ln/>
        </p:spPr>
      </p:sp>
      <p:sp>
        <p:nvSpPr>
          <p:cNvPr id="8" name="Text 6"/>
          <p:cNvSpPr/>
          <p:nvPr/>
        </p:nvSpPr>
        <p:spPr>
          <a:xfrm>
            <a:off x="411480" y="3337560"/>
            <a:ext cx="365760" cy="320040"/>
          </a:xfrm>
          <a:prstGeom prst="rect">
            <a:avLst/>
          </a:prstGeom>
          <a:noFill/>
          <a:ln/>
        </p:spPr>
        <p:txBody>
          <a:bodyPr wrap="square" rtlCol="0" anchor="ctr"/>
          <a:lstStyle/>
          <a:p>
            <a:pPr indent="0" marL="0">
              <a:buNone/>
            </a:pPr>
            <a:r>
              <a:rPr lang="en-US" sz="1400" b="1" dirty="0">
                <a:solidFill>
                  <a:srgbClr val="C8102E"/>
                </a:solidFill>
                <a:latin typeface="Calibri" pitchFamily="34" charset="0"/>
                <a:ea typeface="Calibri" pitchFamily="34" charset="-122"/>
                <a:cs typeface="Calibri" pitchFamily="34" charset="-120"/>
              </a:rPr>
              <a:t>2.</a:t>
            </a:r>
            <a:endParaRPr lang="en-US" sz="1400" dirty="0"/>
          </a:p>
        </p:txBody>
      </p:sp>
      <p:sp>
        <p:nvSpPr>
          <p:cNvPr id="9" name="Text 7"/>
          <p:cNvSpPr/>
          <p:nvPr/>
        </p:nvSpPr>
        <p:spPr>
          <a:xfrm>
            <a:off x="731520" y="3337560"/>
            <a:ext cx="3954780" cy="1920240"/>
          </a:xfrm>
          <a:prstGeom prst="rect">
            <a:avLst/>
          </a:prstGeom>
          <a:noFill/>
          <a:ln/>
        </p:spPr>
        <p:txBody>
          <a:bodyPr wrap="square" rtlCol="0" anchor="ctr"/>
          <a:lstStyle/>
          <a:p>
            <a:pPr algn="l" indent="0" marL="0">
              <a:buNone/>
            </a:pPr>
            <a:r>
              <a:rPr lang="en-US" sz="1100" dirty="0">
                <a:solidFill>
                  <a:srgbClr val="222222"/>
                </a:solidFill>
                <a:latin typeface="Calibri" pitchFamily="34" charset="0"/>
                <a:ea typeface="Calibri" pitchFamily="34" charset="-122"/>
                <a:cs typeface="Calibri" pitchFamily="34" charset="-120"/>
              </a:rPr>
              <a:t>Sana söz verip sözünü tutmayan birini hatırlıyor musun? Bu seni nasıl etkiledi?</a:t>
            </a:r>
            <a:endParaRPr lang="en-US" sz="1100" dirty="0"/>
          </a:p>
        </p:txBody>
      </p:sp>
      <p:sp>
        <p:nvSpPr>
          <p:cNvPr id="10" name="Shape 8"/>
          <p:cNvSpPr/>
          <p:nvPr/>
        </p:nvSpPr>
        <p:spPr>
          <a:xfrm>
            <a:off x="274320" y="5577840"/>
            <a:ext cx="4594860" cy="2194560"/>
          </a:xfrm>
          <a:prstGeom prst="roundRect">
            <a:avLst>
              <a:gd name="adj" fmla="val 3333"/>
            </a:avLst>
          </a:prstGeom>
          <a:solidFill>
            <a:srgbClr val="FCEAED"/>
          </a:solidFill>
          <a:ln/>
        </p:spPr>
      </p:sp>
      <p:sp>
        <p:nvSpPr>
          <p:cNvPr id="11" name="Text 9"/>
          <p:cNvSpPr/>
          <p:nvPr/>
        </p:nvSpPr>
        <p:spPr>
          <a:xfrm>
            <a:off x="411480" y="5715000"/>
            <a:ext cx="365760" cy="320040"/>
          </a:xfrm>
          <a:prstGeom prst="rect">
            <a:avLst/>
          </a:prstGeom>
          <a:noFill/>
          <a:ln/>
        </p:spPr>
        <p:txBody>
          <a:bodyPr wrap="square" rtlCol="0" anchor="ctr"/>
          <a:lstStyle/>
          <a:p>
            <a:pPr indent="0" marL="0">
              <a:buNone/>
            </a:pPr>
            <a:r>
              <a:rPr lang="en-US" sz="1400" b="1" dirty="0">
                <a:solidFill>
                  <a:srgbClr val="C8102E"/>
                </a:solidFill>
                <a:latin typeface="Calibri" pitchFamily="34" charset="0"/>
                <a:ea typeface="Calibri" pitchFamily="34" charset="-122"/>
                <a:cs typeface="Calibri" pitchFamily="34" charset="-120"/>
              </a:rPr>
              <a:t>3.</a:t>
            </a:r>
            <a:endParaRPr lang="en-US" sz="1400" dirty="0"/>
          </a:p>
        </p:txBody>
      </p:sp>
      <p:sp>
        <p:nvSpPr>
          <p:cNvPr id="12" name="Text 10"/>
          <p:cNvSpPr/>
          <p:nvPr/>
        </p:nvSpPr>
        <p:spPr>
          <a:xfrm>
            <a:off x="731520" y="5715000"/>
            <a:ext cx="3954780" cy="1920240"/>
          </a:xfrm>
          <a:prstGeom prst="rect">
            <a:avLst/>
          </a:prstGeom>
          <a:noFill/>
          <a:ln/>
        </p:spPr>
        <p:txBody>
          <a:bodyPr wrap="square" rtlCol="0" anchor="ctr"/>
          <a:lstStyle/>
          <a:p>
            <a:pPr algn="l" indent="0" marL="0">
              <a:buNone/>
            </a:pPr>
            <a:r>
              <a:rPr lang="en-US" sz="1100" dirty="0">
                <a:solidFill>
                  <a:srgbClr val="222222"/>
                </a:solidFill>
                <a:latin typeface="Calibri" pitchFamily="34" charset="0"/>
                <a:ea typeface="Calibri" pitchFamily="34" charset="-122"/>
                <a:cs typeface="Calibri" pitchFamily="34" charset="-120"/>
              </a:rPr>
              <a:t>Güvenilir bir insan olmak senin için ne ifade ediyor?</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2286000"/>
            <a:ext cx="5143500" cy="914400"/>
          </a:xfrm>
          <a:prstGeom prst="rect">
            <a:avLst/>
          </a:prstGeom>
          <a:noFill/>
          <a:ln/>
        </p:spPr>
        <p:txBody>
          <a:bodyPr wrap="square" rtlCol="0" anchor="ctr"/>
          <a:lstStyle/>
          <a:p>
            <a:pPr algn="ctr" indent="0" marL="0">
              <a:buNone/>
            </a:pPr>
            <a:r>
              <a:rPr lang="en-US" sz="4400" dirty="0">
                <a:solidFill>
                  <a:srgbClr val="000000"/>
                </a:solidFill>
              </a:rPr>
              <a:t>❤️</a:t>
            </a:r>
            <a:endParaRPr lang="en-US" sz="4400" dirty="0"/>
          </a:p>
        </p:txBody>
      </p:sp>
      <p:sp>
        <p:nvSpPr>
          <p:cNvPr id="5" name="Text 3"/>
          <p:cNvSpPr/>
          <p:nvPr/>
        </p:nvSpPr>
        <p:spPr>
          <a:xfrm>
            <a:off x="0" y="3474720"/>
            <a:ext cx="5143500" cy="73152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Birlikte Iyilik Akademisi</a:t>
            </a:r>
            <a:endParaRPr lang="en-US" sz="2200" dirty="0"/>
          </a:p>
        </p:txBody>
      </p:sp>
      <p:sp>
        <p:nvSpPr>
          <p:cNvPr id="6" name="Text 4"/>
          <p:cNvSpPr/>
          <p:nvPr/>
        </p:nvSpPr>
        <p:spPr>
          <a:xfrm>
            <a:off x="0" y="4297680"/>
            <a:ext cx="5143500" cy="548640"/>
          </a:xfrm>
          <a:prstGeom prst="rect">
            <a:avLst/>
          </a:prstGeom>
          <a:noFill/>
          <a:ln/>
        </p:spPr>
        <p:txBody>
          <a:bodyPr wrap="square" rtlCol="0" anchor="ctr"/>
          <a:lstStyle/>
          <a:p>
            <a:pPr algn="ctr" indent="0" marL="0">
              <a:buNone/>
            </a:pPr>
            <a:r>
              <a:rPr lang="en-US" sz="1400" dirty="0">
                <a:solidFill>
                  <a:srgbClr val="FCEAED"/>
                </a:solidFill>
                <a:latin typeface="Calibri" pitchFamily="34" charset="0"/>
                <a:ea typeface="Calibri" pitchFamily="34" charset="-122"/>
                <a:cs typeface="Calibri" pitchFamily="34" charset="-120"/>
              </a:rPr>
              <a:t>Degerler Egitimi</a:t>
            </a:r>
            <a:endParaRPr lang="en-US" sz="1400" dirty="0"/>
          </a:p>
        </p:txBody>
      </p:sp>
      <p:sp>
        <p:nvSpPr>
          <p:cNvPr id="7" name="Text 5"/>
          <p:cNvSpPr/>
          <p:nvPr/>
        </p:nvSpPr>
        <p:spPr>
          <a:xfrm>
            <a:off x="0" y="5303520"/>
            <a:ext cx="5143500" cy="457200"/>
          </a:xfrm>
          <a:prstGeom prst="rect">
            <a:avLst/>
          </a:prstGeom>
          <a:noFill/>
          <a:ln/>
        </p:spPr>
        <p:txBody>
          <a:bodyPr wrap="square" rtlCol="0" anchor="ctr"/>
          <a:lstStyle/>
          <a:p>
            <a:pPr algn="ctr" indent="0" marL="0">
              <a:buNone/>
            </a:pPr>
            <a:r>
              <a:rPr lang="en-US" sz="1200" i="1" dirty="0">
                <a:solidFill>
                  <a:srgbClr val="FCEAED"/>
                </a:solidFill>
                <a:latin typeface="Calibri" pitchFamily="34" charset="0"/>
                <a:ea typeface="Calibri" pitchFamily="34" charset="-122"/>
                <a:cs typeface="Calibri" pitchFamily="34" charset="-120"/>
              </a:rPr>
              <a:t>Ders 12</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Söz Vermek ve Sadakat</dc:title>
  <dc:subject>Degerler Egitimi</dc:subject>
  <dc:creator>Birlikte Iyilik Akademisi</dc:creator>
  <cp:lastModifiedBy>Birlikte Iyilik Akademisi</cp:lastModifiedBy>
  <cp:revision>1</cp:revision>
  <dcterms:created xsi:type="dcterms:W3CDTF">2026-03-21T08:52:35Z</dcterms:created>
  <dcterms:modified xsi:type="dcterms:W3CDTF">2026-03-21T08:52:35Z</dcterms:modified>
</cp:coreProperties>
</file>