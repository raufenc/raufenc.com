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1695" cy="4114800"/>
          </a:xfrm>
          <a:prstGeom prst="rect">
            <a:avLst/>
          </a:prstGeom>
          <a:solidFill>
            <a:srgbClr val="C8102E">
              <a:alpha val="8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828754" y="1920240"/>
            <a:ext cx="8534187" cy="2286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BİRLİKTE İYİLİK AKADEMİSİ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Değerler Eğitimi Serisi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72865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PAYLAŞMANIN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GÜCÜ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Ensâr ve Muhâcirler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www.birlikteiyilik.com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228600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Kazanımlar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1325880"/>
            <a:ext cx="347472" cy="34747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280160" y="1280160"/>
            <a:ext cx="10088575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325880"/>
            <a:ext cx="98142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Ensâr ve Muhâcirlerin hikâyesini öğrenir.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468880"/>
            <a:ext cx="347472" cy="34747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468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468880"/>
            <a:ext cx="98142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Paylaşmanın farklı boyutlarını keşfeder.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611880"/>
            <a:ext cx="347472" cy="34747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611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280160" y="3566160"/>
            <a:ext cx="10088575" cy="868680"/>
          </a:xfrm>
          <a:prstGeom prst="roundRect">
            <a:avLst>
              <a:gd name="adj" fmla="val 8421"/>
            </a:avLst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3611880"/>
            <a:ext cx="98142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 ve yardımlaşma değerlerini içselleştirir.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4754880"/>
            <a:ext cx="347472" cy="34747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7548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754880"/>
            <a:ext cx="98142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hayatta paylaşma fırsatlarını fark eder.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228600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Kavramlar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3454298" cy="2011680"/>
          </a:xfrm>
          <a:prstGeom prst="roundRect">
            <a:avLst>
              <a:gd name="adj" fmla="val 454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88720"/>
            <a:ext cx="345429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46304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Hicret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30885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Mekke’den Medîne’ye göç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68698" y="1188720"/>
            <a:ext cx="3454298" cy="2011680"/>
          </a:xfrm>
          <a:prstGeom prst="roundRect">
            <a:avLst>
              <a:gd name="adj" fmla="val 454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8698" y="1188720"/>
            <a:ext cx="345429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4551578" y="146304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Ensâr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51578" y="2011680"/>
            <a:ext cx="30885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Medîneli yardım eden Müslümanlar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05877" y="1188720"/>
            <a:ext cx="3454298" cy="2011680"/>
          </a:xfrm>
          <a:prstGeom prst="roundRect">
            <a:avLst>
              <a:gd name="adj" fmla="val 454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5877" y="1188720"/>
            <a:ext cx="345429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8188757" y="146304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Muhâcirler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88757" y="2011680"/>
            <a:ext cx="30885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Mekke’den göç eden Müslümanlar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3566160"/>
            <a:ext cx="3454298" cy="2011680"/>
          </a:xfrm>
          <a:prstGeom prst="roundRect">
            <a:avLst>
              <a:gd name="adj" fmla="val 454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566160"/>
            <a:ext cx="345429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84048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Kardeşlik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4389120"/>
            <a:ext cx="30885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 Efendimiz sallallahu aleyhi ve sellem’in kurduğu bağ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68698" y="3566160"/>
            <a:ext cx="3454298" cy="2011680"/>
          </a:xfrm>
          <a:prstGeom prst="roundRect">
            <a:avLst>
              <a:gd name="adj" fmla="val 454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68698" y="3566160"/>
            <a:ext cx="345429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Text 23"/>
          <p:cNvSpPr/>
          <p:nvPr/>
        </p:nvSpPr>
        <p:spPr>
          <a:xfrm>
            <a:off x="4551578" y="384048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Paylaşma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551578" y="4389120"/>
            <a:ext cx="30885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Sahip olduğunu başkalarıyla bölüşme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05877" y="3566160"/>
            <a:ext cx="3454298" cy="2011680"/>
          </a:xfrm>
          <a:prstGeom prst="roundRect">
            <a:avLst>
              <a:gd name="adj" fmla="val 4545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5877" y="3566160"/>
            <a:ext cx="345429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9" name="Text 27"/>
          <p:cNvSpPr/>
          <p:nvPr/>
        </p:nvSpPr>
        <p:spPr>
          <a:xfrm>
            <a:off x="8188757" y="3840480"/>
            <a:ext cx="30885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Dayanışma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188757" y="4389120"/>
            <a:ext cx="308853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güçlü olma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228600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Hikâyenin Bağlamı: Hicret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Muhâcirler: Mekke'den Medîne'ye göç eden Müslümanlar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5900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 Efendimiz sallallahu aleyhi ve sellem'in emriyle Müslümanlar, Mekke'deki zulümden kurtulmak için evlerini, mallarını ve sevdiklerini bırakarak Medîne'ye hicret ettiler.</a:t>
            </a: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endParaRPr lang="en-US" sz="16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şeylerini geride bıraktılar...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954140" y="1828800"/>
            <a:ext cx="4506035" cy="3657600"/>
          </a:xfrm>
          <a:prstGeom prst="roundRect">
            <a:avLst>
              <a:gd name="adj" fmla="val 3000"/>
            </a:avLst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7228460" y="2103120"/>
            <a:ext cx="39573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Ensâr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228460" y="2651760"/>
            <a:ext cx="3957395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Medîneli yardım eden Müslümanlar.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Kapılarını, sofralarını ve kalplerini açtılar.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Peygamber Efendimiz sallallahu aleyhi ve sellem, her Muhâciri bir Ensâr ile kardeş yaptı.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228600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Sa'd'ın Teklifi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Tarihte eşi görülmemiş bir paylaşma anı...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4864" cy="25603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1645920"/>
            <a:ext cx="10673791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051560" y="2057400"/>
            <a:ext cx="1008857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kardeşim Abdurrahman! Ben, mal bakımından Medîneli Müslümanların en zenginiyim. Malımı ikiye ayırdım, yarısı senindir.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3794760"/>
            <a:ext cx="10088575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Sa'd bin Rebî (radıyallahü anh)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566928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Prof. Dr. Ramazan Ayvallı, Sevgili Peygamberim, s. 171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228600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Abdurrahman'ın Cevabı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0515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 kadar büyük bir karşılık...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645920"/>
            <a:ext cx="54864" cy="25603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1645920"/>
            <a:ext cx="10673791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051560" y="2057400"/>
            <a:ext cx="1008857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Allahü teâlâ malını sana mübarek ve hayırlı eylesin. Benim mala ihtiyacım yok. Yalnız beni, alışveriş yaptığınız çarşınıza bir götürüver, kâfî.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3794760"/>
            <a:ext cx="10088575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Abdurrahman bin Avf (radıyallahü anh)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4754880"/>
            <a:ext cx="10362895" cy="1280160"/>
          </a:xfrm>
          <a:prstGeom prst="roundRect">
            <a:avLst>
              <a:gd name="adj" fmla="val 7143"/>
            </a:avLst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892040"/>
            <a:ext cx="98142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Sa'd VERMEK istedi.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Abdurrahman ÇALIŞMAK istedi.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ikisi de paylaşmanın farklı yüzleri.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228600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Paylaşmanın Dört Boyutu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371600"/>
            <a:ext cx="2545004" cy="3840480"/>
          </a:xfrm>
          <a:prstGeom prst="roundRect">
            <a:avLst>
              <a:gd name="adj" fmla="val 359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71600"/>
            <a:ext cx="2545004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1821142" y="173736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1821142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2286000"/>
            <a:ext cx="22706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2926080"/>
            <a:ext cx="22706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Sahip olduklarını paylaşmak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59404" y="1371600"/>
            <a:ext cx="2545004" cy="3840480"/>
          </a:xfrm>
          <a:prstGeom prst="roundRect">
            <a:avLst>
              <a:gd name="adj" fmla="val 3593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59404" y="1371600"/>
            <a:ext cx="2545004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Shape 13"/>
          <p:cNvSpPr/>
          <p:nvPr/>
        </p:nvSpPr>
        <p:spPr>
          <a:xfrm>
            <a:off x="4549026" y="173736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4549026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96564" y="2286000"/>
            <a:ext cx="22706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596564" y="2926080"/>
            <a:ext cx="22706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Vaktini birlikte geçirmek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87288" y="1371600"/>
            <a:ext cx="2545004" cy="3840480"/>
          </a:xfrm>
          <a:prstGeom prst="roundRect">
            <a:avLst>
              <a:gd name="adj" fmla="val 3593"/>
            </a:avLst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87288" y="1371600"/>
            <a:ext cx="2545004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Shape 19"/>
          <p:cNvSpPr/>
          <p:nvPr/>
        </p:nvSpPr>
        <p:spPr>
          <a:xfrm>
            <a:off x="7276910" y="173736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727691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24448" y="2286000"/>
            <a:ext cx="22706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İLGİ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324448" y="2926080"/>
            <a:ext cx="22706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Dinlemek, anlamak, yanında olmak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915171" y="1371600"/>
            <a:ext cx="2545004" cy="3840480"/>
          </a:xfrm>
          <a:prstGeom prst="roundRect">
            <a:avLst>
              <a:gd name="adj" fmla="val 3593"/>
            </a:avLst>
          </a:prstGeom>
          <a:solidFill>
            <a:srgbClr val="FAFA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15171" y="1371600"/>
            <a:ext cx="2545004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004793" y="173736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8" name="Text 26"/>
          <p:cNvSpPr/>
          <p:nvPr/>
        </p:nvSpPr>
        <p:spPr>
          <a:xfrm>
            <a:off x="10004793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52331" y="2286000"/>
            <a:ext cx="22706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BİLGİ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052331" y="2926080"/>
            <a:ext cx="227068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Bildiklerini öğretmek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228600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 Olsan Ne Yapardın?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181448" cy="411480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188720"/>
            <a:ext cx="518144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50876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1463040"/>
            <a:ext cx="408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Arkadaş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463280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Okulunuza yeni bir öğrenci geldi. Kimseyi tanımıyor, yalnız ve çekingen. Teneffüste tek başına oturuyor. Sen olsan ne yapardın?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78728" y="1188720"/>
            <a:ext cx="5181448" cy="411480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278728" y="1188720"/>
            <a:ext cx="518144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553048" y="150876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6553048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55968" y="1463040"/>
            <a:ext cx="408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Zor Günler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53048" y="2194560"/>
            <a:ext cx="463280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Arkadaşının babası işini kaybetmiş. Arkadaşın kantinden bir şey alamıyor, üzgün görünüyor. Sen olsan ne yapardın?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228600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 Olsan Ne Yapardın?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181448" cy="411480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188720"/>
            <a:ext cx="518144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50876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1463040"/>
            <a:ext cx="408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Komşu Yardımı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463280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Yaşlı komşunuz, marketten ağır poşetlerle geliyor. Merdivenleri zor çıkıyor. Siz de arkadaşlarınızla oynuyorsunuz. Sen olsan ne yapardın?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78728" y="1188720"/>
            <a:ext cx="5181448" cy="4114800"/>
          </a:xfrm>
          <a:prstGeom prst="roundRect">
            <a:avLst>
              <a:gd name="adj" fmla="val 2222"/>
            </a:avLst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6278728" y="1188720"/>
            <a:ext cx="518144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553048" y="150876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6553048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55968" y="1463040"/>
            <a:ext cx="4084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Depremzede Aile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53048" y="2194560"/>
            <a:ext cx="463280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Mahallenize depremden etkilenen bir aile taşındı. Hiçbir şeyleri yok. Sizin evinizde fazla eşyalar var. Sen olsan ne yapardın?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C8102E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DÜŞÜNME ZAMANI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509" y="1463040"/>
            <a:ext cx="4876678" cy="2286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5740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011680"/>
            <a:ext cx="9905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Sa'd bin Rebî, Abdurrahman'a ne teklif etti?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310896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063240"/>
            <a:ext cx="9905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Abdurrahman bin Avf neden yarı malı almadı?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14400" y="416052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4114800"/>
            <a:ext cx="9905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Paylaşmanın dört boyutu nelerdir?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14400" y="5212080"/>
            <a:ext cx="320040" cy="32004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5212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5166360"/>
            <a:ext cx="9905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bir Ensâr olsan ne yapardın?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1695" cy="4114800"/>
          </a:xfrm>
          <a:prstGeom prst="rect">
            <a:avLst/>
          </a:prstGeom>
          <a:solidFill>
            <a:srgbClr val="C8102E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21917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10728655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Mü'minler ancak</a:t>
            </a:r>
            <a:endParaRPr lang="en-US" sz="4000" dirty="0"/>
          </a:p>
          <a:p>
            <a:pPr algn="ctr" indent="0" marL="0">
              <a:lnSpc>
                <a:spcPts val="5200"/>
              </a:lnSpc>
              <a:buNone/>
            </a:pPr>
            <a:r>
              <a:rPr lang="en-US" sz="4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kardeştirler.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Hucurât Sûresi, 10. Âyet-i Kerîme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Kur'ân-ı Kerîm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Paylaşmanın Gücü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868680"/>
            <a:ext cx="2286000" cy="3657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Yansıtma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3393338" cy="4114800"/>
          </a:xfrm>
          <a:prstGeom prst="roundRect">
            <a:avLst>
              <a:gd name="adj" fmla="val 2695"/>
            </a:avLst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188720"/>
            <a:ext cx="339333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5544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 Sizden...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2286000"/>
            <a:ext cx="293613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Evinizde bir iyilik yapın ve bunu kaydedin.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Detaylar kitapçığınızda!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99178" y="1188720"/>
            <a:ext cx="3393338" cy="4114800"/>
          </a:xfrm>
          <a:prstGeom prst="roundRect">
            <a:avLst>
              <a:gd name="adj" fmla="val 2695"/>
            </a:avLst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4627778" y="15544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 Ders Kartı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27778" y="2286000"/>
            <a:ext cx="293613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öğrendiklerinizi ailenizle paylaşın.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Aile ders kartınızı birlikte okuyun!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66837" y="1188720"/>
            <a:ext cx="3393338" cy="4114800"/>
          </a:xfrm>
          <a:prstGeom prst="roundRect">
            <a:avLst>
              <a:gd name="adj" fmla="val 2695"/>
            </a:avLst>
          </a:prstGeom>
          <a:solidFill>
            <a:srgbClr val="F5F5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066837" y="1188720"/>
            <a:ext cx="3393338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8295437" y="1554480"/>
            <a:ext cx="29361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Düşünün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95437" y="2286000"/>
            <a:ext cx="293613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Hayatımda en çok kimin paylaşmasından etkilendim?</a:t>
            </a:r>
            <a:endParaRPr lang="en-US" sz="14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bugün kime Ensâr olabilirim?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8B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0"/>
            <a:ext cx="12191695" cy="4114800"/>
          </a:xfrm>
          <a:prstGeom prst="rect">
            <a:avLst/>
          </a:prstGeom>
          <a:solidFill>
            <a:srgbClr val="C8102E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Hadîs-i Şerîf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19170" y="914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1072865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Mü'minin mü'mine</a:t>
            </a:r>
            <a:endParaRPr lang="en-US" sz="30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bağlılığı, taşları birbirine</a:t>
            </a:r>
            <a:endParaRPr lang="en-US" sz="3000" dirty="0"/>
          </a:p>
          <a:p>
            <a:pPr algn="ctr" indent="0" marL="0">
              <a:lnSpc>
                <a:spcPts val="42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kenetlenmiş bina gibidir.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(Buhârî)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509" y="4572000"/>
            <a:ext cx="4876678" cy="2286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84632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Haftaya görüşmek üzere,</a:t>
            </a:r>
            <a:endParaRPr lang="en-US" sz="1800" dirty="0"/>
          </a:p>
          <a:p>
            <a:pPr algn="ctr"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iyilikle kalın!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Birlikte İyilik Akademisi  |  www.birlikteiyilik.com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Paylaşmanın Gücü: Ensâr ve Muhâcirler</dc:title>
  <dc:subject>PptxGenJS Presentation</dc:subject>
  <dc:creator>Birlikte İyilik Akademisi</dc:creator>
  <cp:lastModifiedBy>Birlikte İyilik Akademisi</cp:lastModifiedBy>
  <cp:revision>1</cp:revision>
  <dcterms:created xsi:type="dcterms:W3CDTF">2026-03-20T19:15:28Z</dcterms:created>
  <dcterms:modified xsi:type="dcterms:W3CDTF">2026-03-20T19:15:28Z</dcterms:modified>
</cp:coreProperties>
</file>