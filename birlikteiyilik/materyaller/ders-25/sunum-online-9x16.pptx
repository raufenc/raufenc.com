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5143500" cy="9144000"/>
  <p:notesSz cx="9144000" cy="5143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548640"/>
            <a:ext cx="5143500" cy="457200"/>
          </a:xfrm>
          <a:prstGeom prst="rect">
            <a:avLst/>
          </a:prstGeom>
          <a:noFill/>
          <a:ln/>
        </p:spPr>
        <p:txBody>
          <a:bodyPr wrap="square" rtlCol="0" anchor="ctr"/>
          <a:lstStyle/>
          <a:p>
            <a:pPr algn="ctr" indent="0" marL="0">
              <a:buNone/>
            </a:pPr>
            <a:r>
              <a:rPr lang="en-US" sz="1100" dirty="0">
                <a:solidFill>
                  <a:srgbClr val="FCEAED"/>
                </a:solidFill>
                <a:latin typeface="Calibri" pitchFamily="34" charset="0"/>
                <a:ea typeface="Calibri" pitchFamily="34" charset="-122"/>
                <a:cs typeface="Calibri" pitchFamily="34" charset="-120"/>
              </a:rPr>
              <a:t>Birlikte Iyilik Akademisi</a:t>
            </a:r>
            <a:endParaRPr lang="en-US" sz="1100" dirty="0"/>
          </a:p>
        </p:txBody>
      </p:sp>
      <p:sp>
        <p:nvSpPr>
          <p:cNvPr id="5" name="Text 3"/>
          <p:cNvSpPr/>
          <p:nvPr/>
        </p:nvSpPr>
        <p:spPr>
          <a:xfrm>
            <a:off x="365760" y="2743200"/>
            <a:ext cx="4411980" cy="13716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İnsan Hakları ve Eşitlik</a:t>
            </a:r>
            <a:endParaRPr lang="en-US" sz="2800" dirty="0"/>
          </a:p>
        </p:txBody>
      </p:sp>
      <p:sp>
        <p:nvSpPr>
          <p:cNvPr id="6" name="Text 4"/>
          <p:cNvSpPr/>
          <p:nvPr/>
        </p:nvSpPr>
        <p:spPr>
          <a:xfrm>
            <a:off x="457200" y="4206240"/>
            <a:ext cx="4229100" cy="548640"/>
          </a:xfrm>
          <a:prstGeom prst="rect">
            <a:avLst/>
          </a:prstGeom>
          <a:noFill/>
          <a:ln/>
        </p:spPr>
        <p:txBody>
          <a:bodyPr wrap="square" rtlCol="0" anchor="ctr"/>
          <a:lstStyle/>
          <a:p>
            <a:pPr algn="ctr" indent="0" marL="0">
              <a:buNone/>
            </a:pPr>
            <a:r>
              <a:rPr lang="en-US" sz="1500" i="1" dirty="0">
                <a:solidFill>
                  <a:srgbClr val="FCEAED"/>
                </a:solidFill>
                <a:latin typeface="Calibri" pitchFamily="34" charset="0"/>
                <a:ea typeface="Calibri" pitchFamily="34" charset="-122"/>
                <a:cs typeface="Calibri" pitchFamily="34" charset="-120"/>
              </a:rPr>
              <a:t>Vedâ Hutbesi'ndeki Evrensel Mesajlar</a:t>
            </a:r>
            <a:endParaRPr lang="en-US" sz="1500" dirty="0"/>
          </a:p>
        </p:txBody>
      </p:sp>
      <p:sp>
        <p:nvSpPr>
          <p:cNvPr id="7" name="Text 5"/>
          <p:cNvSpPr/>
          <p:nvPr/>
        </p:nvSpPr>
        <p:spPr>
          <a:xfrm>
            <a:off x="0" y="8412480"/>
            <a:ext cx="514350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Degerler Egitimi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Buguen Ne Oegreneceegiz?</a:t>
            </a:r>
            <a:endParaRPr lang="en-US" sz="1800" dirty="0"/>
          </a:p>
        </p:txBody>
      </p:sp>
      <p:sp>
        <p:nvSpPr>
          <p:cNvPr id="4" name="Shape 2"/>
          <p:cNvSpPr/>
          <p:nvPr/>
        </p:nvSpPr>
        <p:spPr>
          <a:xfrm>
            <a:off x="274320" y="914400"/>
            <a:ext cx="365760" cy="365760"/>
          </a:xfrm>
          <a:prstGeom prst="ellipse">
            <a:avLst/>
          </a:prstGeom>
          <a:solidFill>
            <a:srgbClr val="C8102E"/>
          </a:solidFill>
          <a:ln/>
        </p:spPr>
      </p:sp>
      <p:sp>
        <p:nvSpPr>
          <p:cNvPr id="5" name="Text 3"/>
          <p:cNvSpPr/>
          <p:nvPr/>
        </p:nvSpPr>
        <p:spPr>
          <a:xfrm>
            <a:off x="274320" y="91440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777240" y="82296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Vedâ Hutbesi'nin temel mesajlarını açıklar.</a:t>
            </a:r>
            <a:endParaRPr lang="en-US" sz="1200" dirty="0"/>
          </a:p>
        </p:txBody>
      </p:sp>
      <p:sp>
        <p:nvSpPr>
          <p:cNvPr id="7" name="Shape 5"/>
          <p:cNvSpPr/>
          <p:nvPr/>
        </p:nvSpPr>
        <p:spPr>
          <a:xfrm>
            <a:off x="274320" y="1874520"/>
            <a:ext cx="365760" cy="365760"/>
          </a:xfrm>
          <a:prstGeom prst="ellipse">
            <a:avLst/>
          </a:prstGeom>
          <a:solidFill>
            <a:srgbClr val="C8102E"/>
          </a:solidFill>
          <a:ln/>
        </p:spPr>
      </p:sp>
      <p:sp>
        <p:nvSpPr>
          <p:cNvPr id="8" name="Text 6"/>
          <p:cNvSpPr/>
          <p:nvPr/>
        </p:nvSpPr>
        <p:spPr>
          <a:xfrm>
            <a:off x="274320" y="187452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777240" y="178308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İslam'ın insan hakları anlayışını günümüz değerleriyle ilişkilendirir.</a:t>
            </a:r>
            <a:endParaRPr lang="en-US" sz="1200" dirty="0"/>
          </a:p>
        </p:txBody>
      </p:sp>
      <p:sp>
        <p:nvSpPr>
          <p:cNvPr id="10" name="Shape 8"/>
          <p:cNvSpPr/>
          <p:nvPr/>
        </p:nvSpPr>
        <p:spPr>
          <a:xfrm>
            <a:off x="274320" y="2834640"/>
            <a:ext cx="365760" cy="365760"/>
          </a:xfrm>
          <a:prstGeom prst="ellipse">
            <a:avLst/>
          </a:prstGeom>
          <a:solidFill>
            <a:srgbClr val="C8102E"/>
          </a:solidFill>
          <a:ln/>
        </p:spPr>
      </p:sp>
      <p:sp>
        <p:nvSpPr>
          <p:cNvPr id="11" name="Text 9"/>
          <p:cNvSpPr/>
          <p:nvPr/>
        </p:nvSpPr>
        <p:spPr>
          <a:xfrm>
            <a:off x="274320" y="283464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777240" y="274320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Irk, renk ve dil ayrımcılığının İslam'daki yerini değerlendirir.</a:t>
            </a:r>
            <a:endParaRPr lang="en-US" sz="1200" dirty="0"/>
          </a:p>
        </p:txBody>
      </p:sp>
      <p:sp>
        <p:nvSpPr>
          <p:cNvPr id="13" name="Shape 11"/>
          <p:cNvSpPr/>
          <p:nvPr/>
        </p:nvSpPr>
        <p:spPr>
          <a:xfrm>
            <a:off x="274320" y="3794760"/>
            <a:ext cx="365760" cy="365760"/>
          </a:xfrm>
          <a:prstGeom prst="ellipse">
            <a:avLst/>
          </a:prstGeom>
          <a:solidFill>
            <a:srgbClr val="C8102E"/>
          </a:solidFill>
          <a:ln/>
        </p:spPr>
      </p:sp>
      <p:sp>
        <p:nvSpPr>
          <p:cNvPr id="14" name="Text 12"/>
          <p:cNvSpPr/>
          <p:nvPr/>
        </p:nvSpPr>
        <p:spPr>
          <a:xfrm>
            <a:off x="274320" y="379476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777240" y="370332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Evrensel insan hakları ilkelerinin Vedâ Hutbesi'ndeki köklerini tanır.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Anahtar Kavramlar</a:t>
            </a:r>
            <a:endParaRPr lang="en-US" sz="1800" dirty="0"/>
          </a:p>
        </p:txBody>
      </p:sp>
      <p:sp>
        <p:nvSpPr>
          <p:cNvPr id="4" name="Shape 2"/>
          <p:cNvSpPr/>
          <p:nvPr/>
        </p:nvSpPr>
        <p:spPr>
          <a:xfrm>
            <a:off x="274320" y="822960"/>
            <a:ext cx="2228850" cy="2377440"/>
          </a:xfrm>
          <a:prstGeom prst="roundRect">
            <a:avLst>
              <a:gd name="adj" fmla="val 3282"/>
            </a:avLst>
          </a:prstGeom>
          <a:solidFill>
            <a:srgbClr val="FCEAED"/>
          </a:solidFill>
          <a:ln/>
        </p:spPr>
      </p:sp>
      <p:sp>
        <p:nvSpPr>
          <p:cNvPr id="5" name="Text 3"/>
          <p:cNvSpPr/>
          <p:nvPr/>
        </p:nvSpPr>
        <p:spPr>
          <a:xfrm>
            <a:off x="36576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Vedâ Hutbesi</a:t>
            </a:r>
            <a:endParaRPr lang="en-US" sz="1100" dirty="0"/>
          </a:p>
        </p:txBody>
      </p:sp>
      <p:sp>
        <p:nvSpPr>
          <p:cNvPr id="6" name="Text 4"/>
          <p:cNvSpPr/>
          <p:nvPr/>
        </p:nvSpPr>
        <p:spPr>
          <a:xfrm>
            <a:off x="36576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Peygamber Efendimiz sallallahu aleyhi ve sellem'in hicretin 10. yılında Arafat'ta yüz bini aşkın Müslümana hitaben okuduğu tarihi hutbe.</a:t>
            </a:r>
            <a:endParaRPr lang="en-US" sz="900" dirty="0"/>
          </a:p>
        </p:txBody>
      </p:sp>
      <p:sp>
        <p:nvSpPr>
          <p:cNvPr id="7" name="Shape 5"/>
          <p:cNvSpPr/>
          <p:nvPr/>
        </p:nvSpPr>
        <p:spPr>
          <a:xfrm>
            <a:off x="2640330" y="822960"/>
            <a:ext cx="2228850" cy="2377440"/>
          </a:xfrm>
          <a:prstGeom prst="roundRect">
            <a:avLst>
              <a:gd name="adj" fmla="val 3282"/>
            </a:avLst>
          </a:prstGeom>
          <a:solidFill>
            <a:srgbClr val="FCEAED"/>
          </a:solidFill>
          <a:ln/>
        </p:spPr>
      </p:sp>
      <p:sp>
        <p:nvSpPr>
          <p:cNvPr id="8" name="Text 6"/>
          <p:cNvSpPr/>
          <p:nvPr/>
        </p:nvSpPr>
        <p:spPr>
          <a:xfrm>
            <a:off x="273177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Eşitlik</a:t>
            </a:r>
            <a:endParaRPr lang="en-US" sz="1100" dirty="0"/>
          </a:p>
        </p:txBody>
      </p:sp>
      <p:sp>
        <p:nvSpPr>
          <p:cNvPr id="9" name="Text 7"/>
          <p:cNvSpPr/>
          <p:nvPr/>
        </p:nvSpPr>
        <p:spPr>
          <a:xfrm>
            <a:off x="273177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İnsanların ırk, renk, dil ve statü farkı gözetilmeksizin eşit haklara sahip olması ilkesi.</a:t>
            </a:r>
            <a:endParaRPr lang="en-US" sz="900" dirty="0"/>
          </a:p>
        </p:txBody>
      </p:sp>
      <p:sp>
        <p:nvSpPr>
          <p:cNvPr id="10" name="Shape 8"/>
          <p:cNvSpPr/>
          <p:nvPr/>
        </p:nvSpPr>
        <p:spPr>
          <a:xfrm>
            <a:off x="274320" y="3337560"/>
            <a:ext cx="2228850" cy="2377440"/>
          </a:xfrm>
          <a:prstGeom prst="roundRect">
            <a:avLst>
              <a:gd name="adj" fmla="val 3282"/>
            </a:avLst>
          </a:prstGeom>
          <a:solidFill>
            <a:srgbClr val="FCEAED"/>
          </a:solidFill>
          <a:ln/>
        </p:spPr>
      </p:sp>
      <p:sp>
        <p:nvSpPr>
          <p:cNvPr id="11" name="Text 9"/>
          <p:cNvSpPr/>
          <p:nvPr/>
        </p:nvSpPr>
        <p:spPr>
          <a:xfrm>
            <a:off x="36576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Takva</a:t>
            </a:r>
            <a:endParaRPr lang="en-US" sz="1100" dirty="0"/>
          </a:p>
        </p:txBody>
      </p:sp>
      <p:sp>
        <p:nvSpPr>
          <p:cNvPr id="12" name="Text 10"/>
          <p:cNvSpPr/>
          <p:nvPr/>
        </p:nvSpPr>
        <p:spPr>
          <a:xfrm>
            <a:off x="36576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Allah'a karşı derin saygı ve sorumluluk bilinci; İslam'a göre insanlar arası gerçek üstünlük ölçüsü.</a:t>
            </a:r>
            <a:endParaRPr lang="en-US" sz="900" dirty="0"/>
          </a:p>
        </p:txBody>
      </p:sp>
      <p:sp>
        <p:nvSpPr>
          <p:cNvPr id="13" name="Shape 11"/>
          <p:cNvSpPr/>
          <p:nvPr/>
        </p:nvSpPr>
        <p:spPr>
          <a:xfrm>
            <a:off x="2640330" y="3337560"/>
            <a:ext cx="2228850" cy="2377440"/>
          </a:xfrm>
          <a:prstGeom prst="roundRect">
            <a:avLst>
              <a:gd name="adj" fmla="val 3282"/>
            </a:avLst>
          </a:prstGeom>
          <a:solidFill>
            <a:srgbClr val="FCEAED"/>
          </a:solidFill>
          <a:ln/>
        </p:spPr>
      </p:sp>
      <p:sp>
        <p:nvSpPr>
          <p:cNvPr id="14" name="Text 12"/>
          <p:cNvSpPr/>
          <p:nvPr/>
        </p:nvSpPr>
        <p:spPr>
          <a:xfrm>
            <a:off x="273177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İnsan Hakları</a:t>
            </a:r>
            <a:endParaRPr lang="en-US" sz="1100" dirty="0"/>
          </a:p>
        </p:txBody>
      </p:sp>
      <p:sp>
        <p:nvSpPr>
          <p:cNvPr id="15" name="Text 13"/>
          <p:cNvSpPr/>
          <p:nvPr/>
        </p:nvSpPr>
        <p:spPr>
          <a:xfrm>
            <a:off x="273177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Her insanın doğuştan sahip olduğu, can, mal, namus, inanç ve düşünce özgürlüğü gibi temel haklar.</a:t>
            </a:r>
            <a:endParaRPr lang="en-US" sz="900" dirty="0"/>
          </a:p>
        </p:txBody>
      </p:sp>
      <p:sp>
        <p:nvSpPr>
          <p:cNvPr id="16" name="Shape 14"/>
          <p:cNvSpPr/>
          <p:nvPr/>
        </p:nvSpPr>
        <p:spPr>
          <a:xfrm>
            <a:off x="274320" y="5852160"/>
            <a:ext cx="2228850" cy="2377440"/>
          </a:xfrm>
          <a:prstGeom prst="roundRect">
            <a:avLst>
              <a:gd name="adj" fmla="val 3282"/>
            </a:avLst>
          </a:prstGeom>
          <a:solidFill>
            <a:srgbClr val="FCEAED"/>
          </a:solidFill>
          <a:ln/>
        </p:spPr>
      </p:sp>
      <p:sp>
        <p:nvSpPr>
          <p:cNvPr id="17" name="Text 15"/>
          <p:cNvSpPr/>
          <p:nvPr/>
        </p:nvSpPr>
        <p:spPr>
          <a:xfrm>
            <a:off x="36576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Cahiliye</a:t>
            </a:r>
            <a:endParaRPr lang="en-US" sz="1100" dirty="0"/>
          </a:p>
        </p:txBody>
      </p:sp>
      <p:sp>
        <p:nvSpPr>
          <p:cNvPr id="18" name="Text 16"/>
          <p:cNvSpPr/>
          <p:nvPr/>
        </p:nvSpPr>
        <p:spPr>
          <a:xfrm>
            <a:off x="36576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İslam öncesi Arap toplumundaki haksızlık, zulüm ve ayrımcılıkla dolu karanlık dönem.</a:t>
            </a:r>
            <a:endParaRPr lang="en-US" sz="900" dirty="0"/>
          </a:p>
        </p:txBody>
      </p:sp>
      <p:sp>
        <p:nvSpPr>
          <p:cNvPr id="19" name="Shape 17"/>
          <p:cNvSpPr/>
          <p:nvPr/>
        </p:nvSpPr>
        <p:spPr>
          <a:xfrm>
            <a:off x="2640330" y="5852160"/>
            <a:ext cx="2228850" cy="2377440"/>
          </a:xfrm>
          <a:prstGeom prst="roundRect">
            <a:avLst>
              <a:gd name="adj" fmla="val 3282"/>
            </a:avLst>
          </a:prstGeom>
          <a:solidFill>
            <a:srgbClr val="FCEAED"/>
          </a:solidFill>
          <a:ln/>
        </p:spPr>
      </p:sp>
      <p:sp>
        <p:nvSpPr>
          <p:cNvPr id="20" name="Text 18"/>
          <p:cNvSpPr/>
          <p:nvPr/>
        </p:nvSpPr>
        <p:spPr>
          <a:xfrm>
            <a:off x="273177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Dokunulmazlık</a:t>
            </a:r>
            <a:endParaRPr lang="en-US" sz="1100" dirty="0"/>
          </a:p>
        </p:txBody>
      </p:sp>
      <p:sp>
        <p:nvSpPr>
          <p:cNvPr id="21" name="Text 19"/>
          <p:cNvSpPr/>
          <p:nvPr/>
        </p:nvSpPr>
        <p:spPr>
          <a:xfrm>
            <a:off x="273177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İnsanın canına, malına ve namusuna kimsenin haksız yere müdahale edemeyeceği ilkesi.</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Arafat'ta Yankılanan Evrensel Çağrı</a:t>
            </a:r>
            <a:endParaRPr lang="en-US" sz="1800" dirty="0"/>
          </a:p>
        </p:txBody>
      </p:sp>
      <p:sp>
        <p:nvSpPr>
          <p:cNvPr id="4" name="Text 2"/>
          <p:cNvSpPr/>
          <p:nvPr/>
        </p:nvSpPr>
        <p:spPr>
          <a:xfrm>
            <a:off x="274320" y="822960"/>
            <a:ext cx="4594860" cy="640080"/>
          </a:xfrm>
          <a:prstGeom prst="rect">
            <a:avLst/>
          </a:prstGeom>
          <a:noFill/>
          <a:ln/>
        </p:spPr>
        <p:txBody>
          <a:bodyPr wrap="square" rtlCol="0" anchor="ctr"/>
          <a:lstStyle/>
          <a:p>
            <a:pPr algn="l" indent="0" marL="0">
              <a:buNone/>
            </a:pPr>
            <a:r>
              <a:rPr lang="en-US" sz="1000" i="1" dirty="0">
                <a:solidFill>
                  <a:srgbClr val="666666"/>
                </a:solidFill>
                <a:latin typeface="Calibri" pitchFamily="34" charset="0"/>
                <a:ea typeface="Calibri" pitchFamily="34" charset="-122"/>
                <a:cs typeface="Calibri" pitchFamily="34" charset="-120"/>
              </a:rPr>
              <a:t>Hicretin onuncu yılında Peygamber Efendimiz sallallahu aleyhi ve sellem, hayatının son hac ibadetini yerine getirmek üzere Mekke'ye geldi. Arafat'ta yüz bini aşkın Müslümana hitaben tarihi hutbesini okudu. Bu hutbe, insanlık tarihinin en önemli insan hakları bildirilerinden biri olarak kabul edilir.</a:t>
            </a:r>
            <a:endParaRPr lang="en-US" sz="1000" dirty="0"/>
          </a:p>
        </p:txBody>
      </p:sp>
      <p:sp>
        <p:nvSpPr>
          <p:cNvPr id="5" name="Text 3"/>
          <p:cNvSpPr/>
          <p:nvPr/>
        </p:nvSpPr>
        <p:spPr>
          <a:xfrm>
            <a:off x="274320" y="164592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Zilhicce ayının dokuzuncu günü, Arafat ovasında yüz bini aşkın Müslüman, Peygamber Efendimiz sallallahu aleyhi ve sellem'in sesine kulak vermek için toplanmıştı. Güneş tepede parlarken, Peygamber Efendimiz sallallahu aleyhi ve sellem devesinin üzerinde doğruldu ve insanlık tarihini değiştirecek sözlerini söylemeye başladı. Sesi vadide yankılanırken, etrafındaki sahabiler O'nun sözlerini daha uzaktakilere tekrarlıyorlardı.</a:t>
            </a:r>
            <a:endParaRPr lang="en-US" sz="1000" dirty="0"/>
          </a:p>
        </p:txBody>
      </p:sp>
      <p:sp>
        <p:nvSpPr>
          <p:cNvPr id="6" name="Text 4"/>
          <p:cNvSpPr/>
          <p:nvPr/>
        </p:nvSpPr>
        <p:spPr>
          <a:xfrm>
            <a:off x="274320" y="365760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 hutbesinde bütün insanların eşit olduğunu ilan etti. 'Ey insanlar! Rabbiniz birdir, babanız birdir. Hepiniz Âdem'densiniz, Âdem de topraktandır. Arabın Arap olmayana, Arap olmayanın Araba üstünlüğü yoktur. Üstünlük ancak takva iledir' buyurdu. Cahiliye döneminin bütün kötü adetlerini ayağının altına aldığını bildirdi.</a:t>
            </a:r>
            <a:endParaRPr lang="en-US" sz="1000" dirty="0"/>
          </a:p>
        </p:txBody>
      </p:sp>
      <p:sp>
        <p:nvSpPr>
          <p:cNvPr id="7" name="Text 5"/>
          <p:cNvSpPr/>
          <p:nvPr/>
        </p:nvSpPr>
        <p:spPr>
          <a:xfrm>
            <a:off x="274320" y="566928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 kadınların haklarını korumayı, emanetlere riayet etmeyi, can ve mal dokunulmazlığını vurguladı. Hutbesinin sonunda 'Tebliğ ettim mi?' diye sordu ve topluluk 'Evet, tebliğ ettin!' diye haykırdı. O gün inen ayet-i kerime ile İslam dininin tamamlandığı müjdelendi.</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731520"/>
            <a:ext cx="914400" cy="1097280"/>
          </a:xfrm>
          <a:prstGeom prst="rect">
            <a:avLst/>
          </a:prstGeom>
          <a:noFill/>
          <a:ln/>
        </p:spPr>
        <p:txBody>
          <a:bodyPr wrap="square" rtlCol="0" anchor="ctr"/>
          <a:lstStyle/>
          <a:p>
            <a:pPr indent="0" marL="0">
              <a:buNone/>
            </a:pPr>
            <a:r>
              <a:rPr lang="en-US" sz="7200" b="1" dirty="0">
                <a:solidFill>
                  <a:srgbClr val="C8102E"/>
                </a:solidFill>
                <a:latin typeface="Calibri" pitchFamily="34" charset="0"/>
                <a:ea typeface="Calibri" pitchFamily="34" charset="-122"/>
                <a:cs typeface="Calibri" pitchFamily="34" charset="-120"/>
              </a:rPr>
              <a:t>“</a:t>
            </a:r>
            <a:endParaRPr lang="en-US" sz="7200" dirty="0"/>
          </a:p>
        </p:txBody>
      </p:sp>
      <p:sp>
        <p:nvSpPr>
          <p:cNvPr id="4" name="Shape 2"/>
          <p:cNvSpPr/>
          <p:nvPr/>
        </p:nvSpPr>
        <p:spPr>
          <a:xfrm>
            <a:off x="822960" y="1188720"/>
            <a:ext cx="45720" cy="4114800"/>
          </a:xfrm>
          <a:prstGeom prst="rect">
            <a:avLst/>
          </a:prstGeom>
          <a:solidFill>
            <a:srgbClr val="C8102E"/>
          </a:solidFill>
          <a:ln/>
        </p:spPr>
      </p:sp>
      <p:sp>
        <p:nvSpPr>
          <p:cNvPr id="5" name="Text 3"/>
          <p:cNvSpPr/>
          <p:nvPr/>
        </p:nvSpPr>
        <p:spPr>
          <a:xfrm>
            <a:off x="1051560" y="1188720"/>
            <a:ext cx="3680460" cy="4114800"/>
          </a:xfrm>
          <a:prstGeom prst="rect">
            <a:avLst/>
          </a:prstGeom>
          <a:noFill/>
          <a:ln/>
        </p:spPr>
        <p:txBody>
          <a:bodyPr wrap="square" rtlCol="0" anchor="ctr"/>
          <a:lstStyle/>
          <a:p>
            <a:pPr algn="l" indent="0" marL="0">
              <a:buNone/>
            </a:pPr>
            <a:r>
              <a:rPr lang="en-US" sz="1400" i="1" dirty="0">
                <a:solidFill>
                  <a:srgbClr val="222222"/>
                </a:solidFill>
                <a:latin typeface="Calibri" pitchFamily="34" charset="0"/>
                <a:ea typeface="Calibri" pitchFamily="34" charset="-122"/>
                <a:cs typeface="Calibri" pitchFamily="34" charset="-120"/>
              </a:rPr>
              <a:t>Arabın Arap olmayana, Arap olmayanın Araba, beyazın siyaha, siyahın beyaza hiçbir üstünlüğü yoktur. Üstünlük ancak takva iledir.</a:t>
            </a:r>
            <a:endParaRPr lang="en-US" sz="1400" dirty="0"/>
          </a:p>
        </p:txBody>
      </p:sp>
      <p:sp>
        <p:nvSpPr>
          <p:cNvPr id="6" name="Text 4"/>
          <p:cNvSpPr/>
          <p:nvPr/>
        </p:nvSpPr>
        <p:spPr>
          <a:xfrm>
            <a:off x="1051560" y="5669280"/>
            <a:ext cx="3680460" cy="457200"/>
          </a:xfrm>
          <a:prstGeom prst="rect">
            <a:avLst/>
          </a:prstGeom>
          <a:noFill/>
          <a:ln/>
        </p:spPr>
        <p:txBody>
          <a:bodyPr wrap="square"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 Peygamber Efendimiz sallallahu aleyhi ve sellem, Vedâ Hutbesi</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Shape 1"/>
          <p:cNvSpPr/>
          <p:nvPr/>
        </p:nvSpPr>
        <p:spPr>
          <a:xfrm>
            <a:off x="1657350" y="3200400"/>
            <a:ext cx="1828800" cy="27432"/>
          </a:xfrm>
          <a:prstGeom prst="rect">
            <a:avLst/>
          </a:prstGeom>
          <a:solidFill>
            <a:srgbClr val="C8102E"/>
          </a:solidFill>
          <a:ln/>
        </p:spPr>
      </p:sp>
      <p:sp>
        <p:nvSpPr>
          <p:cNvPr id="4" name="Text 2"/>
          <p:cNvSpPr/>
          <p:nvPr/>
        </p:nvSpPr>
        <p:spPr>
          <a:xfrm>
            <a:off x="457200" y="3474720"/>
            <a:ext cx="4229100" cy="3200400"/>
          </a:xfrm>
          <a:prstGeom prst="rect">
            <a:avLst/>
          </a:prstGeom>
          <a:noFill/>
          <a:ln/>
        </p:spPr>
        <p:txBody>
          <a:bodyPr wrap="square" rtlCol="0" anchor="ctr"/>
          <a:lstStyle/>
          <a:p>
            <a:pPr algn="ctr" indent="0" marL="0">
              <a:buNone/>
            </a:pPr>
            <a:r>
              <a:rPr lang="en-US" sz="1300" i="1" dirty="0">
                <a:solidFill>
                  <a:srgbClr val="8B0000"/>
                </a:solidFill>
                <a:latin typeface="Calibri" pitchFamily="34" charset="0"/>
                <a:ea typeface="Calibri" pitchFamily="34" charset="-122"/>
                <a:cs typeface="Calibri" pitchFamily="34" charset="-120"/>
              </a:rPr>
              <a:t>Ey insanlar! Doğrusu Biz sizi bir erkek ve bir dişiden yarattık. Ve birbirinizle tanışmanız için sizi milletlere ve kabilelere ayırdık. Muhakkak ki Allah katında en değerliniz, en çok takva sahibi olanınızdır.</a:t>
            </a:r>
            <a:endParaRPr lang="en-US" sz="1300" dirty="0"/>
          </a:p>
        </p:txBody>
      </p:sp>
      <p:sp>
        <p:nvSpPr>
          <p:cNvPr id="5" name="Shape 3"/>
          <p:cNvSpPr/>
          <p:nvPr/>
        </p:nvSpPr>
        <p:spPr>
          <a:xfrm>
            <a:off x="1657350" y="6858000"/>
            <a:ext cx="1828800" cy="27432"/>
          </a:xfrm>
          <a:prstGeom prst="rect">
            <a:avLst/>
          </a:prstGeom>
          <a:solidFill>
            <a:srgbClr val="C8102E"/>
          </a:solidFill>
          <a:ln/>
        </p:spPr>
      </p:sp>
      <p:sp>
        <p:nvSpPr>
          <p:cNvPr id="6" name="Text 4"/>
          <p:cNvSpPr/>
          <p:nvPr/>
        </p:nvSpPr>
        <p:spPr>
          <a:xfrm>
            <a:off x="457200" y="7132320"/>
            <a:ext cx="4229100" cy="457200"/>
          </a:xfrm>
          <a:prstGeom prst="rect">
            <a:avLst/>
          </a:prstGeom>
          <a:noFill/>
          <a:ln/>
        </p:spPr>
        <p:txBody>
          <a:bodyPr wrap="square"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Hucurât Sûresi, 13. ayet-i kerime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Degerin Boyutlari</a:t>
            </a:r>
            <a:endParaRPr lang="en-US" sz="1800" dirty="0"/>
          </a:p>
        </p:txBody>
      </p:sp>
      <p:sp>
        <p:nvSpPr>
          <p:cNvPr id="4" name="Shape 2"/>
          <p:cNvSpPr/>
          <p:nvPr/>
        </p:nvSpPr>
        <p:spPr>
          <a:xfrm>
            <a:off x="274320" y="822960"/>
            <a:ext cx="2228850" cy="3474720"/>
          </a:xfrm>
          <a:prstGeom prst="roundRect">
            <a:avLst>
              <a:gd name="adj" fmla="val 3282"/>
            </a:avLst>
          </a:prstGeom>
          <a:solidFill>
            <a:srgbClr val="FCEAED"/>
          </a:solidFill>
          <a:ln/>
        </p:spPr>
      </p:sp>
      <p:sp>
        <p:nvSpPr>
          <p:cNvPr id="5" name="Text 3"/>
          <p:cNvSpPr/>
          <p:nvPr/>
        </p:nvSpPr>
        <p:spPr>
          <a:xfrm>
            <a:off x="27432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34747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Bireysel Boyut</a:t>
            </a:r>
            <a:endParaRPr lang="en-US" sz="1100" dirty="0"/>
          </a:p>
        </p:txBody>
      </p:sp>
      <p:sp>
        <p:nvSpPr>
          <p:cNvPr id="7" name="Text 5"/>
          <p:cNvSpPr/>
          <p:nvPr/>
        </p:nvSpPr>
        <p:spPr>
          <a:xfrm>
            <a:off x="34747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Her insanın eşit ve değerli olduğunu içselleştirmek, kimseyi ırkı veya görünüşü nedeniyle küçümsememek.</a:t>
            </a:r>
            <a:endParaRPr lang="en-US" sz="800" dirty="0"/>
          </a:p>
        </p:txBody>
      </p:sp>
      <p:sp>
        <p:nvSpPr>
          <p:cNvPr id="8" name="Shape 6"/>
          <p:cNvSpPr/>
          <p:nvPr/>
        </p:nvSpPr>
        <p:spPr>
          <a:xfrm>
            <a:off x="2640330" y="822960"/>
            <a:ext cx="2228850" cy="3474720"/>
          </a:xfrm>
          <a:prstGeom prst="roundRect">
            <a:avLst>
              <a:gd name="adj" fmla="val 3282"/>
            </a:avLst>
          </a:prstGeom>
          <a:solidFill>
            <a:srgbClr val="FCEAED"/>
          </a:solidFill>
          <a:ln/>
        </p:spPr>
      </p:sp>
      <p:sp>
        <p:nvSpPr>
          <p:cNvPr id="9" name="Text 7"/>
          <p:cNvSpPr/>
          <p:nvPr/>
        </p:nvSpPr>
        <p:spPr>
          <a:xfrm>
            <a:off x="264033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271348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Toplumsal Boyut</a:t>
            </a:r>
            <a:endParaRPr lang="en-US" sz="1100" dirty="0"/>
          </a:p>
        </p:txBody>
      </p:sp>
      <p:sp>
        <p:nvSpPr>
          <p:cNvPr id="11" name="Text 9"/>
          <p:cNvSpPr/>
          <p:nvPr/>
        </p:nvSpPr>
        <p:spPr>
          <a:xfrm>
            <a:off x="271348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Ayrımcılığa karşı durmak, farklı kültürlerden insanlarla saygılı ilişkiler kurmak.</a:t>
            </a:r>
            <a:endParaRPr lang="en-US" sz="800" dirty="0"/>
          </a:p>
        </p:txBody>
      </p:sp>
      <p:sp>
        <p:nvSpPr>
          <p:cNvPr id="12" name="Shape 10"/>
          <p:cNvSpPr/>
          <p:nvPr/>
        </p:nvSpPr>
        <p:spPr>
          <a:xfrm>
            <a:off x="274320" y="4434840"/>
            <a:ext cx="2228850" cy="3474720"/>
          </a:xfrm>
          <a:prstGeom prst="roundRect">
            <a:avLst>
              <a:gd name="adj" fmla="val 3282"/>
            </a:avLst>
          </a:prstGeom>
          <a:solidFill>
            <a:srgbClr val="FCEAED"/>
          </a:solidFill>
          <a:ln/>
        </p:spPr>
      </p:sp>
      <p:sp>
        <p:nvSpPr>
          <p:cNvPr id="13" name="Text 11"/>
          <p:cNvSpPr/>
          <p:nvPr/>
        </p:nvSpPr>
        <p:spPr>
          <a:xfrm>
            <a:off x="27432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34747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Ahlâkî Boyut</a:t>
            </a:r>
            <a:endParaRPr lang="en-US" sz="1100" dirty="0"/>
          </a:p>
        </p:txBody>
      </p:sp>
      <p:sp>
        <p:nvSpPr>
          <p:cNvPr id="15" name="Text 13"/>
          <p:cNvSpPr/>
          <p:nvPr/>
        </p:nvSpPr>
        <p:spPr>
          <a:xfrm>
            <a:off x="34747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Adaleti her koşulda savunmak, zayıfın ve mazlumun yanında olmak.</a:t>
            </a:r>
            <a:endParaRPr lang="en-US" sz="800" dirty="0"/>
          </a:p>
        </p:txBody>
      </p:sp>
      <p:sp>
        <p:nvSpPr>
          <p:cNvPr id="16" name="Shape 14"/>
          <p:cNvSpPr/>
          <p:nvPr/>
        </p:nvSpPr>
        <p:spPr>
          <a:xfrm>
            <a:off x="2640330" y="4434840"/>
            <a:ext cx="2228850" cy="3474720"/>
          </a:xfrm>
          <a:prstGeom prst="roundRect">
            <a:avLst>
              <a:gd name="adj" fmla="val 3282"/>
            </a:avLst>
          </a:prstGeom>
          <a:solidFill>
            <a:srgbClr val="FCEAED"/>
          </a:solidFill>
          <a:ln/>
        </p:spPr>
      </p:sp>
      <p:sp>
        <p:nvSpPr>
          <p:cNvPr id="17" name="Text 15"/>
          <p:cNvSpPr/>
          <p:nvPr/>
        </p:nvSpPr>
        <p:spPr>
          <a:xfrm>
            <a:off x="264033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271348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Evrensel Boyut</a:t>
            </a:r>
            <a:endParaRPr lang="en-US" sz="1100" dirty="0"/>
          </a:p>
        </p:txBody>
      </p:sp>
      <p:sp>
        <p:nvSpPr>
          <p:cNvPr id="19" name="Text 17"/>
          <p:cNvSpPr/>
          <p:nvPr/>
        </p:nvSpPr>
        <p:spPr>
          <a:xfrm>
            <a:off x="271348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Vedâ Hutbesi'nin mesajlarının tüm insanlığı kapsadığını kavramak, insan hakları bilincini geliştirmek.</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Sınıfta Ayrımcılık</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Sınıfınıza yeni bir öğrenci geldi. Farklı bir şehirden ve farklı bir şive ile konuşuyor. Bazı arkadaşlarınız onun konuşma tarzıyla dalga geçiyor ve yanına oturmak istemiyor. Teneffüste yeni öğrenci tek başına oturuyor.</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Yeni öğrencinin yanına gider, tanışır ve onu grubuma dahil ederim. Dalga geçe...</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Dalga geçenlere katılmam ama yeni öğrenciyle de ilgilenmem, kendi halime baka...</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Herkes dalga geçiyor diye ben de katılırım, sonuçta farklı konuşması komik.</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Spor Takımı Seçimi</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Beden eğitimi dersinde takım kuruyorsunuz. Takım kaptanı olarak siz seçildiniz. Sınıfın en iyi sporcuları sizinle aynı takımda olmak istiyor ama engelli bir arkadaşınız da oynamak istiyor. Bazıları 'O oynarsa kaybederiz' diyor.</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Engelli arkadaşımı takıma alır, herkesin oynama hakkı olduğunu hatırlatırım. ...</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Arkadaşımı takıma alırım ama çok az süre veririm, böylece hem hakkını gözetmi...</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Takımı kazanacak şekilde kurarım, engelli arkadaşım bir sonraki maçta oynar.</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Sosyal Medyada Nefret Söylemi</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Sosyal medyada bir arkadaşınızın paylaştığı gönderide belirli bir millete karşı aşağılayıcı yorumlar yapılıyor. Gönderinin altında birçok kişi bu yorumlara katılıyor ve beğeniyor. Siz de bu gönderiyi görüyorsunuz.</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Vedâ Hutbesi'ndeki eşitlik mesajını hatırlatarak nazikçe uyarırım ve hiçbir m...</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Gönderiyi görmezden gelir, sosyal medyada tartışmaya girmem.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Herkes beğendiğine göre doğru olabilir diye düşünür, ben de beğenirim.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Mahallede Yeni Komşu</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Mahallenize farklı bir ülkeden göçmen bir aile taşındı. Çocukları Türkçeyi çok iyi konuşamıyor. Mahallenizdeki bazı çocuklar onlarla oynamak istemiyor ve 'Yabancılarla oynamayız' diyor. Göçmen ailenin çocukları üzgün görünüyor.</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Göçmen ailenin çocuklarıyla tanışır, onları oyuna davet ederim. Diğer arkadaş...</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Onlarla tek başıma oynarım ama diğer arkadaşlarıma bir şey söylemem.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Mahalleli arkadaşlarımla aramı bozmamak için ben de uzak dururum.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82880"/>
            <a:ext cx="514350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Quiz</a:t>
            </a:r>
            <a:endParaRPr lang="en-US" sz="2000" dirty="0"/>
          </a:p>
        </p:txBody>
      </p:sp>
      <p:sp>
        <p:nvSpPr>
          <p:cNvPr id="5" name="Shape 3"/>
          <p:cNvSpPr/>
          <p:nvPr/>
        </p:nvSpPr>
        <p:spPr>
          <a:xfrm>
            <a:off x="274320" y="914400"/>
            <a:ext cx="4594860" cy="2377440"/>
          </a:xfrm>
          <a:prstGeom prst="roundRect">
            <a:avLst>
              <a:gd name="adj" fmla="val 3077"/>
            </a:avLst>
          </a:prstGeom>
          <a:solidFill>
            <a:srgbClr val="FFFFFF">
              <a:alpha val="90000"/>
            </a:srgbClr>
          </a:solidFill>
          <a:ln/>
        </p:spPr>
      </p:sp>
      <p:sp>
        <p:nvSpPr>
          <p:cNvPr id="6" name="Text 4"/>
          <p:cNvSpPr/>
          <p:nvPr/>
        </p:nvSpPr>
        <p:spPr>
          <a:xfrm>
            <a:off x="365760" y="10058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Vedâ Hutbesi hangi yıl ve nerede irad edilmiştir?</a:t>
            </a:r>
            <a:endParaRPr lang="en-US" sz="900" dirty="0"/>
          </a:p>
        </p:txBody>
      </p:sp>
      <p:sp>
        <p:nvSpPr>
          <p:cNvPr id="7" name="Text 5"/>
          <p:cNvSpPr/>
          <p:nvPr/>
        </p:nvSpPr>
        <p:spPr>
          <a:xfrm>
            <a:off x="365760" y="16459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Hicretin 8. yılı, Medine'de</a:t>
            </a:r>
            <a:endParaRPr lang="en-US" sz="800" dirty="0"/>
          </a:p>
        </p:txBody>
      </p:sp>
      <p:sp>
        <p:nvSpPr>
          <p:cNvPr id="8" name="Text 6"/>
          <p:cNvSpPr/>
          <p:nvPr/>
        </p:nvSpPr>
        <p:spPr>
          <a:xfrm>
            <a:off x="365760" y="20299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Hicretin 10. yılı, Arafat'ta</a:t>
            </a:r>
            <a:endParaRPr lang="en-US" sz="800" dirty="0"/>
          </a:p>
        </p:txBody>
      </p:sp>
      <p:sp>
        <p:nvSpPr>
          <p:cNvPr id="9" name="Text 7"/>
          <p:cNvSpPr/>
          <p:nvPr/>
        </p:nvSpPr>
        <p:spPr>
          <a:xfrm>
            <a:off x="365760" y="24140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Hicretin 5. yılı, Mekke'de</a:t>
            </a:r>
            <a:endParaRPr lang="en-US" sz="800" dirty="0"/>
          </a:p>
        </p:txBody>
      </p:sp>
      <p:sp>
        <p:nvSpPr>
          <p:cNvPr id="10" name="Text 8"/>
          <p:cNvSpPr/>
          <p:nvPr/>
        </p:nvSpPr>
        <p:spPr>
          <a:xfrm>
            <a:off x="365760" y="27980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Hicretin 12. yılı, Taif'te</a:t>
            </a:r>
            <a:endParaRPr lang="en-US" sz="800" dirty="0"/>
          </a:p>
        </p:txBody>
      </p:sp>
      <p:sp>
        <p:nvSpPr>
          <p:cNvPr id="11" name="Shape 9"/>
          <p:cNvSpPr/>
          <p:nvPr/>
        </p:nvSpPr>
        <p:spPr>
          <a:xfrm>
            <a:off x="274320" y="3429000"/>
            <a:ext cx="4594860" cy="2377440"/>
          </a:xfrm>
          <a:prstGeom prst="roundRect">
            <a:avLst>
              <a:gd name="adj" fmla="val 3077"/>
            </a:avLst>
          </a:prstGeom>
          <a:solidFill>
            <a:srgbClr val="FFFFFF">
              <a:alpha val="90000"/>
            </a:srgbClr>
          </a:solidFill>
          <a:ln/>
        </p:spPr>
      </p:sp>
      <p:sp>
        <p:nvSpPr>
          <p:cNvPr id="12" name="Text 10"/>
          <p:cNvSpPr/>
          <p:nvPr/>
        </p:nvSpPr>
        <p:spPr>
          <a:xfrm>
            <a:off x="365760" y="35204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'Hepiniz Âdem'densiniz, Âdem de topraktandır' sözü neyi vurgular?</a:t>
            </a:r>
            <a:endParaRPr lang="en-US" sz="900" dirty="0"/>
          </a:p>
        </p:txBody>
      </p:sp>
      <p:sp>
        <p:nvSpPr>
          <p:cNvPr id="13" name="Text 11"/>
          <p:cNvSpPr/>
          <p:nvPr/>
        </p:nvSpPr>
        <p:spPr>
          <a:xfrm>
            <a:off x="365760" y="41605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İnsanların zayıf olduğunu</a:t>
            </a:r>
            <a:endParaRPr lang="en-US" sz="800" dirty="0"/>
          </a:p>
        </p:txBody>
      </p:sp>
      <p:sp>
        <p:nvSpPr>
          <p:cNvPr id="14" name="Text 12"/>
          <p:cNvSpPr/>
          <p:nvPr/>
        </p:nvSpPr>
        <p:spPr>
          <a:xfrm>
            <a:off x="365760" y="45445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Topraktan yaratılmanın önemini</a:t>
            </a:r>
            <a:endParaRPr lang="en-US" sz="800" dirty="0"/>
          </a:p>
        </p:txBody>
      </p:sp>
      <p:sp>
        <p:nvSpPr>
          <p:cNvPr id="15" name="Text 13"/>
          <p:cNvSpPr/>
          <p:nvPr/>
        </p:nvSpPr>
        <p:spPr>
          <a:xfrm>
            <a:off x="365760" y="49286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Bütün insanların aynı kökten geldiğini ve eşit olduğunu</a:t>
            </a:r>
            <a:endParaRPr lang="en-US" sz="800" dirty="0"/>
          </a:p>
        </p:txBody>
      </p:sp>
      <p:sp>
        <p:nvSpPr>
          <p:cNvPr id="16" name="Text 14"/>
          <p:cNvSpPr/>
          <p:nvPr/>
        </p:nvSpPr>
        <p:spPr>
          <a:xfrm>
            <a:off x="365760" y="53126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Tarım yapmanın önemini</a:t>
            </a:r>
            <a:endParaRPr lang="en-US" sz="800" dirty="0"/>
          </a:p>
        </p:txBody>
      </p:sp>
      <p:sp>
        <p:nvSpPr>
          <p:cNvPr id="17" name="Shape 15"/>
          <p:cNvSpPr/>
          <p:nvPr/>
        </p:nvSpPr>
        <p:spPr>
          <a:xfrm>
            <a:off x="274320" y="5943600"/>
            <a:ext cx="4594860" cy="2377440"/>
          </a:xfrm>
          <a:prstGeom prst="roundRect">
            <a:avLst>
              <a:gd name="adj" fmla="val 3077"/>
            </a:avLst>
          </a:prstGeom>
          <a:solidFill>
            <a:srgbClr val="FFFFFF">
              <a:alpha val="90000"/>
            </a:srgbClr>
          </a:solidFill>
          <a:ln/>
        </p:spPr>
      </p:sp>
      <p:sp>
        <p:nvSpPr>
          <p:cNvPr id="18" name="Text 16"/>
          <p:cNvSpPr/>
          <p:nvPr/>
        </p:nvSpPr>
        <p:spPr>
          <a:xfrm>
            <a:off x="365760" y="60350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Peygamber Efendimiz sallallahu aleyhi ve sellem hutbesi sonunda topluluğa ne sormuştur?</a:t>
            </a:r>
            <a:endParaRPr lang="en-US" sz="900" dirty="0"/>
          </a:p>
        </p:txBody>
      </p:sp>
      <p:sp>
        <p:nvSpPr>
          <p:cNvPr id="19" name="Text 17"/>
          <p:cNvSpPr/>
          <p:nvPr/>
        </p:nvSpPr>
        <p:spPr>
          <a:xfrm>
            <a:off x="365760" y="66751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'Anladınız mı?'</a:t>
            </a:r>
            <a:endParaRPr lang="en-US" sz="800" dirty="0"/>
          </a:p>
        </p:txBody>
      </p:sp>
      <p:sp>
        <p:nvSpPr>
          <p:cNvPr id="20" name="Text 18"/>
          <p:cNvSpPr/>
          <p:nvPr/>
        </p:nvSpPr>
        <p:spPr>
          <a:xfrm>
            <a:off x="365760" y="70591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'Tebliğ ettim mi?'</a:t>
            </a:r>
            <a:endParaRPr lang="en-US" sz="800" dirty="0"/>
          </a:p>
        </p:txBody>
      </p:sp>
      <p:sp>
        <p:nvSpPr>
          <p:cNvPr id="21" name="Text 19"/>
          <p:cNvSpPr/>
          <p:nvPr/>
        </p:nvSpPr>
        <p:spPr>
          <a:xfrm>
            <a:off x="365760" y="74432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'Kabul ettiniz mi?'</a:t>
            </a:r>
            <a:endParaRPr lang="en-US" sz="800" dirty="0"/>
          </a:p>
        </p:txBody>
      </p:sp>
      <p:sp>
        <p:nvSpPr>
          <p:cNvPr id="22" name="Text 20"/>
          <p:cNvSpPr/>
          <p:nvPr/>
        </p:nvSpPr>
        <p:spPr>
          <a:xfrm>
            <a:off x="365760" y="78272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'Hazır mısınız?'</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3716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
        <p:nvSpPr>
          <p:cNvPr id="5" name="Text 3"/>
          <p:cNvSpPr/>
          <p:nvPr/>
        </p:nvSpPr>
        <p:spPr>
          <a:xfrm>
            <a:off x="365760" y="2286000"/>
            <a:ext cx="4411980" cy="3657600"/>
          </a:xfrm>
          <a:prstGeom prst="rect">
            <a:avLst/>
          </a:prstGeom>
          <a:noFill/>
          <a:ln/>
        </p:spPr>
        <p:txBody>
          <a:bodyPr wrap="square"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Ey insanlar! Doğrusu Biz sizi bir erkek ve bir dişiden yarattık. Ve birbirinizle tanışmanız için sizi milletlere ve kabilelere ayırdık. Muhakkak ki Allah katında en değerliniz, en çok takva sahibi olanınızdır.</a:t>
            </a:r>
            <a:endParaRPr lang="en-US" sz="1500" dirty="0"/>
          </a:p>
        </p:txBody>
      </p:sp>
      <p:sp>
        <p:nvSpPr>
          <p:cNvPr id="6" name="Text 4"/>
          <p:cNvSpPr/>
          <p:nvPr/>
        </p:nvSpPr>
        <p:spPr>
          <a:xfrm>
            <a:off x="365760" y="6217920"/>
            <a:ext cx="441198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Hucurât Sûresi, 13. ayet-i kerime</a:t>
            </a:r>
            <a:endParaRPr lang="en-US" sz="1000" dirty="0"/>
          </a:p>
        </p:txBody>
      </p:sp>
      <p:sp>
        <p:nvSpPr>
          <p:cNvPr id="7" name="Text 5"/>
          <p:cNvSpPr/>
          <p:nvPr/>
        </p:nvSpPr>
        <p:spPr>
          <a:xfrm>
            <a:off x="0" y="68580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Duesuenelim</a:t>
            </a:r>
            <a:endParaRPr lang="en-US" sz="1800" dirty="0"/>
          </a:p>
        </p:txBody>
      </p:sp>
      <p:sp>
        <p:nvSpPr>
          <p:cNvPr id="4" name="Shape 2"/>
          <p:cNvSpPr/>
          <p:nvPr/>
        </p:nvSpPr>
        <p:spPr>
          <a:xfrm>
            <a:off x="274320" y="822960"/>
            <a:ext cx="4594860" cy="2194560"/>
          </a:xfrm>
          <a:prstGeom prst="roundRect">
            <a:avLst>
              <a:gd name="adj" fmla="val 3333"/>
            </a:avLst>
          </a:prstGeom>
          <a:solidFill>
            <a:srgbClr val="FCEAED"/>
          </a:solidFill>
          <a:ln/>
        </p:spPr>
      </p:sp>
      <p:sp>
        <p:nvSpPr>
          <p:cNvPr id="5" name="Text 3"/>
          <p:cNvSpPr/>
          <p:nvPr/>
        </p:nvSpPr>
        <p:spPr>
          <a:xfrm>
            <a:off x="411480" y="96012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731520" y="96012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Vedâ Hutbesi'ndeki hangi mesaj seni en çok etkiledi? Neden?</a:t>
            </a:r>
            <a:endParaRPr lang="en-US" sz="1100" dirty="0"/>
          </a:p>
        </p:txBody>
      </p:sp>
      <p:sp>
        <p:nvSpPr>
          <p:cNvPr id="7" name="Shape 5"/>
          <p:cNvSpPr/>
          <p:nvPr/>
        </p:nvSpPr>
        <p:spPr>
          <a:xfrm>
            <a:off x="274320" y="3200400"/>
            <a:ext cx="4594860" cy="2194560"/>
          </a:xfrm>
          <a:prstGeom prst="roundRect">
            <a:avLst>
              <a:gd name="adj" fmla="val 3333"/>
            </a:avLst>
          </a:prstGeom>
          <a:solidFill>
            <a:srgbClr val="FCEAED"/>
          </a:solidFill>
          <a:ln/>
        </p:spPr>
      </p:sp>
      <p:sp>
        <p:nvSpPr>
          <p:cNvPr id="8" name="Text 6"/>
          <p:cNvSpPr/>
          <p:nvPr/>
        </p:nvSpPr>
        <p:spPr>
          <a:xfrm>
            <a:off x="411480" y="333756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731520" y="333756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Günümüzde insanlar arasında hâlâ hangi tür ayrımcılıklar yaşanıyor? Bunları önlemek için neler yapılabilir?</a:t>
            </a:r>
            <a:endParaRPr lang="en-US" sz="1100" dirty="0"/>
          </a:p>
        </p:txBody>
      </p:sp>
      <p:sp>
        <p:nvSpPr>
          <p:cNvPr id="10" name="Shape 8"/>
          <p:cNvSpPr/>
          <p:nvPr/>
        </p:nvSpPr>
        <p:spPr>
          <a:xfrm>
            <a:off x="274320" y="5577840"/>
            <a:ext cx="4594860" cy="2194560"/>
          </a:xfrm>
          <a:prstGeom prst="roundRect">
            <a:avLst>
              <a:gd name="adj" fmla="val 3333"/>
            </a:avLst>
          </a:prstGeom>
          <a:solidFill>
            <a:srgbClr val="FCEAED"/>
          </a:solidFill>
          <a:ln/>
        </p:spPr>
      </p:sp>
      <p:sp>
        <p:nvSpPr>
          <p:cNvPr id="11" name="Text 9"/>
          <p:cNvSpPr/>
          <p:nvPr/>
        </p:nvSpPr>
        <p:spPr>
          <a:xfrm>
            <a:off x="411480" y="571500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731520" y="571500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Okulunda veya çevrende ayrımcılığa uğrayan birini gördüğünde nasıl tepki verirsin?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2286000"/>
            <a:ext cx="5143500" cy="914400"/>
          </a:xfrm>
          <a:prstGeom prst="rect">
            <a:avLst/>
          </a:prstGeom>
          <a:noFill/>
          <a:ln/>
        </p:spPr>
        <p:txBody>
          <a:bodyPr wrap="square" rtlCol="0" anchor="ctr"/>
          <a:lstStyle/>
          <a:p>
            <a:pPr algn="ctr" indent="0" marL="0">
              <a:buNone/>
            </a:pPr>
            <a:r>
              <a:rPr lang="en-US" sz="4400" dirty="0">
                <a:solidFill>
                  <a:srgbClr val="000000"/>
                </a:solidFill>
              </a:rPr>
              <a:t>❤️</a:t>
            </a:r>
            <a:endParaRPr lang="en-US" sz="4400" dirty="0"/>
          </a:p>
        </p:txBody>
      </p:sp>
      <p:sp>
        <p:nvSpPr>
          <p:cNvPr id="5" name="Text 3"/>
          <p:cNvSpPr/>
          <p:nvPr/>
        </p:nvSpPr>
        <p:spPr>
          <a:xfrm>
            <a:off x="0" y="3474720"/>
            <a:ext cx="5143500" cy="7315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Birlikte Iyilik Akademisi</a:t>
            </a:r>
            <a:endParaRPr lang="en-US" sz="2200" dirty="0"/>
          </a:p>
        </p:txBody>
      </p:sp>
      <p:sp>
        <p:nvSpPr>
          <p:cNvPr id="6" name="Text 4"/>
          <p:cNvSpPr/>
          <p:nvPr/>
        </p:nvSpPr>
        <p:spPr>
          <a:xfrm>
            <a:off x="0" y="4297680"/>
            <a:ext cx="5143500" cy="54864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Degerler Egitimi</a:t>
            </a:r>
            <a:endParaRPr lang="en-US" sz="1400" dirty="0"/>
          </a:p>
        </p:txBody>
      </p:sp>
      <p:sp>
        <p:nvSpPr>
          <p:cNvPr id="7" name="Text 5"/>
          <p:cNvSpPr/>
          <p:nvPr/>
        </p:nvSpPr>
        <p:spPr>
          <a:xfrm>
            <a:off x="0" y="5303520"/>
            <a:ext cx="5143500" cy="457200"/>
          </a:xfrm>
          <a:prstGeom prst="rect">
            <a:avLst/>
          </a:prstGeom>
          <a:noFill/>
          <a:ln/>
        </p:spPr>
        <p:txBody>
          <a:bodyPr wrap="square" rtlCol="0" anchor="ctr"/>
          <a:lstStyle/>
          <a:p>
            <a:pPr algn="ctr" indent="0" marL="0">
              <a:buNone/>
            </a:pPr>
            <a:r>
              <a:rPr lang="en-US" sz="1200" i="1" dirty="0">
                <a:solidFill>
                  <a:srgbClr val="FCEAED"/>
                </a:solidFill>
                <a:latin typeface="Calibri" pitchFamily="34" charset="0"/>
                <a:ea typeface="Calibri" pitchFamily="34" charset="-122"/>
                <a:cs typeface="Calibri" pitchFamily="34" charset="-120"/>
              </a:rPr>
              <a:t>Ders 25</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İnsan Hakları ve Eşitlik</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