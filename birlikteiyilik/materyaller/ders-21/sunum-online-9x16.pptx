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5143500" cy="9144000"/>
  <p:notesSz cx="9144000" cy="5143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548640"/>
            <a:ext cx="5143500" cy="457200"/>
          </a:xfrm>
          <a:prstGeom prst="rect">
            <a:avLst/>
          </a:prstGeom>
          <a:noFill/>
          <a:ln/>
        </p:spPr>
        <p:txBody>
          <a:bodyPr wrap="square" rtlCol="0" anchor="ctr"/>
          <a:lstStyle/>
          <a:p>
            <a:pPr algn="ctr" indent="0" marL="0">
              <a:buNone/>
            </a:pPr>
            <a:r>
              <a:rPr lang="en-US" sz="1100" dirty="0">
                <a:solidFill>
                  <a:srgbClr val="FCEAED"/>
                </a:solidFill>
                <a:latin typeface="Calibri" pitchFamily="34" charset="0"/>
                <a:ea typeface="Calibri" pitchFamily="34" charset="-122"/>
                <a:cs typeface="Calibri" pitchFamily="34" charset="-120"/>
              </a:rPr>
              <a:t>Birlikte Iyilik Akademisi</a:t>
            </a:r>
            <a:endParaRPr lang="en-US" sz="1100" dirty="0"/>
          </a:p>
        </p:txBody>
      </p:sp>
      <p:sp>
        <p:nvSpPr>
          <p:cNvPr id="5" name="Text 3"/>
          <p:cNvSpPr/>
          <p:nvPr/>
        </p:nvSpPr>
        <p:spPr>
          <a:xfrm>
            <a:off x="365760" y="2743200"/>
            <a:ext cx="4411980" cy="13716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Adalet ve Hak</a:t>
            </a:r>
            <a:endParaRPr lang="en-US" sz="2800" dirty="0"/>
          </a:p>
        </p:txBody>
      </p:sp>
      <p:sp>
        <p:nvSpPr>
          <p:cNvPr id="6" name="Text 4"/>
          <p:cNvSpPr/>
          <p:nvPr/>
        </p:nvSpPr>
        <p:spPr>
          <a:xfrm>
            <a:off x="457200" y="4206240"/>
            <a:ext cx="4229100" cy="548640"/>
          </a:xfrm>
          <a:prstGeom prst="rect">
            <a:avLst/>
          </a:prstGeom>
          <a:noFill/>
          <a:ln/>
        </p:spPr>
        <p:txBody>
          <a:bodyPr wrap="square" rtlCol="0" anchor="ctr"/>
          <a:lstStyle/>
          <a:p>
            <a:pPr algn="ctr" indent="0" marL="0">
              <a:buNone/>
            </a:pPr>
            <a:r>
              <a:rPr lang="en-US" sz="1500" i="1" dirty="0">
                <a:solidFill>
                  <a:srgbClr val="FCEAED"/>
                </a:solidFill>
                <a:latin typeface="Calibri" pitchFamily="34" charset="0"/>
                <a:ea typeface="Calibri" pitchFamily="34" charset="-122"/>
                <a:cs typeface="Calibri" pitchFamily="34" charset="-120"/>
              </a:rPr>
              <a:t>Fetihten Sonra Adaletle Muamele</a:t>
            </a:r>
            <a:endParaRPr lang="en-US" sz="1500" dirty="0"/>
          </a:p>
        </p:txBody>
      </p:sp>
      <p:sp>
        <p:nvSpPr>
          <p:cNvPr id="7" name="Text 5"/>
          <p:cNvSpPr/>
          <p:nvPr/>
        </p:nvSpPr>
        <p:spPr>
          <a:xfrm>
            <a:off x="0" y="8412480"/>
            <a:ext cx="514350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Degerler Egitimi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Buguen Ne Oegreneceegiz?</a:t>
            </a:r>
            <a:endParaRPr lang="en-US" sz="1800" dirty="0"/>
          </a:p>
        </p:txBody>
      </p:sp>
      <p:sp>
        <p:nvSpPr>
          <p:cNvPr id="4" name="Shape 2"/>
          <p:cNvSpPr/>
          <p:nvPr/>
        </p:nvSpPr>
        <p:spPr>
          <a:xfrm>
            <a:off x="274320" y="914400"/>
            <a:ext cx="365760" cy="365760"/>
          </a:xfrm>
          <a:prstGeom prst="ellipse">
            <a:avLst/>
          </a:prstGeom>
          <a:solidFill>
            <a:srgbClr val="C8102E"/>
          </a:solidFill>
          <a:ln/>
        </p:spPr>
      </p:sp>
      <p:sp>
        <p:nvSpPr>
          <p:cNvPr id="5" name="Text 3"/>
          <p:cNvSpPr/>
          <p:nvPr/>
        </p:nvSpPr>
        <p:spPr>
          <a:xfrm>
            <a:off x="274320" y="91440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777240" y="82296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Hayber'in fetih sürecini ve Hz. Ali radıyallahu anh'ın kahramanlığını öğrenir.</a:t>
            </a:r>
            <a:endParaRPr lang="en-US" sz="1200" dirty="0"/>
          </a:p>
        </p:txBody>
      </p:sp>
      <p:sp>
        <p:nvSpPr>
          <p:cNvPr id="7" name="Shape 5"/>
          <p:cNvSpPr/>
          <p:nvPr/>
        </p:nvSpPr>
        <p:spPr>
          <a:xfrm>
            <a:off x="274320" y="1874520"/>
            <a:ext cx="365760" cy="365760"/>
          </a:xfrm>
          <a:prstGeom prst="ellipse">
            <a:avLst/>
          </a:prstGeom>
          <a:solidFill>
            <a:srgbClr val="C8102E"/>
          </a:solidFill>
          <a:ln/>
        </p:spPr>
      </p:sp>
      <p:sp>
        <p:nvSpPr>
          <p:cNvPr id="8" name="Text 6"/>
          <p:cNvSpPr/>
          <p:nvPr/>
        </p:nvSpPr>
        <p:spPr>
          <a:xfrm>
            <a:off x="274320" y="187452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777240" y="178308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Fetih sonrası adaletle muamelenin önemini kavrar.</a:t>
            </a:r>
            <a:endParaRPr lang="en-US" sz="1200" dirty="0"/>
          </a:p>
        </p:txBody>
      </p:sp>
      <p:sp>
        <p:nvSpPr>
          <p:cNvPr id="10" name="Shape 8"/>
          <p:cNvSpPr/>
          <p:nvPr/>
        </p:nvSpPr>
        <p:spPr>
          <a:xfrm>
            <a:off x="274320" y="2834640"/>
            <a:ext cx="365760" cy="365760"/>
          </a:xfrm>
          <a:prstGeom prst="ellipse">
            <a:avLst/>
          </a:prstGeom>
          <a:solidFill>
            <a:srgbClr val="C8102E"/>
          </a:solidFill>
          <a:ln/>
        </p:spPr>
      </p:sp>
      <p:sp>
        <p:nvSpPr>
          <p:cNvPr id="11" name="Text 9"/>
          <p:cNvSpPr/>
          <p:nvPr/>
        </p:nvSpPr>
        <p:spPr>
          <a:xfrm>
            <a:off x="274320" y="283464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777240" y="274320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Güçlüyken bile adaletten ayrılmamanın İslâmî bir değer olduğunu anlar.</a:t>
            </a:r>
            <a:endParaRPr lang="en-US" sz="1200" dirty="0"/>
          </a:p>
        </p:txBody>
      </p:sp>
      <p:sp>
        <p:nvSpPr>
          <p:cNvPr id="13" name="Shape 11"/>
          <p:cNvSpPr/>
          <p:nvPr/>
        </p:nvSpPr>
        <p:spPr>
          <a:xfrm>
            <a:off x="274320" y="3794760"/>
            <a:ext cx="365760" cy="365760"/>
          </a:xfrm>
          <a:prstGeom prst="ellipse">
            <a:avLst/>
          </a:prstGeom>
          <a:solidFill>
            <a:srgbClr val="C8102E"/>
          </a:solidFill>
          <a:ln/>
        </p:spPr>
      </p:sp>
      <p:sp>
        <p:nvSpPr>
          <p:cNvPr id="14" name="Text 12"/>
          <p:cNvSpPr/>
          <p:nvPr/>
        </p:nvSpPr>
        <p:spPr>
          <a:xfrm>
            <a:off x="274320" y="379476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777240" y="370332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Hak ve adalet kavramlarını günlük hayatına uygulama bilinci kazanır.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Anahtar Kavramlar</a:t>
            </a:r>
            <a:endParaRPr lang="en-US" sz="1800" dirty="0"/>
          </a:p>
        </p:txBody>
      </p:sp>
      <p:sp>
        <p:nvSpPr>
          <p:cNvPr id="4" name="Shape 2"/>
          <p:cNvSpPr/>
          <p:nvPr/>
        </p:nvSpPr>
        <p:spPr>
          <a:xfrm>
            <a:off x="274320" y="822960"/>
            <a:ext cx="2228850" cy="2377440"/>
          </a:xfrm>
          <a:prstGeom prst="roundRect">
            <a:avLst>
              <a:gd name="adj" fmla="val 3282"/>
            </a:avLst>
          </a:prstGeom>
          <a:solidFill>
            <a:srgbClr val="FCEAED"/>
          </a:solidFill>
          <a:ln/>
        </p:spPr>
      </p:sp>
      <p:sp>
        <p:nvSpPr>
          <p:cNvPr id="5" name="Text 3"/>
          <p:cNvSpPr/>
          <p:nvPr/>
        </p:nvSpPr>
        <p:spPr>
          <a:xfrm>
            <a:off x="36576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Adalet</a:t>
            </a:r>
            <a:endParaRPr lang="en-US" sz="1100" dirty="0"/>
          </a:p>
        </p:txBody>
      </p:sp>
      <p:sp>
        <p:nvSpPr>
          <p:cNvPr id="6" name="Text 4"/>
          <p:cNvSpPr/>
          <p:nvPr/>
        </p:nvSpPr>
        <p:spPr>
          <a:xfrm>
            <a:off x="36576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Herkese hak ettiğini vermek, haksızlık yapmamak ve tarafsız davranmak.</a:t>
            </a:r>
            <a:endParaRPr lang="en-US" sz="900" dirty="0"/>
          </a:p>
        </p:txBody>
      </p:sp>
      <p:sp>
        <p:nvSpPr>
          <p:cNvPr id="7" name="Shape 5"/>
          <p:cNvSpPr/>
          <p:nvPr/>
        </p:nvSpPr>
        <p:spPr>
          <a:xfrm>
            <a:off x="2640330" y="822960"/>
            <a:ext cx="2228850" cy="2377440"/>
          </a:xfrm>
          <a:prstGeom prst="roundRect">
            <a:avLst>
              <a:gd name="adj" fmla="val 3282"/>
            </a:avLst>
          </a:prstGeom>
          <a:solidFill>
            <a:srgbClr val="FCEAED"/>
          </a:solidFill>
          <a:ln/>
        </p:spPr>
      </p:sp>
      <p:sp>
        <p:nvSpPr>
          <p:cNvPr id="8" name="Text 6"/>
          <p:cNvSpPr/>
          <p:nvPr/>
        </p:nvSpPr>
        <p:spPr>
          <a:xfrm>
            <a:off x="273177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Hak</a:t>
            </a:r>
            <a:endParaRPr lang="en-US" sz="1100" dirty="0"/>
          </a:p>
        </p:txBody>
      </p:sp>
      <p:sp>
        <p:nvSpPr>
          <p:cNvPr id="9" name="Text 7"/>
          <p:cNvSpPr/>
          <p:nvPr/>
        </p:nvSpPr>
        <p:spPr>
          <a:xfrm>
            <a:off x="273177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Bir kişinin doğuştan sahip olduğu veya hukuki olarak tanınan meşru talepleri.</a:t>
            </a:r>
            <a:endParaRPr lang="en-US" sz="900" dirty="0"/>
          </a:p>
        </p:txBody>
      </p:sp>
      <p:sp>
        <p:nvSpPr>
          <p:cNvPr id="10" name="Shape 8"/>
          <p:cNvSpPr/>
          <p:nvPr/>
        </p:nvSpPr>
        <p:spPr>
          <a:xfrm>
            <a:off x="274320" y="3337560"/>
            <a:ext cx="2228850" cy="2377440"/>
          </a:xfrm>
          <a:prstGeom prst="roundRect">
            <a:avLst>
              <a:gd name="adj" fmla="val 3282"/>
            </a:avLst>
          </a:prstGeom>
          <a:solidFill>
            <a:srgbClr val="FCEAED"/>
          </a:solidFill>
          <a:ln/>
        </p:spPr>
      </p:sp>
      <p:sp>
        <p:nvSpPr>
          <p:cNvPr id="11" name="Text 9"/>
          <p:cNvSpPr/>
          <p:nvPr/>
        </p:nvSpPr>
        <p:spPr>
          <a:xfrm>
            <a:off x="36576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Merhamet</a:t>
            </a:r>
            <a:endParaRPr lang="en-US" sz="1100" dirty="0"/>
          </a:p>
        </p:txBody>
      </p:sp>
      <p:sp>
        <p:nvSpPr>
          <p:cNvPr id="12" name="Text 10"/>
          <p:cNvSpPr/>
          <p:nvPr/>
        </p:nvSpPr>
        <p:spPr>
          <a:xfrm>
            <a:off x="36576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Güçlüyken bile karşıdakine acıma ve şefkat gösterme.</a:t>
            </a:r>
            <a:endParaRPr lang="en-US" sz="900" dirty="0"/>
          </a:p>
        </p:txBody>
      </p:sp>
      <p:sp>
        <p:nvSpPr>
          <p:cNvPr id="13" name="Shape 11"/>
          <p:cNvSpPr/>
          <p:nvPr/>
        </p:nvSpPr>
        <p:spPr>
          <a:xfrm>
            <a:off x="2640330" y="3337560"/>
            <a:ext cx="2228850" cy="2377440"/>
          </a:xfrm>
          <a:prstGeom prst="roundRect">
            <a:avLst>
              <a:gd name="adj" fmla="val 3282"/>
            </a:avLst>
          </a:prstGeom>
          <a:solidFill>
            <a:srgbClr val="FCEAED"/>
          </a:solidFill>
          <a:ln/>
        </p:spPr>
      </p:sp>
      <p:sp>
        <p:nvSpPr>
          <p:cNvPr id="14" name="Text 12"/>
          <p:cNvSpPr/>
          <p:nvPr/>
        </p:nvSpPr>
        <p:spPr>
          <a:xfrm>
            <a:off x="273177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Kahramanlık</a:t>
            </a:r>
            <a:endParaRPr lang="en-US" sz="1100" dirty="0"/>
          </a:p>
        </p:txBody>
      </p:sp>
      <p:sp>
        <p:nvSpPr>
          <p:cNvPr id="15" name="Text 13"/>
          <p:cNvSpPr/>
          <p:nvPr/>
        </p:nvSpPr>
        <p:spPr>
          <a:xfrm>
            <a:off x="273177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Doğru bildiği şey için cesaretle mücadele etme ve fedakârlık gösterme.</a:t>
            </a:r>
            <a:endParaRPr lang="en-US" sz="900" dirty="0"/>
          </a:p>
        </p:txBody>
      </p:sp>
      <p:sp>
        <p:nvSpPr>
          <p:cNvPr id="16" name="Shape 14"/>
          <p:cNvSpPr/>
          <p:nvPr/>
        </p:nvSpPr>
        <p:spPr>
          <a:xfrm>
            <a:off x="274320" y="5852160"/>
            <a:ext cx="2228850" cy="2377440"/>
          </a:xfrm>
          <a:prstGeom prst="roundRect">
            <a:avLst>
              <a:gd name="adj" fmla="val 3282"/>
            </a:avLst>
          </a:prstGeom>
          <a:solidFill>
            <a:srgbClr val="FCEAED"/>
          </a:solidFill>
          <a:ln/>
        </p:spPr>
      </p:sp>
      <p:sp>
        <p:nvSpPr>
          <p:cNvPr id="17" name="Text 15"/>
          <p:cNvSpPr/>
          <p:nvPr/>
        </p:nvSpPr>
        <p:spPr>
          <a:xfrm>
            <a:off x="36576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Emanet</a:t>
            </a:r>
            <a:endParaRPr lang="en-US" sz="1100" dirty="0"/>
          </a:p>
        </p:txBody>
      </p:sp>
      <p:sp>
        <p:nvSpPr>
          <p:cNvPr id="18" name="Text 16"/>
          <p:cNvSpPr/>
          <p:nvPr/>
        </p:nvSpPr>
        <p:spPr>
          <a:xfrm>
            <a:off x="36576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Üstlenilen sorumluluğu hakkıyla yerine getirme ve güvenilir olma.</a:t>
            </a:r>
            <a:endParaRPr lang="en-US" sz="900" dirty="0"/>
          </a:p>
        </p:txBody>
      </p:sp>
      <p:sp>
        <p:nvSpPr>
          <p:cNvPr id="19" name="Shape 17"/>
          <p:cNvSpPr/>
          <p:nvPr/>
        </p:nvSpPr>
        <p:spPr>
          <a:xfrm>
            <a:off x="2640330" y="5852160"/>
            <a:ext cx="2228850" cy="2377440"/>
          </a:xfrm>
          <a:prstGeom prst="roundRect">
            <a:avLst>
              <a:gd name="adj" fmla="val 3282"/>
            </a:avLst>
          </a:prstGeom>
          <a:solidFill>
            <a:srgbClr val="FCEAED"/>
          </a:solidFill>
          <a:ln/>
        </p:spPr>
      </p:sp>
      <p:sp>
        <p:nvSpPr>
          <p:cNvPr id="20" name="Text 18"/>
          <p:cNvSpPr/>
          <p:nvPr/>
        </p:nvSpPr>
        <p:spPr>
          <a:xfrm>
            <a:off x="273177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Tarafsızlık</a:t>
            </a:r>
            <a:endParaRPr lang="en-US" sz="1100" dirty="0"/>
          </a:p>
        </p:txBody>
      </p:sp>
      <p:sp>
        <p:nvSpPr>
          <p:cNvPr id="21" name="Text 19"/>
          <p:cNvSpPr/>
          <p:nvPr/>
        </p:nvSpPr>
        <p:spPr>
          <a:xfrm>
            <a:off x="273177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Karar verirken kişisel çıkar veya duygulardan etkilenmeden objektif davranma.</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Hayber'in Fethi ve Adalet</a:t>
            </a:r>
            <a:endParaRPr lang="en-US" sz="1800" dirty="0"/>
          </a:p>
        </p:txBody>
      </p:sp>
      <p:sp>
        <p:nvSpPr>
          <p:cNvPr id="4" name="Text 2"/>
          <p:cNvSpPr/>
          <p:nvPr/>
        </p:nvSpPr>
        <p:spPr>
          <a:xfrm>
            <a:off x="274320" y="822960"/>
            <a:ext cx="4594860" cy="640080"/>
          </a:xfrm>
          <a:prstGeom prst="rect">
            <a:avLst/>
          </a:prstGeom>
          <a:noFill/>
          <a:ln/>
        </p:spPr>
        <p:txBody>
          <a:bodyPr wrap="square" rtlCol="0" anchor="ctr"/>
          <a:lstStyle/>
          <a:p>
            <a:pPr algn="l" indent="0" marL="0">
              <a:buNone/>
            </a:pPr>
            <a:r>
              <a:rPr lang="en-US" sz="1000" i="1" dirty="0">
                <a:solidFill>
                  <a:srgbClr val="666666"/>
                </a:solidFill>
                <a:latin typeface="Calibri" pitchFamily="34" charset="0"/>
                <a:ea typeface="Calibri" pitchFamily="34" charset="-122"/>
                <a:cs typeface="Calibri" pitchFamily="34" charset="-120"/>
              </a:rPr>
              <a:t>Hayber, Medine'nin kuzeyinde güçlü kalelere sahip bir Yahudi yerleşim merkeziydi. Burada yaşayan bazı kabileler Müslümanlara karşı sürekli düşmanlık ve komplo faaliyetleri yürütüyordu. Hicret'in yedinci yılında Peygamber Efendimiz sallallahu aleyhi ve sellem Hayber üzerine sefer düzenledi.</a:t>
            </a:r>
            <a:endParaRPr lang="en-US" sz="1000" dirty="0"/>
          </a:p>
        </p:txBody>
      </p:sp>
      <p:sp>
        <p:nvSpPr>
          <p:cNvPr id="5" name="Text 3"/>
          <p:cNvSpPr/>
          <p:nvPr/>
        </p:nvSpPr>
        <p:spPr>
          <a:xfrm>
            <a:off x="274320" y="164592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Hayber kalelerinin fethi kolay olmadı. Kaleler çok sağlamdı ve günlerce süren muhasaradan sonra bile bazıları düşürülememişti. Peygamber Efendimiz sallallahu aleyhi ve sellem bir gün 'Yarın sancağı öyle bir kişiye vereceğim ki Allah ve Resûlü onu sever, o da Allah ve Resûlünü sever. Allah fethi onun eliyle müyesser kılacaktır' buyurdu. Herkes bu müjdenin kime verileceğini merak etti.</a:t>
            </a:r>
            <a:endParaRPr lang="en-US" sz="1000" dirty="0"/>
          </a:p>
        </p:txBody>
      </p:sp>
      <p:sp>
        <p:nvSpPr>
          <p:cNvPr id="6" name="Text 4"/>
          <p:cNvSpPr/>
          <p:nvPr/>
        </p:nvSpPr>
        <p:spPr>
          <a:xfrm>
            <a:off x="274320" y="365760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Ertesi gün sancak Hz. Ali radıyallahu anh'a verildi. Hz. Ali radıyallahu anh büyük bir kahramanlıkla savaştı ve rivayete göre kalenin ağır kapısını söküp kalkan olarak kullandı. Onun cesareti ve imanıyla Hayber kalesi fethedildi. Bu zafer, îmânın ve kararlılığın gücünü gösteren unutulmaz bir olaydır.</a:t>
            </a:r>
            <a:endParaRPr lang="en-US" sz="1000" dirty="0"/>
          </a:p>
        </p:txBody>
      </p:sp>
      <p:sp>
        <p:nvSpPr>
          <p:cNvPr id="7" name="Text 5"/>
          <p:cNvSpPr/>
          <p:nvPr/>
        </p:nvSpPr>
        <p:spPr>
          <a:xfrm>
            <a:off x="274320" y="566928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Fetihten sonra Peygamber Efendimiz sallallahu aleyhi ve sellem, Hayber halkına adaletle muamele etti. Topraklarını işlemeye devam etmelerine izin verdi ve üründen belirli bir pay karşılığında yerlerinde kalmalarını sağladı. Kimseye zulmedilmedi, kimsenin hakkı yenmedi. Bu uygulama, İslâm'ın fetih sonrası adalet anlayışının en güzel örneklerinden biridir.</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731520"/>
            <a:ext cx="914400" cy="1097280"/>
          </a:xfrm>
          <a:prstGeom prst="rect">
            <a:avLst/>
          </a:prstGeom>
          <a:noFill/>
          <a:ln/>
        </p:spPr>
        <p:txBody>
          <a:bodyPr wrap="square" rtlCol="0" anchor="ctr"/>
          <a:lstStyle/>
          <a:p>
            <a:pPr indent="0" marL="0">
              <a:buNone/>
            </a:pPr>
            <a:r>
              <a:rPr lang="en-US" sz="7200" b="1" dirty="0">
                <a:solidFill>
                  <a:srgbClr val="C8102E"/>
                </a:solidFill>
                <a:latin typeface="Calibri" pitchFamily="34" charset="0"/>
                <a:ea typeface="Calibri" pitchFamily="34" charset="-122"/>
                <a:cs typeface="Calibri" pitchFamily="34" charset="-120"/>
              </a:rPr>
              <a:t>“</a:t>
            </a:r>
            <a:endParaRPr lang="en-US" sz="7200" dirty="0"/>
          </a:p>
        </p:txBody>
      </p:sp>
      <p:sp>
        <p:nvSpPr>
          <p:cNvPr id="4" name="Shape 2"/>
          <p:cNvSpPr/>
          <p:nvPr/>
        </p:nvSpPr>
        <p:spPr>
          <a:xfrm>
            <a:off x="822960" y="1188720"/>
            <a:ext cx="45720" cy="4114800"/>
          </a:xfrm>
          <a:prstGeom prst="rect">
            <a:avLst/>
          </a:prstGeom>
          <a:solidFill>
            <a:srgbClr val="C8102E"/>
          </a:solidFill>
          <a:ln/>
        </p:spPr>
      </p:sp>
      <p:sp>
        <p:nvSpPr>
          <p:cNvPr id="5" name="Text 3"/>
          <p:cNvSpPr/>
          <p:nvPr/>
        </p:nvSpPr>
        <p:spPr>
          <a:xfrm>
            <a:off x="1051560" y="1188720"/>
            <a:ext cx="3680460" cy="4114800"/>
          </a:xfrm>
          <a:prstGeom prst="rect">
            <a:avLst/>
          </a:prstGeom>
          <a:noFill/>
          <a:ln/>
        </p:spPr>
        <p:txBody>
          <a:bodyPr wrap="square" rtlCol="0" anchor="ctr"/>
          <a:lstStyle/>
          <a:p>
            <a:pPr algn="l" indent="0" marL="0">
              <a:buNone/>
            </a:pPr>
            <a:r>
              <a:rPr lang="en-US" sz="1400" i="1" dirty="0">
                <a:solidFill>
                  <a:srgbClr val="222222"/>
                </a:solidFill>
                <a:latin typeface="Calibri" pitchFamily="34" charset="0"/>
                <a:ea typeface="Calibri" pitchFamily="34" charset="-122"/>
                <a:cs typeface="Calibri" pitchFamily="34" charset="-120"/>
              </a:rPr>
              <a:t>Yarın sancağı öyle bir kişiye vereceğim ki Allah ve Resûlü onu sever, o da Allah ve Resûlünü sever.</a:t>
            </a:r>
            <a:endParaRPr lang="en-US" sz="1400" dirty="0"/>
          </a:p>
        </p:txBody>
      </p:sp>
      <p:sp>
        <p:nvSpPr>
          <p:cNvPr id="6" name="Text 4"/>
          <p:cNvSpPr/>
          <p:nvPr/>
        </p:nvSpPr>
        <p:spPr>
          <a:xfrm>
            <a:off x="1051560" y="5669280"/>
            <a:ext cx="3680460" cy="457200"/>
          </a:xfrm>
          <a:prstGeom prst="rect">
            <a:avLst/>
          </a:prstGeom>
          <a:noFill/>
          <a:ln/>
        </p:spPr>
        <p:txBody>
          <a:bodyPr wrap="square"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 Peygamber Efendimiz sallallahu aleyhi ve sellem</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Shape 1"/>
          <p:cNvSpPr/>
          <p:nvPr/>
        </p:nvSpPr>
        <p:spPr>
          <a:xfrm>
            <a:off x="1657350" y="3200400"/>
            <a:ext cx="1828800" cy="27432"/>
          </a:xfrm>
          <a:prstGeom prst="rect">
            <a:avLst/>
          </a:prstGeom>
          <a:solidFill>
            <a:srgbClr val="C8102E"/>
          </a:solidFill>
          <a:ln/>
        </p:spPr>
      </p:sp>
      <p:sp>
        <p:nvSpPr>
          <p:cNvPr id="4" name="Text 2"/>
          <p:cNvSpPr/>
          <p:nvPr/>
        </p:nvSpPr>
        <p:spPr>
          <a:xfrm>
            <a:off x="457200" y="3474720"/>
            <a:ext cx="4229100" cy="3200400"/>
          </a:xfrm>
          <a:prstGeom prst="rect">
            <a:avLst/>
          </a:prstGeom>
          <a:noFill/>
          <a:ln/>
        </p:spPr>
        <p:txBody>
          <a:bodyPr wrap="square" rtlCol="0" anchor="ctr"/>
          <a:lstStyle/>
          <a:p>
            <a:pPr algn="ctr" indent="0" marL="0">
              <a:buNone/>
            </a:pPr>
            <a:r>
              <a:rPr lang="en-US" sz="1300" i="1" dirty="0">
                <a:solidFill>
                  <a:srgbClr val="8B0000"/>
                </a:solidFill>
                <a:latin typeface="Calibri" pitchFamily="34" charset="0"/>
                <a:ea typeface="Calibri" pitchFamily="34" charset="-122"/>
                <a:cs typeface="Calibri" pitchFamily="34" charset="-120"/>
              </a:rPr>
              <a:t>Ey iman edenler! Adaleti titizlikle ayakta tutan, kendiniz, ana-babanız ve akrabanız aleyhinde de olsa Allah için şahitlik eden kimseler olun.</a:t>
            </a:r>
            <a:endParaRPr lang="en-US" sz="1300" dirty="0"/>
          </a:p>
        </p:txBody>
      </p:sp>
      <p:sp>
        <p:nvSpPr>
          <p:cNvPr id="5" name="Shape 3"/>
          <p:cNvSpPr/>
          <p:nvPr/>
        </p:nvSpPr>
        <p:spPr>
          <a:xfrm>
            <a:off x="1657350" y="6858000"/>
            <a:ext cx="1828800" cy="27432"/>
          </a:xfrm>
          <a:prstGeom prst="rect">
            <a:avLst/>
          </a:prstGeom>
          <a:solidFill>
            <a:srgbClr val="C8102E"/>
          </a:solidFill>
          <a:ln/>
        </p:spPr>
      </p:sp>
      <p:sp>
        <p:nvSpPr>
          <p:cNvPr id="6" name="Text 4"/>
          <p:cNvSpPr/>
          <p:nvPr/>
        </p:nvSpPr>
        <p:spPr>
          <a:xfrm>
            <a:off x="457200" y="7132320"/>
            <a:ext cx="4229100" cy="457200"/>
          </a:xfrm>
          <a:prstGeom prst="rect">
            <a:avLst/>
          </a:prstGeom>
          <a:noFill/>
          <a:ln/>
        </p:spPr>
        <p:txBody>
          <a:bodyPr wrap="square"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Nisâ Sûresi, 135. âyet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Degerin Boyutlari</a:t>
            </a:r>
            <a:endParaRPr lang="en-US" sz="1800" dirty="0"/>
          </a:p>
        </p:txBody>
      </p:sp>
      <p:sp>
        <p:nvSpPr>
          <p:cNvPr id="4" name="Shape 2"/>
          <p:cNvSpPr/>
          <p:nvPr/>
        </p:nvSpPr>
        <p:spPr>
          <a:xfrm>
            <a:off x="274320" y="822960"/>
            <a:ext cx="2228850" cy="3474720"/>
          </a:xfrm>
          <a:prstGeom prst="roundRect">
            <a:avLst>
              <a:gd name="adj" fmla="val 3282"/>
            </a:avLst>
          </a:prstGeom>
          <a:solidFill>
            <a:srgbClr val="FCEAED"/>
          </a:solidFill>
          <a:ln/>
        </p:spPr>
      </p:sp>
      <p:sp>
        <p:nvSpPr>
          <p:cNvPr id="5" name="Text 3"/>
          <p:cNvSpPr/>
          <p:nvPr/>
        </p:nvSpPr>
        <p:spPr>
          <a:xfrm>
            <a:off x="27432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34747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Bireysel Adalet</a:t>
            </a:r>
            <a:endParaRPr lang="en-US" sz="1100" dirty="0"/>
          </a:p>
        </p:txBody>
      </p:sp>
      <p:sp>
        <p:nvSpPr>
          <p:cNvPr id="7" name="Text 5"/>
          <p:cNvSpPr/>
          <p:nvPr/>
        </p:nvSpPr>
        <p:spPr>
          <a:xfrm>
            <a:off x="34747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Kendi hayatında herkese hakkını verme.</a:t>
            </a:r>
            <a:endParaRPr lang="en-US" sz="800" dirty="0"/>
          </a:p>
        </p:txBody>
      </p:sp>
      <p:sp>
        <p:nvSpPr>
          <p:cNvPr id="8" name="Shape 6"/>
          <p:cNvSpPr/>
          <p:nvPr/>
        </p:nvSpPr>
        <p:spPr>
          <a:xfrm>
            <a:off x="2640330" y="822960"/>
            <a:ext cx="2228850" cy="3474720"/>
          </a:xfrm>
          <a:prstGeom prst="roundRect">
            <a:avLst>
              <a:gd name="adj" fmla="val 3282"/>
            </a:avLst>
          </a:prstGeom>
          <a:solidFill>
            <a:srgbClr val="FCEAED"/>
          </a:solidFill>
          <a:ln/>
        </p:spPr>
      </p:sp>
      <p:sp>
        <p:nvSpPr>
          <p:cNvPr id="9" name="Text 7"/>
          <p:cNvSpPr/>
          <p:nvPr/>
        </p:nvSpPr>
        <p:spPr>
          <a:xfrm>
            <a:off x="264033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271348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Toplumsal Adalet</a:t>
            </a:r>
            <a:endParaRPr lang="en-US" sz="1100" dirty="0"/>
          </a:p>
        </p:txBody>
      </p:sp>
      <p:sp>
        <p:nvSpPr>
          <p:cNvPr id="11" name="Text 9"/>
          <p:cNvSpPr/>
          <p:nvPr/>
        </p:nvSpPr>
        <p:spPr>
          <a:xfrm>
            <a:off x="271348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Toplumda zayıfların haklarını koruma ve haksızlığa karşı durma.</a:t>
            </a:r>
            <a:endParaRPr lang="en-US" sz="800" dirty="0"/>
          </a:p>
        </p:txBody>
      </p:sp>
      <p:sp>
        <p:nvSpPr>
          <p:cNvPr id="12" name="Shape 10"/>
          <p:cNvSpPr/>
          <p:nvPr/>
        </p:nvSpPr>
        <p:spPr>
          <a:xfrm>
            <a:off x="274320" y="4434840"/>
            <a:ext cx="2228850" cy="3474720"/>
          </a:xfrm>
          <a:prstGeom prst="roundRect">
            <a:avLst>
              <a:gd name="adj" fmla="val 3282"/>
            </a:avLst>
          </a:prstGeom>
          <a:solidFill>
            <a:srgbClr val="FCEAED"/>
          </a:solidFill>
          <a:ln/>
        </p:spPr>
      </p:sp>
      <p:sp>
        <p:nvSpPr>
          <p:cNvPr id="13" name="Text 11"/>
          <p:cNvSpPr/>
          <p:nvPr/>
        </p:nvSpPr>
        <p:spPr>
          <a:xfrm>
            <a:off x="27432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34747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Güç ve Sorumluluk</a:t>
            </a:r>
            <a:endParaRPr lang="en-US" sz="1100" dirty="0"/>
          </a:p>
        </p:txBody>
      </p:sp>
      <p:sp>
        <p:nvSpPr>
          <p:cNvPr id="15" name="Text 13"/>
          <p:cNvSpPr/>
          <p:nvPr/>
        </p:nvSpPr>
        <p:spPr>
          <a:xfrm>
            <a:off x="34747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Güçlü konumdayken adaletli davranma sorumluluğu.</a:t>
            </a:r>
            <a:endParaRPr lang="en-US" sz="800" dirty="0"/>
          </a:p>
        </p:txBody>
      </p:sp>
      <p:sp>
        <p:nvSpPr>
          <p:cNvPr id="16" name="Shape 14"/>
          <p:cNvSpPr/>
          <p:nvPr/>
        </p:nvSpPr>
        <p:spPr>
          <a:xfrm>
            <a:off x="2640330" y="4434840"/>
            <a:ext cx="2228850" cy="3474720"/>
          </a:xfrm>
          <a:prstGeom prst="roundRect">
            <a:avLst>
              <a:gd name="adj" fmla="val 3282"/>
            </a:avLst>
          </a:prstGeom>
          <a:solidFill>
            <a:srgbClr val="FCEAED"/>
          </a:solidFill>
          <a:ln/>
        </p:spPr>
      </p:sp>
      <p:sp>
        <p:nvSpPr>
          <p:cNvPr id="17" name="Text 15"/>
          <p:cNvSpPr/>
          <p:nvPr/>
        </p:nvSpPr>
        <p:spPr>
          <a:xfrm>
            <a:off x="264033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271348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Cesaret</a:t>
            </a:r>
            <a:endParaRPr lang="en-US" sz="1100" dirty="0"/>
          </a:p>
        </p:txBody>
      </p:sp>
      <p:sp>
        <p:nvSpPr>
          <p:cNvPr id="19" name="Text 17"/>
          <p:cNvSpPr/>
          <p:nvPr/>
        </p:nvSpPr>
        <p:spPr>
          <a:xfrm>
            <a:off x="271348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Doğru olan için cesaretle öne çıkma.</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Sınıf Başkanlığı</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Sınıf başkanı olarak seçildin. En yakın arkadaşın senden okul gezisi listesine kendi adını eklemeni istiyor ama listede yer sınırlı ve sırası gelmemiş. Eğer eklemezsen kırılacak.</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Arkadaşıma durumu açıklar, sıranın herkese eşit uygulanması gerektiğini söyle...</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Kimse fark etmez diye arkadaşımı listeye eklerim.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Listeyi öğretmene veririm ama arkadaşımın adını eklenmesini öğretmene rica ed...</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Kopya Meselesi</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Sınavda yanında oturan arkadaşın senden kopya istiyor. Eğer vermezsen sınavdan kalacak ve çok üzülecek. Ama kopya vermenin haksızlık olduğunu da biliyorsun.</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Kopya vermem, ama sınavdan sonra çalışmasına yardım edeceğimi söylerim.</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Sadece bir iki soruyu gösteririm, zaten herkes yapıyor.</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Hiçbir şey söylemeden görmezden gelirim.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Kayıp Cüzdan</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Okul koridorunda içinde para olan bir cüzdan buldun. Kimsenin görmediğinden eminsin. Cüzdanın kime ait olduğunu bilmiyorsun ama içinde öğrenci kimlik kartı var.</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Kimlik kartındaki isme bakarak sahibini bulurum veya idarecilere teslim ederim.</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Parayı alır, cüzdanı yerine bırakırım.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Cüzdanı olduğu yerde bırakırım, benim sorunum değil.</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Oyun Hakemliği</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Teneffüste futbol oynuyorsunuz ve sen hakemsin. Kendi takımından bir arkadaşın rakibe faul yaptı ama kimse görmedi. Eğer faul verirsen kendi takımın dezavantaja düşecek.</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Faulü veririm çünkü hakemlik adaletli olmayı gerektirir.</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Görmezden gelirim, kimse fark etmedi zaten.</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Oyuncuya gizlice bir dahakine dikkatli olmasını söylerim ama faul vermem.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82880"/>
            <a:ext cx="514350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Quiz</a:t>
            </a:r>
            <a:endParaRPr lang="en-US" sz="2000" dirty="0"/>
          </a:p>
        </p:txBody>
      </p:sp>
      <p:sp>
        <p:nvSpPr>
          <p:cNvPr id="5" name="Shape 3"/>
          <p:cNvSpPr/>
          <p:nvPr/>
        </p:nvSpPr>
        <p:spPr>
          <a:xfrm>
            <a:off x="274320" y="914400"/>
            <a:ext cx="4594860" cy="2377440"/>
          </a:xfrm>
          <a:prstGeom prst="roundRect">
            <a:avLst>
              <a:gd name="adj" fmla="val 3077"/>
            </a:avLst>
          </a:prstGeom>
          <a:solidFill>
            <a:srgbClr val="FFFFFF">
              <a:alpha val="90000"/>
            </a:srgbClr>
          </a:solidFill>
          <a:ln/>
        </p:spPr>
      </p:sp>
      <p:sp>
        <p:nvSpPr>
          <p:cNvPr id="6" name="Text 4"/>
          <p:cNvSpPr/>
          <p:nvPr/>
        </p:nvSpPr>
        <p:spPr>
          <a:xfrm>
            <a:off x="365760" y="10058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Hayber'in fethi Hicret'in kaçıncı yılında gerçekleşmiştir?</a:t>
            </a:r>
            <a:endParaRPr lang="en-US" sz="900" dirty="0"/>
          </a:p>
        </p:txBody>
      </p:sp>
      <p:sp>
        <p:nvSpPr>
          <p:cNvPr id="7" name="Text 5"/>
          <p:cNvSpPr/>
          <p:nvPr/>
        </p:nvSpPr>
        <p:spPr>
          <a:xfrm>
            <a:off x="365760" y="16459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Beşinci yıl</a:t>
            </a:r>
            <a:endParaRPr lang="en-US" sz="800" dirty="0"/>
          </a:p>
        </p:txBody>
      </p:sp>
      <p:sp>
        <p:nvSpPr>
          <p:cNvPr id="8" name="Text 6"/>
          <p:cNvSpPr/>
          <p:nvPr/>
        </p:nvSpPr>
        <p:spPr>
          <a:xfrm>
            <a:off x="365760" y="20299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Altıncı yıl</a:t>
            </a:r>
            <a:endParaRPr lang="en-US" sz="800" dirty="0"/>
          </a:p>
        </p:txBody>
      </p:sp>
      <p:sp>
        <p:nvSpPr>
          <p:cNvPr id="9" name="Text 7"/>
          <p:cNvSpPr/>
          <p:nvPr/>
        </p:nvSpPr>
        <p:spPr>
          <a:xfrm>
            <a:off x="365760" y="24140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Yedinci yıl</a:t>
            </a:r>
            <a:endParaRPr lang="en-US" sz="800" dirty="0"/>
          </a:p>
        </p:txBody>
      </p:sp>
      <p:sp>
        <p:nvSpPr>
          <p:cNvPr id="10" name="Text 8"/>
          <p:cNvSpPr/>
          <p:nvPr/>
        </p:nvSpPr>
        <p:spPr>
          <a:xfrm>
            <a:off x="365760" y="27980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Sekizinci yıl</a:t>
            </a:r>
            <a:endParaRPr lang="en-US" sz="800" dirty="0"/>
          </a:p>
        </p:txBody>
      </p:sp>
      <p:sp>
        <p:nvSpPr>
          <p:cNvPr id="11" name="Shape 9"/>
          <p:cNvSpPr/>
          <p:nvPr/>
        </p:nvSpPr>
        <p:spPr>
          <a:xfrm>
            <a:off x="274320" y="3429000"/>
            <a:ext cx="4594860" cy="2377440"/>
          </a:xfrm>
          <a:prstGeom prst="roundRect">
            <a:avLst>
              <a:gd name="adj" fmla="val 3077"/>
            </a:avLst>
          </a:prstGeom>
          <a:solidFill>
            <a:srgbClr val="FFFFFF">
              <a:alpha val="90000"/>
            </a:srgbClr>
          </a:solidFill>
          <a:ln/>
        </p:spPr>
      </p:sp>
      <p:sp>
        <p:nvSpPr>
          <p:cNvPr id="12" name="Text 10"/>
          <p:cNvSpPr/>
          <p:nvPr/>
        </p:nvSpPr>
        <p:spPr>
          <a:xfrm>
            <a:off x="365760" y="35204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Fetihten sonra Hayber halkına nasıl davranılmıştır?</a:t>
            </a:r>
            <a:endParaRPr lang="en-US" sz="900" dirty="0"/>
          </a:p>
        </p:txBody>
      </p:sp>
      <p:sp>
        <p:nvSpPr>
          <p:cNvPr id="13" name="Text 11"/>
          <p:cNvSpPr/>
          <p:nvPr/>
        </p:nvSpPr>
        <p:spPr>
          <a:xfrm>
            <a:off x="365760" y="41605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Topraklarından sürüldüler</a:t>
            </a:r>
            <a:endParaRPr lang="en-US" sz="800" dirty="0"/>
          </a:p>
        </p:txBody>
      </p:sp>
      <p:sp>
        <p:nvSpPr>
          <p:cNvPr id="14" name="Text 12"/>
          <p:cNvSpPr/>
          <p:nvPr/>
        </p:nvSpPr>
        <p:spPr>
          <a:xfrm>
            <a:off x="365760" y="45445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Topraklarını işlemeye devam etmelerine izin verildi</a:t>
            </a:r>
            <a:endParaRPr lang="en-US" sz="800" dirty="0"/>
          </a:p>
        </p:txBody>
      </p:sp>
      <p:sp>
        <p:nvSpPr>
          <p:cNvPr id="15" name="Text 13"/>
          <p:cNvSpPr/>
          <p:nvPr/>
        </p:nvSpPr>
        <p:spPr>
          <a:xfrm>
            <a:off x="365760" y="49286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Hepsi Müslüman olmaya zorlandı</a:t>
            </a:r>
            <a:endParaRPr lang="en-US" sz="800" dirty="0"/>
          </a:p>
        </p:txBody>
      </p:sp>
      <p:sp>
        <p:nvSpPr>
          <p:cNvPr id="16" name="Text 14"/>
          <p:cNvSpPr/>
          <p:nvPr/>
        </p:nvSpPr>
        <p:spPr>
          <a:xfrm>
            <a:off x="365760" y="53126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Mallarına el konuldu</a:t>
            </a:r>
            <a:endParaRPr lang="en-US" sz="800" dirty="0"/>
          </a:p>
        </p:txBody>
      </p:sp>
      <p:sp>
        <p:nvSpPr>
          <p:cNvPr id="17" name="Shape 15"/>
          <p:cNvSpPr/>
          <p:nvPr/>
        </p:nvSpPr>
        <p:spPr>
          <a:xfrm>
            <a:off x="274320" y="5943600"/>
            <a:ext cx="4594860" cy="2377440"/>
          </a:xfrm>
          <a:prstGeom prst="roundRect">
            <a:avLst>
              <a:gd name="adj" fmla="val 3077"/>
            </a:avLst>
          </a:prstGeom>
          <a:solidFill>
            <a:srgbClr val="FFFFFF">
              <a:alpha val="90000"/>
            </a:srgbClr>
          </a:solidFill>
          <a:ln/>
        </p:spPr>
      </p:sp>
      <p:sp>
        <p:nvSpPr>
          <p:cNvPr id="18" name="Text 16"/>
          <p:cNvSpPr/>
          <p:nvPr/>
        </p:nvSpPr>
        <p:spPr>
          <a:xfrm>
            <a:off x="365760" y="60350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Güçlüyken adaletli davranmak neden önemlidir?</a:t>
            </a:r>
            <a:endParaRPr lang="en-US" sz="900" dirty="0"/>
          </a:p>
        </p:txBody>
      </p:sp>
      <p:sp>
        <p:nvSpPr>
          <p:cNvPr id="19" name="Text 17"/>
          <p:cNvSpPr/>
          <p:nvPr/>
        </p:nvSpPr>
        <p:spPr>
          <a:xfrm>
            <a:off x="365760" y="66751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İnsanlar seni sevsin diye</a:t>
            </a:r>
            <a:endParaRPr lang="en-US" sz="800" dirty="0"/>
          </a:p>
        </p:txBody>
      </p:sp>
      <p:sp>
        <p:nvSpPr>
          <p:cNvPr id="20" name="Text 18"/>
          <p:cNvSpPr/>
          <p:nvPr/>
        </p:nvSpPr>
        <p:spPr>
          <a:xfrm>
            <a:off x="365760" y="70591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Ceza almamak için</a:t>
            </a:r>
            <a:endParaRPr lang="en-US" sz="800" dirty="0"/>
          </a:p>
        </p:txBody>
      </p:sp>
      <p:sp>
        <p:nvSpPr>
          <p:cNvPr id="21" name="Text 19"/>
          <p:cNvSpPr/>
          <p:nvPr/>
        </p:nvSpPr>
        <p:spPr>
          <a:xfrm>
            <a:off x="365760" y="74432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Güç, adaletle kullanılmazsa zulme dönüşür</a:t>
            </a:r>
            <a:endParaRPr lang="en-US" sz="800" dirty="0"/>
          </a:p>
        </p:txBody>
      </p:sp>
      <p:sp>
        <p:nvSpPr>
          <p:cNvPr id="22" name="Text 20"/>
          <p:cNvSpPr/>
          <p:nvPr/>
        </p:nvSpPr>
        <p:spPr>
          <a:xfrm>
            <a:off x="365760" y="78272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Toplumda itibar kazanmak için</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3716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
        <p:nvSpPr>
          <p:cNvPr id="5" name="Text 3"/>
          <p:cNvSpPr/>
          <p:nvPr/>
        </p:nvSpPr>
        <p:spPr>
          <a:xfrm>
            <a:off x="365760" y="2286000"/>
            <a:ext cx="4411980" cy="3657600"/>
          </a:xfrm>
          <a:prstGeom prst="rect">
            <a:avLst/>
          </a:prstGeom>
          <a:noFill/>
          <a:ln/>
        </p:spPr>
        <p:txBody>
          <a:bodyPr wrap="square" rtlCol="0" anchor="ctr"/>
          <a:lstStyle/>
          <a:p>
            <a:pPr algn="ctr" indent="0" marL="0">
              <a:buNone/>
            </a:pPr>
            <a:r>
              <a:rPr lang="en-US" sz="1500" i="1" dirty="0">
                <a:solidFill>
                  <a:srgbClr val="FFFFFF"/>
                </a:solidFill>
                <a:latin typeface="Calibri" pitchFamily="34" charset="0"/>
                <a:ea typeface="Calibri" pitchFamily="34" charset="-122"/>
                <a:cs typeface="Calibri" pitchFamily="34" charset="-120"/>
              </a:rPr>
              <a:t>Ey iman edenler! Adaleti titizlikle ayakta tutan, kendiniz, ana-babanız ve akrabanız aleyhinde de olsa Allah için şahitlik eden kimseler olun.</a:t>
            </a:r>
            <a:endParaRPr lang="en-US" sz="1500" dirty="0"/>
          </a:p>
        </p:txBody>
      </p:sp>
      <p:sp>
        <p:nvSpPr>
          <p:cNvPr id="6" name="Text 4"/>
          <p:cNvSpPr/>
          <p:nvPr/>
        </p:nvSpPr>
        <p:spPr>
          <a:xfrm>
            <a:off x="365760" y="6217920"/>
            <a:ext cx="441198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Nisâ Sûresi, 135. âyet</a:t>
            </a:r>
            <a:endParaRPr lang="en-US" sz="1000" dirty="0"/>
          </a:p>
        </p:txBody>
      </p:sp>
      <p:sp>
        <p:nvSpPr>
          <p:cNvPr id="7" name="Text 5"/>
          <p:cNvSpPr/>
          <p:nvPr/>
        </p:nvSpPr>
        <p:spPr>
          <a:xfrm>
            <a:off x="0" y="68580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Duesuenelim</a:t>
            </a:r>
            <a:endParaRPr lang="en-US" sz="1800" dirty="0"/>
          </a:p>
        </p:txBody>
      </p:sp>
      <p:sp>
        <p:nvSpPr>
          <p:cNvPr id="4" name="Shape 2"/>
          <p:cNvSpPr/>
          <p:nvPr/>
        </p:nvSpPr>
        <p:spPr>
          <a:xfrm>
            <a:off x="274320" y="822960"/>
            <a:ext cx="4594860" cy="2194560"/>
          </a:xfrm>
          <a:prstGeom prst="roundRect">
            <a:avLst>
              <a:gd name="adj" fmla="val 3333"/>
            </a:avLst>
          </a:prstGeom>
          <a:solidFill>
            <a:srgbClr val="FCEAED"/>
          </a:solidFill>
          <a:ln/>
        </p:spPr>
      </p:sp>
      <p:sp>
        <p:nvSpPr>
          <p:cNvPr id="5" name="Text 3"/>
          <p:cNvSpPr/>
          <p:nvPr/>
        </p:nvSpPr>
        <p:spPr>
          <a:xfrm>
            <a:off x="411480" y="96012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731520" y="96012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Adaletli davranmak ile arkadaşını kayırmak arasında kaldığın bir an oldu mu? Ne yaptın?</a:t>
            </a:r>
            <a:endParaRPr lang="en-US" sz="1100" dirty="0"/>
          </a:p>
        </p:txBody>
      </p:sp>
      <p:sp>
        <p:nvSpPr>
          <p:cNvPr id="7" name="Shape 5"/>
          <p:cNvSpPr/>
          <p:nvPr/>
        </p:nvSpPr>
        <p:spPr>
          <a:xfrm>
            <a:off x="274320" y="3200400"/>
            <a:ext cx="4594860" cy="2194560"/>
          </a:xfrm>
          <a:prstGeom prst="roundRect">
            <a:avLst>
              <a:gd name="adj" fmla="val 3333"/>
            </a:avLst>
          </a:prstGeom>
          <a:solidFill>
            <a:srgbClr val="FCEAED"/>
          </a:solidFill>
          <a:ln/>
        </p:spPr>
      </p:sp>
      <p:sp>
        <p:nvSpPr>
          <p:cNvPr id="8" name="Text 6"/>
          <p:cNvSpPr/>
          <p:nvPr/>
        </p:nvSpPr>
        <p:spPr>
          <a:xfrm>
            <a:off x="411480" y="333756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731520" y="333756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Güçlü veya yetkili bir pozisyonda olsaydın adaleti nasıl sağlardın?</a:t>
            </a:r>
            <a:endParaRPr lang="en-US" sz="1100" dirty="0"/>
          </a:p>
        </p:txBody>
      </p:sp>
      <p:sp>
        <p:nvSpPr>
          <p:cNvPr id="10" name="Shape 8"/>
          <p:cNvSpPr/>
          <p:nvPr/>
        </p:nvSpPr>
        <p:spPr>
          <a:xfrm>
            <a:off x="274320" y="5577840"/>
            <a:ext cx="4594860" cy="2194560"/>
          </a:xfrm>
          <a:prstGeom prst="roundRect">
            <a:avLst>
              <a:gd name="adj" fmla="val 3333"/>
            </a:avLst>
          </a:prstGeom>
          <a:solidFill>
            <a:srgbClr val="FCEAED"/>
          </a:solidFill>
          <a:ln/>
        </p:spPr>
      </p:sp>
      <p:sp>
        <p:nvSpPr>
          <p:cNvPr id="11" name="Text 9"/>
          <p:cNvSpPr/>
          <p:nvPr/>
        </p:nvSpPr>
        <p:spPr>
          <a:xfrm>
            <a:off x="411480" y="571500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731520" y="571500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Sana karşı adaletsiz davranıldığında nasıl hissettin? Bu duygu başkalarına adil davranman konusunda seni nasıl etkiliyor?</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2286000"/>
            <a:ext cx="5143500" cy="914400"/>
          </a:xfrm>
          <a:prstGeom prst="rect">
            <a:avLst/>
          </a:prstGeom>
          <a:noFill/>
          <a:ln/>
        </p:spPr>
        <p:txBody>
          <a:bodyPr wrap="square" rtlCol="0" anchor="ctr"/>
          <a:lstStyle/>
          <a:p>
            <a:pPr algn="ctr" indent="0" marL="0">
              <a:buNone/>
            </a:pPr>
            <a:r>
              <a:rPr lang="en-US" sz="4400" dirty="0">
                <a:solidFill>
                  <a:srgbClr val="000000"/>
                </a:solidFill>
              </a:rPr>
              <a:t>❤️</a:t>
            </a:r>
            <a:endParaRPr lang="en-US" sz="4400" dirty="0"/>
          </a:p>
        </p:txBody>
      </p:sp>
      <p:sp>
        <p:nvSpPr>
          <p:cNvPr id="5" name="Text 3"/>
          <p:cNvSpPr/>
          <p:nvPr/>
        </p:nvSpPr>
        <p:spPr>
          <a:xfrm>
            <a:off x="0" y="3474720"/>
            <a:ext cx="5143500" cy="7315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Birlikte Iyilik Akademisi</a:t>
            </a:r>
            <a:endParaRPr lang="en-US" sz="2200" dirty="0"/>
          </a:p>
        </p:txBody>
      </p:sp>
      <p:sp>
        <p:nvSpPr>
          <p:cNvPr id="6" name="Text 4"/>
          <p:cNvSpPr/>
          <p:nvPr/>
        </p:nvSpPr>
        <p:spPr>
          <a:xfrm>
            <a:off x="0" y="4297680"/>
            <a:ext cx="5143500" cy="54864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Degerler Egitimi</a:t>
            </a:r>
            <a:endParaRPr lang="en-US" sz="1400" dirty="0"/>
          </a:p>
        </p:txBody>
      </p:sp>
      <p:sp>
        <p:nvSpPr>
          <p:cNvPr id="7" name="Text 5"/>
          <p:cNvSpPr/>
          <p:nvPr/>
        </p:nvSpPr>
        <p:spPr>
          <a:xfrm>
            <a:off x="0" y="5303520"/>
            <a:ext cx="5143500" cy="457200"/>
          </a:xfrm>
          <a:prstGeom prst="rect">
            <a:avLst/>
          </a:prstGeom>
          <a:noFill/>
          <a:ln/>
        </p:spPr>
        <p:txBody>
          <a:bodyPr wrap="square" rtlCol="0" anchor="ctr"/>
          <a:lstStyle/>
          <a:p>
            <a:pPr algn="ctr" indent="0" marL="0">
              <a:buNone/>
            </a:pPr>
            <a:r>
              <a:rPr lang="en-US" sz="1200" i="1" dirty="0">
                <a:solidFill>
                  <a:srgbClr val="FCEAED"/>
                </a:solidFill>
                <a:latin typeface="Calibri" pitchFamily="34" charset="0"/>
                <a:ea typeface="Calibri" pitchFamily="34" charset="-122"/>
                <a:cs typeface="Calibri" pitchFamily="34" charset="-120"/>
              </a:rPr>
              <a:t>Ders 21</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Adalet ve Hak</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