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457200"/>
            <a:ext cx="12191695" cy="45720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Birlikte Iyilik Akademisi</a:t>
            </a:r>
            <a:endParaRPr lang="en-US" sz="1400" dirty="0"/>
          </a:p>
        </p:txBody>
      </p:sp>
      <p:sp>
        <p:nvSpPr>
          <p:cNvPr id="5" name="Text 3"/>
          <p:cNvSpPr/>
          <p:nvPr/>
        </p:nvSpPr>
        <p:spPr>
          <a:xfrm>
            <a:off x="1371600" y="2011680"/>
            <a:ext cx="9448495" cy="1371600"/>
          </a:xfrm>
          <a:prstGeom prst="rect">
            <a:avLst/>
          </a:prstGeom>
          <a:noFill/>
          <a:ln/>
        </p:spPr>
        <p:txBody>
          <a:bodyPr wrap="square"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Kardeşlik ve Paylaşma</a:t>
            </a:r>
            <a:endParaRPr lang="en-US" sz="4000" dirty="0"/>
          </a:p>
        </p:txBody>
      </p:sp>
      <p:sp>
        <p:nvSpPr>
          <p:cNvPr id="6" name="Text 4"/>
          <p:cNvSpPr/>
          <p:nvPr/>
        </p:nvSpPr>
        <p:spPr>
          <a:xfrm>
            <a:off x="1828800" y="3474720"/>
            <a:ext cx="8534095" cy="548640"/>
          </a:xfrm>
          <a:prstGeom prst="rect">
            <a:avLst/>
          </a:prstGeom>
          <a:noFill/>
          <a:ln/>
        </p:spPr>
        <p:txBody>
          <a:bodyPr wrap="square" rtlCol="0" anchor="ctr"/>
          <a:lstStyle/>
          <a:p>
            <a:pPr algn="ctr" indent="0" marL="0">
              <a:buNone/>
            </a:pPr>
            <a:r>
              <a:rPr lang="en-US" sz="2000" i="1" dirty="0">
                <a:solidFill>
                  <a:srgbClr val="FCEAED"/>
                </a:solidFill>
                <a:latin typeface="Calibri" pitchFamily="34" charset="0"/>
                <a:ea typeface="Calibri" pitchFamily="34" charset="-122"/>
                <a:cs typeface="Calibri" pitchFamily="34" charset="-120"/>
              </a:rPr>
              <a:t>Ensâr ve Muhâcir kardeşliğinin gücü</a:t>
            </a:r>
            <a:endParaRPr lang="en-US" sz="2000" dirty="0"/>
          </a:p>
        </p:txBody>
      </p:sp>
      <p:sp>
        <p:nvSpPr>
          <p:cNvPr id="7" name="Text 5"/>
          <p:cNvSpPr/>
          <p:nvPr/>
        </p:nvSpPr>
        <p:spPr>
          <a:xfrm>
            <a:off x="0" y="6035040"/>
            <a:ext cx="12191695" cy="457200"/>
          </a:xfrm>
          <a:prstGeom prst="rect">
            <a:avLst/>
          </a:prstGeom>
          <a:noFill/>
          <a:ln/>
        </p:spPr>
        <p:txBody>
          <a:bodyPr wrap="square" rtlCol="0" anchor="ctr"/>
          <a:lstStyle/>
          <a:p>
            <a:pPr algn="ctr" indent="0" marL="0">
              <a:buNone/>
            </a:pPr>
            <a:r>
              <a:rPr lang="en-US" sz="1200" dirty="0">
                <a:solidFill>
                  <a:srgbClr val="FCEAED"/>
                </a:solidFill>
                <a:latin typeface="Calibri" pitchFamily="34" charset="0"/>
                <a:ea typeface="Calibri" pitchFamily="34" charset="-122"/>
                <a:cs typeface="Calibri" pitchFamily="34" charset="-120"/>
              </a:rPr>
              <a:t>Degerler Egitimi</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Buguen Ne Oegreneceegiz?</a:t>
            </a:r>
            <a:endParaRPr lang="en-US" sz="2400" dirty="0"/>
          </a:p>
        </p:txBody>
      </p:sp>
      <p:sp>
        <p:nvSpPr>
          <p:cNvPr id="4" name="Shape 2"/>
          <p:cNvSpPr/>
          <p:nvPr/>
        </p:nvSpPr>
        <p:spPr>
          <a:xfrm>
            <a:off x="548640" y="1097280"/>
            <a:ext cx="457200" cy="457200"/>
          </a:xfrm>
          <a:prstGeom prst="ellipse">
            <a:avLst/>
          </a:prstGeom>
          <a:solidFill>
            <a:srgbClr val="C8102E"/>
          </a:solidFill>
          <a:ln/>
        </p:spPr>
      </p:sp>
      <p:sp>
        <p:nvSpPr>
          <p:cNvPr id="5" name="Text 3"/>
          <p:cNvSpPr/>
          <p:nvPr/>
        </p:nvSpPr>
        <p:spPr>
          <a:xfrm>
            <a:off x="548640" y="109728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188720" y="100584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Ensâr-Muhâcir kardeşliğinin tarihî bağlamını açıklayabilirim.</a:t>
            </a:r>
            <a:endParaRPr lang="en-US" sz="1600" dirty="0"/>
          </a:p>
        </p:txBody>
      </p:sp>
      <p:sp>
        <p:nvSpPr>
          <p:cNvPr id="7" name="Shape 5"/>
          <p:cNvSpPr/>
          <p:nvPr/>
        </p:nvSpPr>
        <p:spPr>
          <a:xfrm>
            <a:off x="548640" y="2103120"/>
            <a:ext cx="457200" cy="457200"/>
          </a:xfrm>
          <a:prstGeom prst="ellipse">
            <a:avLst/>
          </a:prstGeom>
          <a:solidFill>
            <a:srgbClr val="C8102E"/>
          </a:solidFill>
          <a:ln/>
        </p:spPr>
      </p:sp>
      <p:sp>
        <p:nvSpPr>
          <p:cNvPr id="8" name="Text 6"/>
          <p:cNvSpPr/>
          <p:nvPr/>
        </p:nvSpPr>
        <p:spPr>
          <a:xfrm>
            <a:off x="548640" y="210312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p:nvPr/>
        </p:nvSpPr>
        <p:spPr>
          <a:xfrm>
            <a:off x="1188720" y="201168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Paylaşma değerinin farklı boyutlarını keşfedebilirim.</a:t>
            </a:r>
            <a:endParaRPr lang="en-US" sz="1600" dirty="0"/>
          </a:p>
        </p:txBody>
      </p:sp>
      <p:sp>
        <p:nvSpPr>
          <p:cNvPr id="10" name="Shape 8"/>
          <p:cNvSpPr/>
          <p:nvPr/>
        </p:nvSpPr>
        <p:spPr>
          <a:xfrm>
            <a:off x="548640" y="3108960"/>
            <a:ext cx="457200" cy="457200"/>
          </a:xfrm>
          <a:prstGeom prst="ellipse">
            <a:avLst/>
          </a:prstGeom>
          <a:solidFill>
            <a:srgbClr val="C8102E"/>
          </a:solidFill>
          <a:ln/>
        </p:spPr>
      </p:sp>
      <p:sp>
        <p:nvSpPr>
          <p:cNvPr id="11" name="Text 9"/>
          <p:cNvSpPr/>
          <p:nvPr/>
        </p:nvSpPr>
        <p:spPr>
          <a:xfrm>
            <a:off x="548640" y="310896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p:nvPr/>
        </p:nvSpPr>
        <p:spPr>
          <a:xfrm>
            <a:off x="1188720" y="301752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Karşılıksız iyilik yapmanın etkisini yorumlayabilirim.</a:t>
            </a:r>
            <a:endParaRPr lang="en-US" sz="1600" dirty="0"/>
          </a:p>
        </p:txBody>
      </p:sp>
      <p:sp>
        <p:nvSpPr>
          <p:cNvPr id="13" name="Shape 11"/>
          <p:cNvSpPr/>
          <p:nvPr/>
        </p:nvSpPr>
        <p:spPr>
          <a:xfrm>
            <a:off x="548640" y="4114800"/>
            <a:ext cx="457200" cy="457200"/>
          </a:xfrm>
          <a:prstGeom prst="ellipse">
            <a:avLst/>
          </a:prstGeom>
          <a:solidFill>
            <a:srgbClr val="C8102E"/>
          </a:solidFill>
          <a:ln/>
        </p:spPr>
      </p:sp>
      <p:sp>
        <p:nvSpPr>
          <p:cNvPr id="14" name="Text 12"/>
          <p:cNvSpPr/>
          <p:nvPr/>
        </p:nvSpPr>
        <p:spPr>
          <a:xfrm>
            <a:off x="548640" y="411480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5" name="Text 13"/>
          <p:cNvSpPr/>
          <p:nvPr/>
        </p:nvSpPr>
        <p:spPr>
          <a:xfrm>
            <a:off x="1188720" y="402336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Günlük hayatımda paylaşma fırsatlarını belirleyebilirim.</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Anahtar Kavramlar</a:t>
            </a:r>
            <a:endParaRPr lang="en-US" sz="2400" dirty="0"/>
          </a:p>
        </p:txBody>
      </p:sp>
      <p:sp>
        <p:nvSpPr>
          <p:cNvPr id="4" name="Shape 2"/>
          <p:cNvSpPr/>
          <p:nvPr/>
        </p:nvSpPr>
        <p:spPr>
          <a:xfrm>
            <a:off x="548640" y="1005840"/>
            <a:ext cx="3545738" cy="2194560"/>
          </a:xfrm>
          <a:prstGeom prst="roundRect">
            <a:avLst>
              <a:gd name="adj" fmla="val 4167"/>
            </a:avLst>
          </a:prstGeom>
          <a:solidFill>
            <a:srgbClr val="FCEAED"/>
          </a:solidFill>
          <a:ln/>
        </p:spPr>
      </p:sp>
      <p:sp>
        <p:nvSpPr>
          <p:cNvPr id="5" name="Text 3"/>
          <p:cNvSpPr/>
          <p:nvPr/>
        </p:nvSpPr>
        <p:spPr>
          <a:xfrm>
            <a:off x="685800"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Ensâr</a:t>
            </a:r>
            <a:endParaRPr lang="en-US" sz="1400" dirty="0"/>
          </a:p>
        </p:txBody>
      </p:sp>
      <p:sp>
        <p:nvSpPr>
          <p:cNvPr id="6" name="Text 4"/>
          <p:cNvSpPr/>
          <p:nvPr/>
        </p:nvSpPr>
        <p:spPr>
          <a:xfrm>
            <a:off x="685800"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Medîne'de Muhâcirlere yardım eden ve onları bağrına basan Müslümanlar.</a:t>
            </a:r>
            <a:endParaRPr lang="en-US" sz="1100" dirty="0"/>
          </a:p>
        </p:txBody>
      </p:sp>
      <p:sp>
        <p:nvSpPr>
          <p:cNvPr id="7" name="Shape 5"/>
          <p:cNvSpPr/>
          <p:nvPr/>
        </p:nvSpPr>
        <p:spPr>
          <a:xfrm>
            <a:off x="4322978" y="1005840"/>
            <a:ext cx="3545738" cy="2194560"/>
          </a:xfrm>
          <a:prstGeom prst="roundRect">
            <a:avLst>
              <a:gd name="adj" fmla="val 4167"/>
            </a:avLst>
          </a:prstGeom>
          <a:solidFill>
            <a:srgbClr val="FCEAED"/>
          </a:solidFill>
          <a:ln/>
        </p:spPr>
      </p:sp>
      <p:sp>
        <p:nvSpPr>
          <p:cNvPr id="8" name="Text 6"/>
          <p:cNvSpPr/>
          <p:nvPr/>
        </p:nvSpPr>
        <p:spPr>
          <a:xfrm>
            <a:off x="4460138"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Muhâcir</a:t>
            </a:r>
            <a:endParaRPr lang="en-US" sz="1400" dirty="0"/>
          </a:p>
        </p:txBody>
      </p:sp>
      <p:sp>
        <p:nvSpPr>
          <p:cNvPr id="9" name="Text 7"/>
          <p:cNvSpPr/>
          <p:nvPr/>
        </p:nvSpPr>
        <p:spPr>
          <a:xfrm>
            <a:off x="4460138"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İslâm için Mekke'den Medîne'ye göç eden Müslümanlar.</a:t>
            </a:r>
            <a:endParaRPr lang="en-US" sz="1100" dirty="0"/>
          </a:p>
        </p:txBody>
      </p:sp>
      <p:sp>
        <p:nvSpPr>
          <p:cNvPr id="10" name="Shape 8"/>
          <p:cNvSpPr/>
          <p:nvPr/>
        </p:nvSpPr>
        <p:spPr>
          <a:xfrm>
            <a:off x="8097317" y="1005840"/>
            <a:ext cx="3545738" cy="2194560"/>
          </a:xfrm>
          <a:prstGeom prst="roundRect">
            <a:avLst>
              <a:gd name="adj" fmla="val 4167"/>
            </a:avLst>
          </a:prstGeom>
          <a:solidFill>
            <a:srgbClr val="FCEAED"/>
          </a:solidFill>
          <a:ln/>
        </p:spPr>
      </p:sp>
      <p:sp>
        <p:nvSpPr>
          <p:cNvPr id="11" name="Text 9"/>
          <p:cNvSpPr/>
          <p:nvPr/>
        </p:nvSpPr>
        <p:spPr>
          <a:xfrm>
            <a:off x="8234477"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Hicret</a:t>
            </a:r>
            <a:endParaRPr lang="en-US" sz="1400" dirty="0"/>
          </a:p>
        </p:txBody>
      </p:sp>
      <p:sp>
        <p:nvSpPr>
          <p:cNvPr id="12" name="Text 10"/>
          <p:cNvSpPr/>
          <p:nvPr/>
        </p:nvSpPr>
        <p:spPr>
          <a:xfrm>
            <a:off x="8234477"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Müslümanların Mekke'den Medîne'ye göçü.</a:t>
            </a:r>
            <a:endParaRPr lang="en-US" sz="1100" dirty="0"/>
          </a:p>
        </p:txBody>
      </p:sp>
      <p:sp>
        <p:nvSpPr>
          <p:cNvPr id="13" name="Shape 11"/>
          <p:cNvSpPr/>
          <p:nvPr/>
        </p:nvSpPr>
        <p:spPr>
          <a:xfrm>
            <a:off x="548640" y="3429000"/>
            <a:ext cx="3545738" cy="2194560"/>
          </a:xfrm>
          <a:prstGeom prst="roundRect">
            <a:avLst>
              <a:gd name="adj" fmla="val 4167"/>
            </a:avLst>
          </a:prstGeom>
          <a:solidFill>
            <a:srgbClr val="FCEAED"/>
          </a:solidFill>
          <a:ln/>
        </p:spPr>
      </p:sp>
      <p:sp>
        <p:nvSpPr>
          <p:cNvPr id="14" name="Text 12"/>
          <p:cNvSpPr/>
          <p:nvPr/>
        </p:nvSpPr>
        <p:spPr>
          <a:xfrm>
            <a:off x="685800"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Kardeşlik</a:t>
            </a:r>
            <a:endParaRPr lang="en-US" sz="1400" dirty="0"/>
          </a:p>
        </p:txBody>
      </p:sp>
      <p:sp>
        <p:nvSpPr>
          <p:cNvPr id="15" name="Text 13"/>
          <p:cNvSpPr/>
          <p:nvPr/>
        </p:nvSpPr>
        <p:spPr>
          <a:xfrm>
            <a:off x="685800"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Kan bağı olmaksızın iman bağıyla kurulan güçlü bağ.</a:t>
            </a:r>
            <a:endParaRPr lang="en-US" sz="1100" dirty="0"/>
          </a:p>
        </p:txBody>
      </p:sp>
      <p:sp>
        <p:nvSpPr>
          <p:cNvPr id="16" name="Shape 14"/>
          <p:cNvSpPr/>
          <p:nvPr/>
        </p:nvSpPr>
        <p:spPr>
          <a:xfrm>
            <a:off x="4322978" y="3429000"/>
            <a:ext cx="3545738" cy="2194560"/>
          </a:xfrm>
          <a:prstGeom prst="roundRect">
            <a:avLst>
              <a:gd name="adj" fmla="val 4167"/>
            </a:avLst>
          </a:prstGeom>
          <a:solidFill>
            <a:srgbClr val="FCEAED"/>
          </a:solidFill>
          <a:ln/>
        </p:spPr>
      </p:sp>
      <p:sp>
        <p:nvSpPr>
          <p:cNvPr id="17" name="Text 15"/>
          <p:cNvSpPr/>
          <p:nvPr/>
        </p:nvSpPr>
        <p:spPr>
          <a:xfrm>
            <a:off x="4460138"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Paylaşma</a:t>
            </a:r>
            <a:endParaRPr lang="en-US" sz="1400" dirty="0"/>
          </a:p>
        </p:txBody>
      </p:sp>
      <p:sp>
        <p:nvSpPr>
          <p:cNvPr id="18" name="Text 16"/>
          <p:cNvSpPr/>
          <p:nvPr/>
        </p:nvSpPr>
        <p:spPr>
          <a:xfrm>
            <a:off x="4460138"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Sahip olduklarını başkalarıyla bölüşme erdemi.</a:t>
            </a:r>
            <a:endParaRPr lang="en-US" sz="1100" dirty="0"/>
          </a:p>
        </p:txBody>
      </p:sp>
      <p:sp>
        <p:nvSpPr>
          <p:cNvPr id="19" name="Shape 17"/>
          <p:cNvSpPr/>
          <p:nvPr/>
        </p:nvSpPr>
        <p:spPr>
          <a:xfrm>
            <a:off x="8097317" y="3429000"/>
            <a:ext cx="3545738" cy="2194560"/>
          </a:xfrm>
          <a:prstGeom prst="roundRect">
            <a:avLst>
              <a:gd name="adj" fmla="val 4167"/>
            </a:avLst>
          </a:prstGeom>
          <a:solidFill>
            <a:srgbClr val="FCEAED"/>
          </a:solidFill>
          <a:ln/>
        </p:spPr>
      </p:sp>
      <p:sp>
        <p:nvSpPr>
          <p:cNvPr id="20" name="Text 18"/>
          <p:cNvSpPr/>
          <p:nvPr/>
        </p:nvSpPr>
        <p:spPr>
          <a:xfrm>
            <a:off x="8234477"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Fedakârlık</a:t>
            </a:r>
            <a:endParaRPr lang="en-US" sz="1400" dirty="0"/>
          </a:p>
        </p:txBody>
      </p:sp>
      <p:sp>
        <p:nvSpPr>
          <p:cNvPr id="21" name="Text 19"/>
          <p:cNvSpPr/>
          <p:nvPr/>
        </p:nvSpPr>
        <p:spPr>
          <a:xfrm>
            <a:off x="8234477"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Kendi ihtiyacından vazgeçerek başkasının ihtiyacını karşılama.</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Sa'd ile Abdurrahman'ın Hikâyesi</a:t>
            </a:r>
            <a:endParaRPr lang="en-US" sz="2400" dirty="0"/>
          </a:p>
        </p:txBody>
      </p:sp>
      <p:sp>
        <p:nvSpPr>
          <p:cNvPr id="4" name="Text 2"/>
          <p:cNvSpPr/>
          <p:nvPr/>
        </p:nvSpPr>
        <p:spPr>
          <a:xfrm>
            <a:off x="548640" y="1005840"/>
            <a:ext cx="11094415" cy="548640"/>
          </a:xfrm>
          <a:prstGeom prst="rect">
            <a:avLst/>
          </a:prstGeom>
          <a:noFill/>
          <a:ln/>
        </p:spPr>
        <p:txBody>
          <a:bodyPr wrap="square" rtlCol="0" anchor="ctr"/>
          <a:lstStyle/>
          <a:p>
            <a:pPr algn="l" indent="0" marL="0">
              <a:buNone/>
            </a:pPr>
            <a:r>
              <a:rPr lang="en-US" sz="1300" i="1" dirty="0">
                <a:solidFill>
                  <a:srgbClr val="666666"/>
                </a:solidFill>
                <a:latin typeface="Calibri" pitchFamily="34" charset="0"/>
                <a:ea typeface="Calibri" pitchFamily="34" charset="-122"/>
                <a:cs typeface="Calibri" pitchFamily="34" charset="-120"/>
              </a:rPr>
              <a:t>Peygamber Efendimiz sallallahu aleyhi ve sellem, Medîne-i Münevvere'de Muhâcirleri ve Ensâr'ı birbirlerine kardeş yaptılar. Her Medîneli arazisini, mallarını ikiye ayırarak yarısını Muhâcir kardeşine verdi.</a:t>
            </a:r>
            <a:endParaRPr lang="en-US" sz="1300" dirty="0"/>
          </a:p>
        </p:txBody>
      </p:sp>
      <p:sp>
        <p:nvSpPr>
          <p:cNvPr id="5" name="Text 3"/>
          <p:cNvSpPr/>
          <p:nvPr/>
        </p:nvSpPr>
        <p:spPr>
          <a:xfrm>
            <a:off x="548640" y="17373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Peygamber Efendimiz sallallahu aleyhi ve sellem, Medîne-i Münevvere'de Muhâcirleri ve Ensâr'ı birbirlerine kardeş yaptılar. Her Medîneli; arazisini, bağını, bahçesini, evini, mallarını... nesi varsa ikiye ayırıyor, yarısını Muhâcir kardeşine seve seve veriyordu. Bu eşsiz kardeşlik, İslâm tarihinin en güzel dayanışma örneğidir.</a:t>
            </a:r>
            <a:endParaRPr lang="en-US" sz="1400" dirty="0"/>
          </a:p>
        </p:txBody>
      </p:sp>
      <p:sp>
        <p:nvSpPr>
          <p:cNvPr id="6" name="Text 4"/>
          <p:cNvSpPr/>
          <p:nvPr/>
        </p:nvSpPr>
        <p:spPr>
          <a:xfrm>
            <a:off x="548640" y="31089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Muhâcirlerden Abdurrahman bin Avf radıyallahu anh, Medîneli Sa'd bin Rebî radıyallahu anh ile kardeş yapıldı. Sa'd, 'Ey kardeşim! Ben Medîne'nin en zenginiyim, malımı ikiye ayırdım, yarısı senindir' dedi. Abdurrahman bin Avf radıyallahu anh ise bu cömert teklifi nazikçe reddederek 'Allahü teâlâ malını sana mübarek eylesin. Benim mala ihtiyacım yok, beni çarşınıza götür yeter' dedi.</a:t>
            </a:r>
            <a:endParaRPr lang="en-US" sz="1400" dirty="0"/>
          </a:p>
        </p:txBody>
      </p:sp>
      <p:sp>
        <p:nvSpPr>
          <p:cNvPr id="7" name="Text 5"/>
          <p:cNvSpPr/>
          <p:nvPr/>
        </p:nvSpPr>
        <p:spPr>
          <a:xfrm>
            <a:off x="548640" y="44805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Abdurrahman bin Avf radıyallahu anh çarşıda ticarete başladı ve kısa sürede kendi geçimini sağladı. Bu kıssa, paylaşmanın sadece vermek değil, alırken de onurlu ve kanaatkâr olmak olduğunu gösterir. Ensâr'ın cömertliği ve Muhâcirlerin iffeti, İslâm kardeşliğinin iki güzel yüzüdür.</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914400"/>
            <a:ext cx="914400" cy="1097280"/>
          </a:xfrm>
          <a:prstGeom prst="rect">
            <a:avLst/>
          </a:prstGeom>
          <a:noFill/>
          <a:ln/>
        </p:spPr>
        <p:txBody>
          <a:bodyPr wrap="square" rtlCol="0" anchor="ctr"/>
          <a:lstStyle/>
          <a:p>
            <a:pPr indent="0" marL="0">
              <a:buNone/>
            </a:pPr>
            <a:r>
              <a:rPr lang="en-US" sz="9600" b="1" dirty="0">
                <a:solidFill>
                  <a:srgbClr val="C8102E"/>
                </a:solidFill>
                <a:latin typeface="Calibri" pitchFamily="34" charset="0"/>
                <a:ea typeface="Calibri" pitchFamily="34" charset="-122"/>
                <a:cs typeface="Calibri" pitchFamily="34" charset="-120"/>
              </a:rPr>
              <a:t>“</a:t>
            </a:r>
            <a:endParaRPr lang="en-US" sz="9600" dirty="0"/>
          </a:p>
        </p:txBody>
      </p:sp>
      <p:sp>
        <p:nvSpPr>
          <p:cNvPr id="4" name="Shape 2"/>
          <p:cNvSpPr/>
          <p:nvPr/>
        </p:nvSpPr>
        <p:spPr>
          <a:xfrm>
            <a:off x="1371600" y="1371600"/>
            <a:ext cx="45720" cy="2743200"/>
          </a:xfrm>
          <a:prstGeom prst="rect">
            <a:avLst/>
          </a:prstGeom>
          <a:solidFill>
            <a:srgbClr val="C8102E"/>
          </a:solidFill>
          <a:ln/>
        </p:spPr>
      </p:sp>
      <p:sp>
        <p:nvSpPr>
          <p:cNvPr id="5" name="Text 3"/>
          <p:cNvSpPr/>
          <p:nvPr/>
        </p:nvSpPr>
        <p:spPr>
          <a:xfrm>
            <a:off x="1645920" y="1371600"/>
            <a:ext cx="9722815" cy="2743200"/>
          </a:xfrm>
          <a:prstGeom prst="rect">
            <a:avLst/>
          </a:prstGeom>
          <a:noFill/>
          <a:ln/>
        </p:spPr>
        <p:txBody>
          <a:bodyPr wrap="square" rtlCol="0" anchor="ctr"/>
          <a:lstStyle/>
          <a:p>
            <a:pPr algn="l" indent="0" marL="0">
              <a:buNone/>
            </a:pPr>
            <a:r>
              <a:rPr lang="en-US" sz="2000" i="1" dirty="0">
                <a:solidFill>
                  <a:srgbClr val="222222"/>
                </a:solidFill>
                <a:latin typeface="Calibri" pitchFamily="34" charset="0"/>
                <a:ea typeface="Calibri" pitchFamily="34" charset="-122"/>
                <a:cs typeface="Calibri" pitchFamily="34" charset="-120"/>
              </a:rPr>
              <a:t>Allahü teâlâ malını sana mübarek ve hayırlı eylesin. Benim mala ihtiyacım yok. Yalnız beni çarşıya götürüver, kâfî.</a:t>
            </a:r>
            <a:endParaRPr lang="en-US" sz="2000" dirty="0"/>
          </a:p>
        </p:txBody>
      </p:sp>
      <p:sp>
        <p:nvSpPr>
          <p:cNvPr id="6" name="Text 4"/>
          <p:cNvSpPr/>
          <p:nvPr/>
        </p:nvSpPr>
        <p:spPr>
          <a:xfrm>
            <a:off x="1645920" y="4572000"/>
            <a:ext cx="9722815" cy="457200"/>
          </a:xfrm>
          <a:prstGeom prst="rect">
            <a:avLst/>
          </a:prstGeom>
          <a:noFill/>
          <a:ln/>
        </p:spPr>
        <p:txBody>
          <a:bodyPr wrap="square" rtlCol="0" anchor="ctr"/>
          <a:lstStyle/>
          <a:p>
            <a:pPr algn="r" indent="0" marL="0">
              <a:buNone/>
            </a:pPr>
            <a:r>
              <a:rPr lang="en-US" sz="1400" dirty="0">
                <a:solidFill>
                  <a:srgbClr val="666666"/>
                </a:solidFill>
                <a:latin typeface="Calibri" pitchFamily="34" charset="0"/>
                <a:ea typeface="Calibri" pitchFamily="34" charset="-122"/>
                <a:cs typeface="Calibri" pitchFamily="34" charset="-120"/>
              </a:rPr>
              <a:t>— Abdurrahman bin Avf radıyallahu anh</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Shape 1"/>
          <p:cNvSpPr/>
          <p:nvPr/>
        </p:nvSpPr>
        <p:spPr>
          <a:xfrm>
            <a:off x="5181448" y="2057400"/>
            <a:ext cx="1828800" cy="27432"/>
          </a:xfrm>
          <a:prstGeom prst="rect">
            <a:avLst/>
          </a:prstGeom>
          <a:solidFill>
            <a:srgbClr val="C8102E"/>
          </a:solidFill>
          <a:ln/>
        </p:spPr>
      </p:sp>
      <p:sp>
        <p:nvSpPr>
          <p:cNvPr id="4" name="Text 2"/>
          <p:cNvSpPr/>
          <p:nvPr/>
        </p:nvSpPr>
        <p:spPr>
          <a:xfrm>
            <a:off x="1463040" y="2331720"/>
            <a:ext cx="9265615" cy="2286000"/>
          </a:xfrm>
          <a:prstGeom prst="rect">
            <a:avLst/>
          </a:prstGeom>
          <a:noFill/>
          <a:ln/>
        </p:spPr>
        <p:txBody>
          <a:bodyPr wrap="square" rtlCol="0" anchor="ctr"/>
          <a:lstStyle/>
          <a:p>
            <a:pPr algn="ctr" indent="0" marL="0">
              <a:buNone/>
            </a:pPr>
            <a:r>
              <a:rPr lang="en-US" sz="2000" i="1" dirty="0">
                <a:solidFill>
                  <a:srgbClr val="8B0000"/>
                </a:solidFill>
                <a:latin typeface="Calibri" pitchFamily="34" charset="0"/>
                <a:ea typeface="Calibri" pitchFamily="34" charset="-122"/>
                <a:cs typeface="Calibri" pitchFamily="34" charset="-120"/>
              </a:rPr>
              <a:t>Kendileri ihtiyaç içinde olsalar bile başkalarını kendilerine tercih ederler.</a:t>
            </a:r>
            <a:endParaRPr lang="en-US" sz="2000" dirty="0"/>
          </a:p>
        </p:txBody>
      </p:sp>
      <p:sp>
        <p:nvSpPr>
          <p:cNvPr id="5" name="Shape 3"/>
          <p:cNvSpPr/>
          <p:nvPr/>
        </p:nvSpPr>
        <p:spPr>
          <a:xfrm>
            <a:off x="5181448" y="4800600"/>
            <a:ext cx="1828800" cy="27432"/>
          </a:xfrm>
          <a:prstGeom prst="rect">
            <a:avLst/>
          </a:prstGeom>
          <a:solidFill>
            <a:srgbClr val="C8102E"/>
          </a:solidFill>
          <a:ln/>
        </p:spPr>
      </p:sp>
      <p:sp>
        <p:nvSpPr>
          <p:cNvPr id="6" name="Text 4"/>
          <p:cNvSpPr/>
          <p:nvPr/>
        </p:nvSpPr>
        <p:spPr>
          <a:xfrm>
            <a:off x="1463040" y="5074920"/>
            <a:ext cx="9265615" cy="457200"/>
          </a:xfrm>
          <a:prstGeom prst="rect">
            <a:avLst/>
          </a:prstGeom>
          <a:noFill/>
          <a:ln/>
        </p:spPr>
        <p:txBody>
          <a:bodyPr wrap="square" rtlCol="0" anchor="ctr"/>
          <a:lstStyle/>
          <a:p>
            <a:pPr algn="ctr" indent="0" marL="0">
              <a:buNone/>
            </a:pPr>
            <a:r>
              <a:rPr lang="en-US" sz="1200" dirty="0">
                <a:solidFill>
                  <a:srgbClr val="666666"/>
                </a:solidFill>
                <a:latin typeface="Calibri" pitchFamily="34" charset="0"/>
                <a:ea typeface="Calibri" pitchFamily="34" charset="-122"/>
                <a:cs typeface="Calibri" pitchFamily="34" charset="-120"/>
              </a:rPr>
              <a:t>Haşr Sûresi, 9</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Degerin Boyutlari</a:t>
            </a:r>
            <a:endParaRPr lang="en-US" sz="2400" dirty="0"/>
          </a:p>
        </p:txBody>
      </p:sp>
      <p:sp>
        <p:nvSpPr>
          <p:cNvPr id="4" name="Shape 2"/>
          <p:cNvSpPr/>
          <p:nvPr/>
        </p:nvSpPr>
        <p:spPr>
          <a:xfrm>
            <a:off x="548640" y="1005840"/>
            <a:ext cx="2636444" cy="4114800"/>
          </a:xfrm>
          <a:prstGeom prst="roundRect">
            <a:avLst>
              <a:gd name="adj" fmla="val 3468"/>
            </a:avLst>
          </a:prstGeom>
          <a:solidFill>
            <a:srgbClr val="FCEAED"/>
          </a:solidFill>
          <a:ln/>
        </p:spPr>
      </p:sp>
      <p:sp>
        <p:nvSpPr>
          <p:cNvPr id="5" name="Text 3"/>
          <p:cNvSpPr/>
          <p:nvPr/>
        </p:nvSpPr>
        <p:spPr>
          <a:xfrm>
            <a:off x="548640"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6" name="Text 4"/>
          <p:cNvSpPr/>
          <p:nvPr/>
        </p:nvSpPr>
        <p:spPr>
          <a:xfrm>
            <a:off x="640080"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Mal Paylaşımı</a:t>
            </a:r>
            <a:endParaRPr lang="en-US" sz="1300" dirty="0"/>
          </a:p>
        </p:txBody>
      </p:sp>
      <p:sp>
        <p:nvSpPr>
          <p:cNvPr id="7" name="Text 5"/>
          <p:cNvSpPr/>
          <p:nvPr/>
        </p:nvSpPr>
        <p:spPr>
          <a:xfrm>
            <a:off x="640080"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Sahip olduğun maddi varlıkları ihtiyaç sahipleriyle paylaşma.</a:t>
            </a:r>
            <a:endParaRPr lang="en-US" sz="1000" dirty="0"/>
          </a:p>
        </p:txBody>
      </p:sp>
      <p:sp>
        <p:nvSpPr>
          <p:cNvPr id="8" name="Shape 6"/>
          <p:cNvSpPr/>
          <p:nvPr/>
        </p:nvSpPr>
        <p:spPr>
          <a:xfrm>
            <a:off x="3367964" y="1005840"/>
            <a:ext cx="2636444" cy="4114800"/>
          </a:xfrm>
          <a:prstGeom prst="roundRect">
            <a:avLst>
              <a:gd name="adj" fmla="val 3468"/>
            </a:avLst>
          </a:prstGeom>
          <a:solidFill>
            <a:srgbClr val="FCEAED"/>
          </a:solidFill>
          <a:ln/>
        </p:spPr>
      </p:sp>
      <p:sp>
        <p:nvSpPr>
          <p:cNvPr id="9" name="Text 7"/>
          <p:cNvSpPr/>
          <p:nvPr/>
        </p:nvSpPr>
        <p:spPr>
          <a:xfrm>
            <a:off x="3367964"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0" name="Text 8"/>
          <p:cNvSpPr/>
          <p:nvPr/>
        </p:nvSpPr>
        <p:spPr>
          <a:xfrm>
            <a:off x="3459404"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Zaman Paylaşımı</a:t>
            </a:r>
            <a:endParaRPr lang="en-US" sz="1300" dirty="0"/>
          </a:p>
        </p:txBody>
      </p:sp>
      <p:sp>
        <p:nvSpPr>
          <p:cNvPr id="11" name="Text 9"/>
          <p:cNvSpPr/>
          <p:nvPr/>
        </p:nvSpPr>
        <p:spPr>
          <a:xfrm>
            <a:off x="3459404"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Vaktini başkalarına ayırarak onlara destek olma.</a:t>
            </a:r>
            <a:endParaRPr lang="en-US" sz="1000" dirty="0"/>
          </a:p>
        </p:txBody>
      </p:sp>
      <p:sp>
        <p:nvSpPr>
          <p:cNvPr id="12" name="Shape 10"/>
          <p:cNvSpPr/>
          <p:nvPr/>
        </p:nvSpPr>
        <p:spPr>
          <a:xfrm>
            <a:off x="6187288" y="1005840"/>
            <a:ext cx="2636444" cy="4114800"/>
          </a:xfrm>
          <a:prstGeom prst="roundRect">
            <a:avLst>
              <a:gd name="adj" fmla="val 3468"/>
            </a:avLst>
          </a:prstGeom>
          <a:solidFill>
            <a:srgbClr val="FCEAED"/>
          </a:solidFill>
          <a:ln/>
        </p:spPr>
      </p:sp>
      <p:sp>
        <p:nvSpPr>
          <p:cNvPr id="13" name="Text 11"/>
          <p:cNvSpPr/>
          <p:nvPr/>
        </p:nvSpPr>
        <p:spPr>
          <a:xfrm>
            <a:off x="6187288"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4" name="Text 12"/>
          <p:cNvSpPr/>
          <p:nvPr/>
        </p:nvSpPr>
        <p:spPr>
          <a:xfrm>
            <a:off x="6278728"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İlgi Paylaşımı</a:t>
            </a:r>
            <a:endParaRPr lang="en-US" sz="1300" dirty="0"/>
          </a:p>
        </p:txBody>
      </p:sp>
      <p:sp>
        <p:nvSpPr>
          <p:cNvPr id="15" name="Text 13"/>
          <p:cNvSpPr/>
          <p:nvPr/>
        </p:nvSpPr>
        <p:spPr>
          <a:xfrm>
            <a:off x="6278728"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Sevgini, şefkatini ve ilgini çevrenle paylaşma.</a:t>
            </a:r>
            <a:endParaRPr lang="en-US" sz="1000" dirty="0"/>
          </a:p>
        </p:txBody>
      </p:sp>
      <p:sp>
        <p:nvSpPr>
          <p:cNvPr id="16" name="Shape 14"/>
          <p:cNvSpPr/>
          <p:nvPr/>
        </p:nvSpPr>
        <p:spPr>
          <a:xfrm>
            <a:off x="9006611" y="1005840"/>
            <a:ext cx="2636444" cy="4114800"/>
          </a:xfrm>
          <a:prstGeom prst="roundRect">
            <a:avLst>
              <a:gd name="adj" fmla="val 3468"/>
            </a:avLst>
          </a:prstGeom>
          <a:solidFill>
            <a:srgbClr val="FCEAED"/>
          </a:solidFill>
          <a:ln/>
        </p:spPr>
      </p:sp>
      <p:sp>
        <p:nvSpPr>
          <p:cNvPr id="17" name="Text 15"/>
          <p:cNvSpPr/>
          <p:nvPr/>
        </p:nvSpPr>
        <p:spPr>
          <a:xfrm>
            <a:off x="9006611"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8" name="Text 16"/>
          <p:cNvSpPr/>
          <p:nvPr/>
        </p:nvSpPr>
        <p:spPr>
          <a:xfrm>
            <a:off x="9098051"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Bilgi Paylaşımı</a:t>
            </a:r>
            <a:endParaRPr lang="en-US" sz="1300" dirty="0"/>
          </a:p>
        </p:txBody>
      </p:sp>
      <p:sp>
        <p:nvSpPr>
          <p:cNvPr id="19" name="Text 17"/>
          <p:cNvSpPr/>
          <p:nvPr/>
        </p:nvSpPr>
        <p:spPr>
          <a:xfrm>
            <a:off x="9098051"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Bildiklerini başkalarına öğreterek paylaşma.</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Senaryolar</a:t>
            </a:r>
            <a:endParaRPr lang="en-US" sz="2400" dirty="0"/>
          </a:p>
        </p:txBody>
      </p:sp>
      <p:sp>
        <p:nvSpPr>
          <p:cNvPr id="4" name="Shape 2"/>
          <p:cNvSpPr/>
          <p:nvPr/>
        </p:nvSpPr>
        <p:spPr>
          <a:xfrm>
            <a:off x="548640" y="1005840"/>
            <a:ext cx="5410048" cy="4572000"/>
          </a:xfrm>
          <a:prstGeom prst="roundRect">
            <a:avLst>
              <a:gd name="adj" fmla="val 2000"/>
            </a:avLst>
          </a:prstGeom>
          <a:solidFill>
            <a:srgbClr val="F5F5F5"/>
          </a:solidFill>
          <a:ln/>
        </p:spPr>
      </p:sp>
      <p:sp>
        <p:nvSpPr>
          <p:cNvPr id="5" name="Text 3"/>
          <p:cNvSpPr/>
          <p:nvPr/>
        </p:nvSpPr>
        <p:spPr>
          <a:xfrm>
            <a:off x="731520"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Kantindeki Arkadaş</a:t>
            </a:r>
            <a:endParaRPr lang="en-US" sz="1400" dirty="0"/>
          </a:p>
        </p:txBody>
      </p:sp>
      <p:sp>
        <p:nvSpPr>
          <p:cNvPr id="6" name="Text 4"/>
          <p:cNvSpPr/>
          <p:nvPr/>
        </p:nvSpPr>
        <p:spPr>
          <a:xfrm>
            <a:off x="731520"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Öğle arasında kantinde sıra beklerken, arkadaşınızın cüzdanını evde unuttuğunu ve aç olduğunu fark ediyorsunuz. Sizin yeterli paranız var ama sadece kendinize yetecek kadar.</a:t>
            </a:r>
            <a:endParaRPr lang="en-US" sz="1100" dirty="0"/>
          </a:p>
        </p:txBody>
      </p:sp>
      <p:sp>
        <p:nvSpPr>
          <p:cNvPr id="7" name="Shape 5"/>
          <p:cNvSpPr/>
          <p:nvPr/>
        </p:nvSpPr>
        <p:spPr>
          <a:xfrm>
            <a:off x="731520" y="3931920"/>
            <a:ext cx="1574749" cy="640080"/>
          </a:xfrm>
          <a:prstGeom prst="roundRect">
            <a:avLst>
              <a:gd name="adj" fmla="val 11429"/>
            </a:avLst>
          </a:prstGeom>
          <a:solidFill>
            <a:srgbClr val="FCEAED"/>
          </a:solidFill>
          <a:ln/>
        </p:spPr>
      </p:sp>
      <p:sp>
        <p:nvSpPr>
          <p:cNvPr id="8" name="Text 6"/>
          <p:cNvSpPr/>
          <p:nvPr/>
        </p:nvSpPr>
        <p:spPr>
          <a:xfrm>
            <a:off x="731520"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Yemeğimi ikiye böler, yarısını arkadaşıma veririm.</a:t>
            </a:r>
            <a:endParaRPr lang="en-US" sz="800" dirty="0"/>
          </a:p>
        </p:txBody>
      </p:sp>
      <p:sp>
        <p:nvSpPr>
          <p:cNvPr id="9" name="Shape 7"/>
          <p:cNvSpPr/>
          <p:nvPr/>
        </p:nvSpPr>
        <p:spPr>
          <a:xfrm>
            <a:off x="2397709" y="3931920"/>
            <a:ext cx="1574749" cy="640080"/>
          </a:xfrm>
          <a:prstGeom prst="roundRect">
            <a:avLst>
              <a:gd name="adj" fmla="val 11429"/>
            </a:avLst>
          </a:prstGeom>
          <a:solidFill>
            <a:srgbClr val="FCEAED"/>
          </a:solidFill>
          <a:ln/>
        </p:spPr>
      </p:sp>
      <p:sp>
        <p:nvSpPr>
          <p:cNvPr id="10" name="Text 8"/>
          <p:cNvSpPr/>
          <p:nvPr/>
        </p:nvSpPr>
        <p:spPr>
          <a:xfrm>
            <a:off x="2397709"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Arkadaşıma ödünç para verir, rahatça yemesini s...</a:t>
            </a:r>
            <a:endParaRPr lang="en-US" sz="800" dirty="0"/>
          </a:p>
        </p:txBody>
      </p:sp>
      <p:sp>
        <p:nvSpPr>
          <p:cNvPr id="11" name="Shape 9"/>
          <p:cNvSpPr/>
          <p:nvPr/>
        </p:nvSpPr>
        <p:spPr>
          <a:xfrm>
            <a:off x="4063898" y="3931920"/>
            <a:ext cx="1574749" cy="640080"/>
          </a:xfrm>
          <a:prstGeom prst="roundRect">
            <a:avLst>
              <a:gd name="adj" fmla="val 11429"/>
            </a:avLst>
          </a:prstGeom>
          <a:solidFill>
            <a:srgbClr val="FCEAED"/>
          </a:solidFill>
          <a:ln/>
        </p:spPr>
      </p:sp>
      <p:sp>
        <p:nvSpPr>
          <p:cNvPr id="12" name="Text 10"/>
          <p:cNvSpPr/>
          <p:nvPr/>
        </p:nvSpPr>
        <p:spPr>
          <a:xfrm>
            <a:off x="406389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Herkes cüzdanını kontrol etmeli deyip geçerim.</a:t>
            </a:r>
            <a:endParaRPr lang="en-US" sz="800" dirty="0"/>
          </a:p>
        </p:txBody>
      </p:sp>
      <p:sp>
        <p:nvSpPr>
          <p:cNvPr id="13" name="Shape 11"/>
          <p:cNvSpPr/>
          <p:nvPr/>
        </p:nvSpPr>
        <p:spPr>
          <a:xfrm>
            <a:off x="6233008" y="1005840"/>
            <a:ext cx="5410048" cy="4572000"/>
          </a:xfrm>
          <a:prstGeom prst="roundRect">
            <a:avLst>
              <a:gd name="adj" fmla="val 2000"/>
            </a:avLst>
          </a:prstGeom>
          <a:solidFill>
            <a:srgbClr val="F5F5F5"/>
          </a:solidFill>
          <a:ln/>
        </p:spPr>
      </p:sp>
      <p:sp>
        <p:nvSpPr>
          <p:cNvPr id="14" name="Text 12"/>
          <p:cNvSpPr/>
          <p:nvPr/>
        </p:nvSpPr>
        <p:spPr>
          <a:xfrm>
            <a:off x="6415888"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Yeni Komşu</a:t>
            </a:r>
            <a:endParaRPr lang="en-US" sz="1400" dirty="0"/>
          </a:p>
        </p:txBody>
      </p:sp>
      <p:sp>
        <p:nvSpPr>
          <p:cNvPr id="15" name="Text 13"/>
          <p:cNvSpPr/>
          <p:nvPr/>
        </p:nvSpPr>
        <p:spPr>
          <a:xfrm>
            <a:off x="6415888"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Apartmanınıza yeni bir aile taşındı. Başka bir şehirden geliyorlar, hiç tanıdıkları yok ve eşyaları henüz tamamlanmamış. Anneniz size 'Bir hoş geldin ziyareti yapalım mı?' diye soruyor.</a:t>
            </a:r>
            <a:endParaRPr lang="en-US" sz="1100" dirty="0"/>
          </a:p>
        </p:txBody>
      </p:sp>
      <p:sp>
        <p:nvSpPr>
          <p:cNvPr id="16" name="Shape 14"/>
          <p:cNvSpPr/>
          <p:nvPr/>
        </p:nvSpPr>
        <p:spPr>
          <a:xfrm>
            <a:off x="6415888" y="3931920"/>
            <a:ext cx="1574749" cy="640080"/>
          </a:xfrm>
          <a:prstGeom prst="roundRect">
            <a:avLst>
              <a:gd name="adj" fmla="val 11429"/>
            </a:avLst>
          </a:prstGeom>
          <a:solidFill>
            <a:srgbClr val="FCEAED"/>
          </a:solidFill>
          <a:ln/>
        </p:spPr>
      </p:sp>
      <p:sp>
        <p:nvSpPr>
          <p:cNvPr id="17" name="Text 15"/>
          <p:cNvSpPr/>
          <p:nvPr/>
        </p:nvSpPr>
        <p:spPr>
          <a:xfrm>
            <a:off x="641588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Annemle birlikte yemek hazırlayıp komşumuza göt...</a:t>
            </a:r>
            <a:endParaRPr lang="en-US" sz="800" dirty="0"/>
          </a:p>
        </p:txBody>
      </p:sp>
      <p:sp>
        <p:nvSpPr>
          <p:cNvPr id="18" name="Shape 16"/>
          <p:cNvSpPr/>
          <p:nvPr/>
        </p:nvSpPr>
        <p:spPr>
          <a:xfrm>
            <a:off x="8082077" y="3931920"/>
            <a:ext cx="1574749" cy="640080"/>
          </a:xfrm>
          <a:prstGeom prst="roundRect">
            <a:avLst>
              <a:gd name="adj" fmla="val 11429"/>
            </a:avLst>
          </a:prstGeom>
          <a:solidFill>
            <a:srgbClr val="FCEAED"/>
          </a:solidFill>
          <a:ln/>
        </p:spPr>
      </p:sp>
      <p:sp>
        <p:nvSpPr>
          <p:cNvPr id="19" name="Text 17"/>
          <p:cNvSpPr/>
          <p:nvPr/>
        </p:nvSpPr>
        <p:spPr>
          <a:xfrm>
            <a:off x="8082077"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Evde kullanmadığımız eşyaları toplayıp yeni kom...</a:t>
            </a:r>
            <a:endParaRPr lang="en-US" sz="800" dirty="0"/>
          </a:p>
        </p:txBody>
      </p:sp>
      <p:sp>
        <p:nvSpPr>
          <p:cNvPr id="20" name="Shape 18"/>
          <p:cNvSpPr/>
          <p:nvPr/>
        </p:nvSpPr>
        <p:spPr>
          <a:xfrm>
            <a:off x="9748266" y="3931920"/>
            <a:ext cx="1574749" cy="640080"/>
          </a:xfrm>
          <a:prstGeom prst="roundRect">
            <a:avLst>
              <a:gd name="adj" fmla="val 11429"/>
            </a:avLst>
          </a:prstGeom>
          <a:solidFill>
            <a:srgbClr val="FCEAED"/>
          </a:solidFill>
          <a:ln/>
        </p:spPr>
      </p:sp>
      <p:sp>
        <p:nvSpPr>
          <p:cNvPr id="21" name="Text 19"/>
          <p:cNvSpPr/>
          <p:nvPr/>
        </p:nvSpPr>
        <p:spPr>
          <a:xfrm>
            <a:off x="9748266"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Tanımadığımız insanlara gitmenin gerekmediğini ...</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Senaryolar</a:t>
            </a:r>
            <a:endParaRPr lang="en-US" sz="2400" dirty="0"/>
          </a:p>
        </p:txBody>
      </p:sp>
      <p:sp>
        <p:nvSpPr>
          <p:cNvPr id="4" name="Shape 2"/>
          <p:cNvSpPr/>
          <p:nvPr/>
        </p:nvSpPr>
        <p:spPr>
          <a:xfrm>
            <a:off x="548640" y="1005840"/>
            <a:ext cx="5410048" cy="4572000"/>
          </a:xfrm>
          <a:prstGeom prst="roundRect">
            <a:avLst>
              <a:gd name="adj" fmla="val 2000"/>
            </a:avLst>
          </a:prstGeom>
          <a:solidFill>
            <a:srgbClr val="F5F5F5"/>
          </a:solidFill>
          <a:ln/>
        </p:spPr>
      </p:sp>
      <p:sp>
        <p:nvSpPr>
          <p:cNvPr id="5" name="Text 3"/>
          <p:cNvSpPr/>
          <p:nvPr/>
        </p:nvSpPr>
        <p:spPr>
          <a:xfrm>
            <a:off x="731520"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Kütüphanede Yardım</a:t>
            </a:r>
            <a:endParaRPr lang="en-US" sz="1400" dirty="0"/>
          </a:p>
        </p:txBody>
      </p:sp>
      <p:sp>
        <p:nvSpPr>
          <p:cNvPr id="6" name="Text 4"/>
          <p:cNvSpPr/>
          <p:nvPr/>
        </p:nvSpPr>
        <p:spPr>
          <a:xfrm>
            <a:off x="731520"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Kütüphanede çalışırken yanınızdaki öğrencinin matematik problemleriyle boğuştuğunu görüyorsunuz. Siz matematikte iyisiniz ama kendi derslerinize de çalışmanız gerekiyor.</a:t>
            </a:r>
            <a:endParaRPr lang="en-US" sz="1100" dirty="0"/>
          </a:p>
        </p:txBody>
      </p:sp>
      <p:sp>
        <p:nvSpPr>
          <p:cNvPr id="7" name="Shape 5"/>
          <p:cNvSpPr/>
          <p:nvPr/>
        </p:nvSpPr>
        <p:spPr>
          <a:xfrm>
            <a:off x="731520" y="3931920"/>
            <a:ext cx="1574749" cy="640080"/>
          </a:xfrm>
          <a:prstGeom prst="roundRect">
            <a:avLst>
              <a:gd name="adj" fmla="val 11429"/>
            </a:avLst>
          </a:prstGeom>
          <a:solidFill>
            <a:srgbClr val="FCEAED"/>
          </a:solidFill>
          <a:ln/>
        </p:spPr>
      </p:sp>
      <p:sp>
        <p:nvSpPr>
          <p:cNvPr id="8" name="Text 6"/>
          <p:cNvSpPr/>
          <p:nvPr/>
        </p:nvSpPr>
        <p:spPr>
          <a:xfrm>
            <a:off x="731520"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Yarım saat ayırıp ona yardım ederim, sonra kend...</a:t>
            </a:r>
            <a:endParaRPr lang="en-US" sz="800" dirty="0"/>
          </a:p>
        </p:txBody>
      </p:sp>
      <p:sp>
        <p:nvSpPr>
          <p:cNvPr id="9" name="Shape 7"/>
          <p:cNvSpPr/>
          <p:nvPr/>
        </p:nvSpPr>
        <p:spPr>
          <a:xfrm>
            <a:off x="2397709" y="3931920"/>
            <a:ext cx="1574749" cy="640080"/>
          </a:xfrm>
          <a:prstGeom prst="roundRect">
            <a:avLst>
              <a:gd name="adj" fmla="val 11429"/>
            </a:avLst>
          </a:prstGeom>
          <a:solidFill>
            <a:srgbClr val="FCEAED"/>
          </a:solidFill>
          <a:ln/>
        </p:spPr>
      </p:sp>
      <p:sp>
        <p:nvSpPr>
          <p:cNvPr id="10" name="Text 8"/>
          <p:cNvSpPr/>
          <p:nvPr/>
        </p:nvSpPr>
        <p:spPr>
          <a:xfrm>
            <a:off x="2397709"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Problemi çözmesine ipucu verir, yönlendiririm.</a:t>
            </a:r>
            <a:endParaRPr lang="en-US" sz="800" dirty="0"/>
          </a:p>
        </p:txBody>
      </p:sp>
      <p:sp>
        <p:nvSpPr>
          <p:cNvPr id="11" name="Shape 9"/>
          <p:cNvSpPr/>
          <p:nvPr/>
        </p:nvSpPr>
        <p:spPr>
          <a:xfrm>
            <a:off x="4063898" y="3931920"/>
            <a:ext cx="1574749" cy="640080"/>
          </a:xfrm>
          <a:prstGeom prst="roundRect">
            <a:avLst>
              <a:gd name="adj" fmla="val 11429"/>
            </a:avLst>
          </a:prstGeom>
          <a:solidFill>
            <a:srgbClr val="FCEAED"/>
          </a:solidFill>
          <a:ln/>
        </p:spPr>
      </p:sp>
      <p:sp>
        <p:nvSpPr>
          <p:cNvPr id="12" name="Text 10"/>
          <p:cNvSpPr/>
          <p:nvPr/>
        </p:nvSpPr>
        <p:spPr>
          <a:xfrm>
            <a:off x="406389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Kendi işime bakarım, herkes kendi dersine çalış...</a:t>
            </a:r>
            <a:endParaRPr lang="en-US" sz="800" dirty="0"/>
          </a:p>
        </p:txBody>
      </p:sp>
      <p:sp>
        <p:nvSpPr>
          <p:cNvPr id="13" name="Shape 11"/>
          <p:cNvSpPr/>
          <p:nvPr/>
        </p:nvSpPr>
        <p:spPr>
          <a:xfrm>
            <a:off x="6233008" y="1005840"/>
            <a:ext cx="5410048" cy="4572000"/>
          </a:xfrm>
          <a:prstGeom prst="roundRect">
            <a:avLst>
              <a:gd name="adj" fmla="val 2000"/>
            </a:avLst>
          </a:prstGeom>
          <a:solidFill>
            <a:srgbClr val="F5F5F5"/>
          </a:solidFill>
          <a:ln/>
        </p:spPr>
      </p:sp>
      <p:sp>
        <p:nvSpPr>
          <p:cNvPr id="14" name="Text 12"/>
          <p:cNvSpPr/>
          <p:nvPr/>
        </p:nvSpPr>
        <p:spPr>
          <a:xfrm>
            <a:off x="6415888"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Bayram Hediyesi</a:t>
            </a:r>
            <a:endParaRPr lang="en-US" sz="1400" dirty="0"/>
          </a:p>
        </p:txBody>
      </p:sp>
      <p:sp>
        <p:nvSpPr>
          <p:cNvPr id="15" name="Text 13"/>
          <p:cNvSpPr/>
          <p:nvPr/>
        </p:nvSpPr>
        <p:spPr>
          <a:xfrm>
            <a:off x="6415888"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Bayramda güzel bir hediye aldınız. Ancak komşunuzdaki arkadaşınızın ailesi bayramda hediye alacak durumda değil. Arkadaşınız sizin hediyenize imrenerek bakıyor.</a:t>
            </a:r>
            <a:endParaRPr lang="en-US" sz="1100" dirty="0"/>
          </a:p>
        </p:txBody>
      </p:sp>
      <p:sp>
        <p:nvSpPr>
          <p:cNvPr id="16" name="Shape 14"/>
          <p:cNvSpPr/>
          <p:nvPr/>
        </p:nvSpPr>
        <p:spPr>
          <a:xfrm>
            <a:off x="6415888" y="3931920"/>
            <a:ext cx="1574749" cy="640080"/>
          </a:xfrm>
          <a:prstGeom prst="roundRect">
            <a:avLst>
              <a:gd name="adj" fmla="val 11429"/>
            </a:avLst>
          </a:prstGeom>
          <a:solidFill>
            <a:srgbClr val="FCEAED"/>
          </a:solidFill>
          <a:ln/>
        </p:spPr>
      </p:sp>
      <p:sp>
        <p:nvSpPr>
          <p:cNvPr id="17" name="Text 15"/>
          <p:cNvSpPr/>
          <p:nvPr/>
        </p:nvSpPr>
        <p:spPr>
          <a:xfrm>
            <a:off x="641588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Hediyemden bir parçasını veya oyuncağımı arkada...</a:t>
            </a:r>
            <a:endParaRPr lang="en-US" sz="800" dirty="0"/>
          </a:p>
        </p:txBody>
      </p:sp>
      <p:sp>
        <p:nvSpPr>
          <p:cNvPr id="18" name="Shape 16"/>
          <p:cNvSpPr/>
          <p:nvPr/>
        </p:nvSpPr>
        <p:spPr>
          <a:xfrm>
            <a:off x="8082077" y="3931920"/>
            <a:ext cx="1574749" cy="640080"/>
          </a:xfrm>
          <a:prstGeom prst="roundRect">
            <a:avLst>
              <a:gd name="adj" fmla="val 11429"/>
            </a:avLst>
          </a:prstGeom>
          <a:solidFill>
            <a:srgbClr val="FCEAED"/>
          </a:solidFill>
          <a:ln/>
        </p:spPr>
      </p:sp>
      <p:sp>
        <p:nvSpPr>
          <p:cNvPr id="19" name="Text 17"/>
          <p:cNvSpPr/>
          <p:nvPr/>
        </p:nvSpPr>
        <p:spPr>
          <a:xfrm>
            <a:off x="8082077"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Aileme durumu anlatır, arkadaşıma da küçük bir ...</a:t>
            </a:r>
            <a:endParaRPr lang="en-US" sz="800" dirty="0"/>
          </a:p>
        </p:txBody>
      </p:sp>
      <p:sp>
        <p:nvSpPr>
          <p:cNvPr id="20" name="Shape 18"/>
          <p:cNvSpPr/>
          <p:nvPr/>
        </p:nvSpPr>
        <p:spPr>
          <a:xfrm>
            <a:off x="9748266" y="3931920"/>
            <a:ext cx="1574749" cy="640080"/>
          </a:xfrm>
          <a:prstGeom prst="roundRect">
            <a:avLst>
              <a:gd name="adj" fmla="val 11429"/>
            </a:avLst>
          </a:prstGeom>
          <a:solidFill>
            <a:srgbClr val="FCEAED"/>
          </a:solidFill>
          <a:ln/>
        </p:spPr>
      </p:sp>
      <p:sp>
        <p:nvSpPr>
          <p:cNvPr id="21" name="Text 19"/>
          <p:cNvSpPr/>
          <p:nvPr/>
        </p:nvSpPr>
        <p:spPr>
          <a:xfrm>
            <a:off x="9748266"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Hediyem benim, paylaşmak zorunda değilim.</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274320"/>
            <a:ext cx="12191695" cy="54864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Quiz</a:t>
            </a:r>
            <a:endParaRPr lang="en-US" sz="2800" dirty="0"/>
          </a:p>
        </p:txBody>
      </p:sp>
      <p:sp>
        <p:nvSpPr>
          <p:cNvPr id="5" name="Shape 3"/>
          <p:cNvSpPr/>
          <p:nvPr/>
        </p:nvSpPr>
        <p:spPr>
          <a:xfrm>
            <a:off x="1005840" y="1097280"/>
            <a:ext cx="3210458" cy="4572000"/>
          </a:xfrm>
          <a:prstGeom prst="roundRect">
            <a:avLst>
              <a:gd name="adj" fmla="val 2848"/>
            </a:avLst>
          </a:prstGeom>
          <a:solidFill>
            <a:srgbClr val="FFFFFF">
              <a:alpha val="90000"/>
            </a:srgbClr>
          </a:solidFill>
          <a:ln/>
        </p:spPr>
      </p:sp>
      <p:sp>
        <p:nvSpPr>
          <p:cNvPr id="6" name="Text 4"/>
          <p:cNvSpPr/>
          <p:nvPr/>
        </p:nvSpPr>
        <p:spPr>
          <a:xfrm>
            <a:off x="1143000"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Peygamber Efendimiz Medîne'de kimleri birbirine kardeş yaptı?</a:t>
            </a:r>
            <a:endParaRPr lang="en-US" sz="1100" dirty="0"/>
          </a:p>
        </p:txBody>
      </p:sp>
      <p:sp>
        <p:nvSpPr>
          <p:cNvPr id="7" name="Text 5"/>
          <p:cNvSpPr/>
          <p:nvPr/>
        </p:nvSpPr>
        <p:spPr>
          <a:xfrm>
            <a:off x="1143000"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Mekkeli zenginlerle fakirleri</a:t>
            </a:r>
            <a:endParaRPr lang="en-US" sz="900" dirty="0"/>
          </a:p>
        </p:txBody>
      </p:sp>
      <p:sp>
        <p:nvSpPr>
          <p:cNvPr id="8" name="Text 6"/>
          <p:cNvSpPr/>
          <p:nvPr/>
        </p:nvSpPr>
        <p:spPr>
          <a:xfrm>
            <a:off x="1143000"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Ensâr ile Muhâcirleri</a:t>
            </a:r>
            <a:endParaRPr lang="en-US" sz="900" dirty="0"/>
          </a:p>
        </p:txBody>
      </p:sp>
      <p:sp>
        <p:nvSpPr>
          <p:cNvPr id="9" name="Text 7"/>
          <p:cNvSpPr/>
          <p:nvPr/>
        </p:nvSpPr>
        <p:spPr>
          <a:xfrm>
            <a:off x="1143000"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Medîneli kabileleri</a:t>
            </a:r>
            <a:endParaRPr lang="en-US" sz="900" dirty="0"/>
          </a:p>
        </p:txBody>
      </p:sp>
      <p:sp>
        <p:nvSpPr>
          <p:cNvPr id="10" name="Text 8"/>
          <p:cNvSpPr/>
          <p:nvPr/>
        </p:nvSpPr>
        <p:spPr>
          <a:xfrm>
            <a:off x="1143000"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Erkeklerle kadınları</a:t>
            </a:r>
            <a:endParaRPr lang="en-US" sz="900" dirty="0"/>
          </a:p>
        </p:txBody>
      </p:sp>
      <p:sp>
        <p:nvSpPr>
          <p:cNvPr id="11" name="Shape 9"/>
          <p:cNvSpPr/>
          <p:nvPr/>
        </p:nvSpPr>
        <p:spPr>
          <a:xfrm>
            <a:off x="4490618" y="1097280"/>
            <a:ext cx="3210458" cy="4572000"/>
          </a:xfrm>
          <a:prstGeom prst="roundRect">
            <a:avLst>
              <a:gd name="adj" fmla="val 2848"/>
            </a:avLst>
          </a:prstGeom>
          <a:solidFill>
            <a:srgbClr val="FFFFFF">
              <a:alpha val="90000"/>
            </a:srgbClr>
          </a:solidFill>
          <a:ln/>
        </p:spPr>
      </p:sp>
      <p:sp>
        <p:nvSpPr>
          <p:cNvPr id="12" name="Text 10"/>
          <p:cNvSpPr/>
          <p:nvPr/>
        </p:nvSpPr>
        <p:spPr>
          <a:xfrm>
            <a:off x="4627778"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Haşr Sûresi 9. ayette Ensâr'ın hangi özelliği övülmüştür?</a:t>
            </a:r>
            <a:endParaRPr lang="en-US" sz="1100" dirty="0"/>
          </a:p>
        </p:txBody>
      </p:sp>
      <p:sp>
        <p:nvSpPr>
          <p:cNvPr id="13" name="Text 11"/>
          <p:cNvSpPr/>
          <p:nvPr/>
        </p:nvSpPr>
        <p:spPr>
          <a:xfrm>
            <a:off x="4627778"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Savaşçılıkları</a:t>
            </a:r>
            <a:endParaRPr lang="en-US" sz="900" dirty="0"/>
          </a:p>
        </p:txBody>
      </p:sp>
      <p:sp>
        <p:nvSpPr>
          <p:cNvPr id="14" name="Text 12"/>
          <p:cNvSpPr/>
          <p:nvPr/>
        </p:nvSpPr>
        <p:spPr>
          <a:xfrm>
            <a:off x="4627778"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Zenginlikleri</a:t>
            </a:r>
            <a:endParaRPr lang="en-US" sz="900" dirty="0"/>
          </a:p>
        </p:txBody>
      </p:sp>
      <p:sp>
        <p:nvSpPr>
          <p:cNvPr id="15" name="Text 13"/>
          <p:cNvSpPr/>
          <p:nvPr/>
        </p:nvSpPr>
        <p:spPr>
          <a:xfrm>
            <a:off x="4627778"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Kendileri muhtaç iken başkalarını tercih etmeleri</a:t>
            </a:r>
            <a:endParaRPr lang="en-US" sz="900" dirty="0"/>
          </a:p>
        </p:txBody>
      </p:sp>
      <p:sp>
        <p:nvSpPr>
          <p:cNvPr id="16" name="Text 14"/>
          <p:cNvSpPr/>
          <p:nvPr/>
        </p:nvSpPr>
        <p:spPr>
          <a:xfrm>
            <a:off x="4627778"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Çok namaz kılmaları</a:t>
            </a:r>
            <a:endParaRPr lang="en-US" sz="900" dirty="0"/>
          </a:p>
        </p:txBody>
      </p:sp>
      <p:sp>
        <p:nvSpPr>
          <p:cNvPr id="17" name="Shape 15"/>
          <p:cNvSpPr/>
          <p:nvPr/>
        </p:nvSpPr>
        <p:spPr>
          <a:xfrm>
            <a:off x="7975397" y="1097280"/>
            <a:ext cx="3210458" cy="4572000"/>
          </a:xfrm>
          <a:prstGeom prst="roundRect">
            <a:avLst>
              <a:gd name="adj" fmla="val 2848"/>
            </a:avLst>
          </a:prstGeom>
          <a:solidFill>
            <a:srgbClr val="FFFFFF">
              <a:alpha val="90000"/>
            </a:srgbClr>
          </a:solidFill>
          <a:ln/>
        </p:spPr>
      </p:sp>
      <p:sp>
        <p:nvSpPr>
          <p:cNvPr id="18" name="Text 16"/>
          <p:cNvSpPr/>
          <p:nvPr/>
        </p:nvSpPr>
        <p:spPr>
          <a:xfrm>
            <a:off x="8112557"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Aşağıdakilerden hangisi paylaşmanın bir boyutu değildir?</a:t>
            </a:r>
            <a:endParaRPr lang="en-US" sz="1100" dirty="0"/>
          </a:p>
        </p:txBody>
      </p:sp>
      <p:sp>
        <p:nvSpPr>
          <p:cNvPr id="19" name="Text 17"/>
          <p:cNvSpPr/>
          <p:nvPr/>
        </p:nvSpPr>
        <p:spPr>
          <a:xfrm>
            <a:off x="8112557"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Mal paylaşımı</a:t>
            </a:r>
            <a:endParaRPr lang="en-US" sz="900" dirty="0"/>
          </a:p>
        </p:txBody>
      </p:sp>
      <p:sp>
        <p:nvSpPr>
          <p:cNvPr id="20" name="Text 18"/>
          <p:cNvSpPr/>
          <p:nvPr/>
        </p:nvSpPr>
        <p:spPr>
          <a:xfrm>
            <a:off x="8112557"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Zaman paylaşımı</a:t>
            </a:r>
            <a:endParaRPr lang="en-US" sz="900" dirty="0"/>
          </a:p>
        </p:txBody>
      </p:sp>
      <p:sp>
        <p:nvSpPr>
          <p:cNvPr id="21" name="Text 19"/>
          <p:cNvSpPr/>
          <p:nvPr/>
        </p:nvSpPr>
        <p:spPr>
          <a:xfrm>
            <a:off x="8112557"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Bilgi paylaşımı</a:t>
            </a:r>
            <a:endParaRPr lang="en-US" sz="900" dirty="0"/>
          </a:p>
        </p:txBody>
      </p:sp>
      <p:sp>
        <p:nvSpPr>
          <p:cNvPr id="22" name="Text 20"/>
          <p:cNvSpPr/>
          <p:nvPr/>
        </p:nvSpPr>
        <p:spPr>
          <a:xfrm>
            <a:off x="8112557"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Cimrilik</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914400"/>
            <a:ext cx="12191695" cy="548640"/>
          </a:xfrm>
          <a:prstGeom prst="rect">
            <a:avLst/>
          </a:prstGeom>
          <a:noFill/>
          <a:ln/>
        </p:spPr>
        <p:txBody>
          <a:bodyPr wrap="square" rtlCol="0" anchor="ctr"/>
          <a:lstStyle/>
          <a:p>
            <a:pPr algn="ctr" indent="0" marL="0">
              <a:buNone/>
            </a:pPr>
            <a:r>
              <a:rPr lang="en-US" sz="2800" dirty="0">
                <a:solidFill>
                  <a:srgbClr val="FCEAED"/>
                </a:solidFill>
              </a:rPr>
              <a:t>✦</a:t>
            </a:r>
            <a:endParaRPr lang="en-US" sz="2800" dirty="0"/>
          </a:p>
        </p:txBody>
      </p:sp>
      <p:sp>
        <p:nvSpPr>
          <p:cNvPr id="5" name="Text 3"/>
          <p:cNvSpPr/>
          <p:nvPr/>
        </p:nvSpPr>
        <p:spPr>
          <a:xfrm>
            <a:off x="1371600" y="1828800"/>
            <a:ext cx="9448495" cy="2743200"/>
          </a:xfrm>
          <a:prstGeom prst="rect">
            <a:avLst/>
          </a:prstGeom>
          <a:noFill/>
          <a:ln/>
        </p:spPr>
        <p:txBody>
          <a:bodyPr wrap="square" rtlCol="0" anchor="ctr"/>
          <a:lstStyle/>
          <a:p>
            <a:pPr algn="ctr" indent="0" marL="0">
              <a:buNone/>
            </a:pPr>
            <a:r>
              <a:rPr lang="en-US" sz="2400" i="1" dirty="0">
                <a:solidFill>
                  <a:srgbClr val="FFFFFF"/>
                </a:solidFill>
                <a:latin typeface="Calibri" pitchFamily="34" charset="0"/>
                <a:ea typeface="Calibri" pitchFamily="34" charset="-122"/>
                <a:cs typeface="Calibri" pitchFamily="34" charset="-120"/>
              </a:rPr>
              <a:t>Kendileri ihtiyaç içinde olsalar bile başkalarını kendilerine tercih ederler.</a:t>
            </a:r>
            <a:endParaRPr lang="en-US" sz="2400" dirty="0"/>
          </a:p>
        </p:txBody>
      </p:sp>
      <p:sp>
        <p:nvSpPr>
          <p:cNvPr id="6" name="Text 4"/>
          <p:cNvSpPr/>
          <p:nvPr/>
        </p:nvSpPr>
        <p:spPr>
          <a:xfrm>
            <a:off x="1371600" y="4754880"/>
            <a:ext cx="9448495" cy="45720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Haşr Sûresi, 9</a:t>
            </a:r>
            <a:endParaRPr lang="en-US" sz="1400" dirty="0"/>
          </a:p>
        </p:txBody>
      </p:sp>
      <p:sp>
        <p:nvSpPr>
          <p:cNvPr id="7" name="Text 5"/>
          <p:cNvSpPr/>
          <p:nvPr/>
        </p:nvSpPr>
        <p:spPr>
          <a:xfrm>
            <a:off x="0" y="5303520"/>
            <a:ext cx="12191695" cy="548640"/>
          </a:xfrm>
          <a:prstGeom prst="rect">
            <a:avLst/>
          </a:prstGeom>
          <a:noFill/>
          <a:ln/>
        </p:spPr>
        <p:txBody>
          <a:bodyPr wrap="square" rtlCol="0" anchor="ctr"/>
          <a:lstStyle/>
          <a:p>
            <a:pPr algn="ctr" indent="0" marL="0">
              <a:buNone/>
            </a:pPr>
            <a:r>
              <a:rPr lang="en-US" sz="2800" dirty="0">
                <a:solidFill>
                  <a:srgbClr val="FCEAED"/>
                </a:solidFill>
              </a:rPr>
              <a:t>✦</a:t>
            </a:r>
            <a:endParaRPr lang="en-US" sz="2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Duesuenelim</a:t>
            </a:r>
            <a:endParaRPr lang="en-US" sz="2400" dirty="0"/>
          </a:p>
        </p:txBody>
      </p:sp>
      <p:sp>
        <p:nvSpPr>
          <p:cNvPr id="4" name="Shape 2"/>
          <p:cNvSpPr/>
          <p:nvPr/>
        </p:nvSpPr>
        <p:spPr>
          <a:xfrm>
            <a:off x="548640" y="1005840"/>
            <a:ext cx="11094415" cy="1463040"/>
          </a:xfrm>
          <a:prstGeom prst="roundRect">
            <a:avLst>
              <a:gd name="adj" fmla="val 5000"/>
            </a:avLst>
          </a:prstGeom>
          <a:solidFill>
            <a:srgbClr val="FCEAED"/>
          </a:solidFill>
          <a:ln/>
        </p:spPr>
      </p:sp>
      <p:sp>
        <p:nvSpPr>
          <p:cNvPr id="5" name="Text 3"/>
          <p:cNvSpPr/>
          <p:nvPr/>
        </p:nvSpPr>
        <p:spPr>
          <a:xfrm>
            <a:off x="685800" y="114300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1.</a:t>
            </a:r>
            <a:endParaRPr lang="en-US" sz="1800" dirty="0"/>
          </a:p>
        </p:txBody>
      </p:sp>
      <p:sp>
        <p:nvSpPr>
          <p:cNvPr id="6" name="Text 4"/>
          <p:cNvSpPr/>
          <p:nvPr/>
        </p:nvSpPr>
        <p:spPr>
          <a:xfrm>
            <a:off x="1005840" y="114300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Sa'd bin Rebî'nin yerinde olsan, malının yarısını verebilir misin? Neden?</a:t>
            </a:r>
            <a:endParaRPr lang="en-US" sz="1600" dirty="0"/>
          </a:p>
        </p:txBody>
      </p:sp>
      <p:sp>
        <p:nvSpPr>
          <p:cNvPr id="7" name="Shape 5"/>
          <p:cNvSpPr/>
          <p:nvPr/>
        </p:nvSpPr>
        <p:spPr>
          <a:xfrm>
            <a:off x="548640" y="2651760"/>
            <a:ext cx="11094415" cy="1463040"/>
          </a:xfrm>
          <a:prstGeom prst="roundRect">
            <a:avLst>
              <a:gd name="adj" fmla="val 5000"/>
            </a:avLst>
          </a:prstGeom>
          <a:solidFill>
            <a:srgbClr val="FCEAED"/>
          </a:solidFill>
          <a:ln/>
        </p:spPr>
      </p:sp>
      <p:sp>
        <p:nvSpPr>
          <p:cNvPr id="8" name="Text 6"/>
          <p:cNvSpPr/>
          <p:nvPr/>
        </p:nvSpPr>
        <p:spPr>
          <a:xfrm>
            <a:off x="685800" y="278892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2.</a:t>
            </a:r>
            <a:endParaRPr lang="en-US" sz="1800" dirty="0"/>
          </a:p>
        </p:txBody>
      </p:sp>
      <p:sp>
        <p:nvSpPr>
          <p:cNvPr id="9" name="Text 7"/>
          <p:cNvSpPr/>
          <p:nvPr/>
        </p:nvSpPr>
        <p:spPr>
          <a:xfrm>
            <a:off x="1005840" y="278892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Abdurrahman bin Avf'ın tavrını nasıl değerlendiriyorsun? Kendi ayakları üzerinde durmak neden önemli?</a:t>
            </a:r>
            <a:endParaRPr lang="en-US" sz="1600" dirty="0"/>
          </a:p>
        </p:txBody>
      </p:sp>
      <p:sp>
        <p:nvSpPr>
          <p:cNvPr id="10" name="Shape 8"/>
          <p:cNvSpPr/>
          <p:nvPr/>
        </p:nvSpPr>
        <p:spPr>
          <a:xfrm>
            <a:off x="548640" y="4297680"/>
            <a:ext cx="11094415" cy="1463040"/>
          </a:xfrm>
          <a:prstGeom prst="roundRect">
            <a:avLst>
              <a:gd name="adj" fmla="val 5000"/>
            </a:avLst>
          </a:prstGeom>
          <a:solidFill>
            <a:srgbClr val="FCEAED"/>
          </a:solidFill>
          <a:ln/>
        </p:spPr>
      </p:sp>
      <p:sp>
        <p:nvSpPr>
          <p:cNvPr id="11" name="Text 9"/>
          <p:cNvSpPr/>
          <p:nvPr/>
        </p:nvSpPr>
        <p:spPr>
          <a:xfrm>
            <a:off x="685800" y="443484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3.</a:t>
            </a:r>
            <a:endParaRPr lang="en-US" sz="1800" dirty="0"/>
          </a:p>
        </p:txBody>
      </p:sp>
      <p:sp>
        <p:nvSpPr>
          <p:cNvPr id="12" name="Text 10"/>
          <p:cNvSpPr/>
          <p:nvPr/>
        </p:nvSpPr>
        <p:spPr>
          <a:xfrm>
            <a:off x="1005840" y="443484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Son bir hafta içinde kiminle neyi paylaştığını hatırlıyor musun?</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1645920"/>
            <a:ext cx="12191695" cy="1097280"/>
          </a:xfrm>
          <a:prstGeom prst="rect">
            <a:avLst/>
          </a:prstGeom>
          <a:noFill/>
          <a:ln/>
        </p:spPr>
        <p:txBody>
          <a:bodyPr wrap="square" rtlCol="0" anchor="ctr"/>
          <a:lstStyle/>
          <a:p>
            <a:pPr algn="ctr" indent="0" marL="0">
              <a:buNone/>
            </a:pPr>
            <a:r>
              <a:rPr lang="en-US" sz="6000" dirty="0">
                <a:solidFill>
                  <a:srgbClr val="000000"/>
                </a:solidFill>
              </a:rPr>
              <a:t>❤️</a:t>
            </a:r>
            <a:endParaRPr lang="en-US" sz="6000" dirty="0"/>
          </a:p>
        </p:txBody>
      </p:sp>
      <p:sp>
        <p:nvSpPr>
          <p:cNvPr id="5" name="Text 3"/>
          <p:cNvSpPr/>
          <p:nvPr/>
        </p:nvSpPr>
        <p:spPr>
          <a:xfrm>
            <a:off x="0" y="2926080"/>
            <a:ext cx="12191695" cy="914400"/>
          </a:xfrm>
          <a:prstGeom prst="rect">
            <a:avLst/>
          </a:prstGeom>
          <a:noFill/>
          <a:ln/>
        </p:spPr>
        <p:txBody>
          <a:bodyPr wrap="square"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Birlikte Iyilik Akademisi</a:t>
            </a:r>
            <a:endParaRPr lang="en-US" sz="3200" dirty="0"/>
          </a:p>
        </p:txBody>
      </p:sp>
      <p:sp>
        <p:nvSpPr>
          <p:cNvPr id="6" name="Text 4"/>
          <p:cNvSpPr/>
          <p:nvPr/>
        </p:nvSpPr>
        <p:spPr>
          <a:xfrm>
            <a:off x="0" y="3840480"/>
            <a:ext cx="12191695" cy="548640"/>
          </a:xfrm>
          <a:prstGeom prst="rect">
            <a:avLst/>
          </a:prstGeom>
          <a:noFill/>
          <a:ln/>
        </p:spPr>
        <p:txBody>
          <a:bodyPr wrap="square" rtlCol="0" anchor="ctr"/>
          <a:lstStyle/>
          <a:p>
            <a:pPr algn="ctr" indent="0" marL="0">
              <a:buNone/>
            </a:pPr>
            <a:r>
              <a:rPr lang="en-US" sz="1800" dirty="0">
                <a:solidFill>
                  <a:srgbClr val="FCEAED"/>
                </a:solidFill>
                <a:latin typeface="Calibri" pitchFamily="34" charset="0"/>
                <a:ea typeface="Calibri" pitchFamily="34" charset="-122"/>
                <a:cs typeface="Calibri" pitchFamily="34" charset="-120"/>
              </a:rPr>
              <a:t>Degerler Egitimi</a:t>
            </a:r>
            <a:endParaRPr lang="en-US" sz="1800" dirty="0"/>
          </a:p>
        </p:txBody>
      </p:sp>
      <p:sp>
        <p:nvSpPr>
          <p:cNvPr id="7" name="Text 5"/>
          <p:cNvSpPr/>
          <p:nvPr/>
        </p:nvSpPr>
        <p:spPr>
          <a:xfrm>
            <a:off x="0" y="4754880"/>
            <a:ext cx="12191695" cy="457200"/>
          </a:xfrm>
          <a:prstGeom prst="rect">
            <a:avLst/>
          </a:prstGeom>
          <a:noFill/>
          <a:ln/>
        </p:spPr>
        <p:txBody>
          <a:bodyPr wrap="square" rtlCol="0" anchor="ctr"/>
          <a:lstStyle/>
          <a:p>
            <a:pPr algn="ctr" indent="0" marL="0">
              <a:buNone/>
            </a:pPr>
            <a:r>
              <a:rPr lang="en-US" sz="1600" i="1" dirty="0">
                <a:solidFill>
                  <a:srgbClr val="FCEAED"/>
                </a:solidFill>
                <a:latin typeface="Calibri" pitchFamily="34" charset="0"/>
                <a:ea typeface="Calibri" pitchFamily="34" charset="-122"/>
                <a:cs typeface="Calibri" pitchFamily="34" charset="-120"/>
              </a:rPr>
              <a:t>Ders 14</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Kardeşlik ve Paylaşma</dc:title>
  <dc:subject>Degerler Egitimi</dc:subject>
  <dc:creator>Birlikte Iyilik Akademisi</dc:creator>
  <cp:lastModifiedBy>Birlikte Iyilik Akademisi</cp:lastModifiedBy>
  <cp:revision>1</cp:revision>
  <dcterms:created xsi:type="dcterms:W3CDTF">2026-03-21T08:52:35Z</dcterms:created>
  <dcterms:modified xsi:type="dcterms:W3CDTF">2026-03-21T08:52:35Z</dcterms:modified>
</cp:coreProperties>
</file>