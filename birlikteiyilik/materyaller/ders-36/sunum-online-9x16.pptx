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5143500" cy="9144000"/>
  <p:notesSz cx="9144000" cy="51435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548640"/>
            <a:ext cx="5143500" cy="457200"/>
          </a:xfrm>
          <a:prstGeom prst="rect">
            <a:avLst/>
          </a:prstGeom>
          <a:noFill/>
          <a:ln/>
        </p:spPr>
        <p:txBody>
          <a:bodyPr wrap="square" rtlCol="0" anchor="ctr"/>
          <a:lstStyle/>
          <a:p>
            <a:pPr algn="ctr" indent="0" marL="0">
              <a:buNone/>
            </a:pPr>
            <a:r>
              <a:rPr lang="en-US" sz="1100" dirty="0">
                <a:solidFill>
                  <a:srgbClr val="FCEAED"/>
                </a:solidFill>
                <a:latin typeface="Calibri" pitchFamily="34" charset="0"/>
                <a:ea typeface="Calibri" pitchFamily="34" charset="-122"/>
                <a:cs typeface="Calibri" pitchFamily="34" charset="-120"/>
              </a:rPr>
              <a:t>Birlikte Iyilik Akademisi</a:t>
            </a:r>
            <a:endParaRPr lang="en-US" sz="1100" dirty="0"/>
          </a:p>
        </p:txBody>
      </p:sp>
      <p:sp>
        <p:nvSpPr>
          <p:cNvPr id="5" name="Text 3"/>
          <p:cNvSpPr/>
          <p:nvPr/>
        </p:nvSpPr>
        <p:spPr>
          <a:xfrm>
            <a:off x="365760" y="2743200"/>
            <a:ext cx="4411980" cy="137160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Sünnet ve Günlük Hayat</a:t>
            </a:r>
            <a:endParaRPr lang="en-US" sz="2800" dirty="0"/>
          </a:p>
        </p:txBody>
      </p:sp>
      <p:sp>
        <p:nvSpPr>
          <p:cNvPr id="6" name="Text 4"/>
          <p:cNvSpPr/>
          <p:nvPr/>
        </p:nvSpPr>
        <p:spPr>
          <a:xfrm>
            <a:off x="457200" y="4206240"/>
            <a:ext cx="4229100" cy="548640"/>
          </a:xfrm>
          <a:prstGeom prst="rect">
            <a:avLst/>
          </a:prstGeom>
          <a:noFill/>
          <a:ln/>
        </p:spPr>
        <p:txBody>
          <a:bodyPr wrap="square" rtlCol="0" anchor="ctr"/>
          <a:lstStyle/>
          <a:p>
            <a:pPr algn="ctr" indent="0" marL="0">
              <a:buNone/>
            </a:pPr>
            <a:r>
              <a:rPr lang="en-US" sz="1500" i="1" dirty="0">
                <a:solidFill>
                  <a:srgbClr val="FCEAED"/>
                </a:solidFill>
                <a:latin typeface="Calibri" pitchFamily="34" charset="0"/>
                <a:ea typeface="Calibri" pitchFamily="34" charset="-122"/>
                <a:cs typeface="Calibri" pitchFamily="34" charset="-120"/>
              </a:rPr>
              <a:t>Her Anda Peygamber Efendimiz'in İzinde</a:t>
            </a:r>
            <a:endParaRPr lang="en-US" sz="1500" dirty="0"/>
          </a:p>
        </p:txBody>
      </p:sp>
      <p:sp>
        <p:nvSpPr>
          <p:cNvPr id="7" name="Text 5"/>
          <p:cNvSpPr/>
          <p:nvPr/>
        </p:nvSpPr>
        <p:spPr>
          <a:xfrm>
            <a:off x="0" y="8412480"/>
            <a:ext cx="5143500" cy="457200"/>
          </a:xfrm>
          <a:prstGeom prst="rect">
            <a:avLst/>
          </a:prstGeom>
          <a:noFill/>
          <a:ln/>
        </p:spPr>
        <p:txBody>
          <a:bodyPr wrap="square" rtlCol="0" anchor="ctr"/>
          <a:lstStyle/>
          <a:p>
            <a:pPr algn="ctr" indent="0" marL="0">
              <a:buNone/>
            </a:pPr>
            <a:r>
              <a:rPr lang="en-US" sz="1000" dirty="0">
                <a:solidFill>
                  <a:srgbClr val="FCEAED"/>
                </a:solidFill>
                <a:latin typeface="Calibri" pitchFamily="34" charset="0"/>
                <a:ea typeface="Calibri" pitchFamily="34" charset="-122"/>
                <a:cs typeface="Calibri" pitchFamily="34" charset="-120"/>
              </a:rPr>
              <a:t>Degerler Egitimi</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Buguen Ne Oegreneceegiz?</a:t>
            </a:r>
            <a:endParaRPr lang="en-US" sz="1800" dirty="0"/>
          </a:p>
        </p:txBody>
      </p:sp>
      <p:sp>
        <p:nvSpPr>
          <p:cNvPr id="4" name="Shape 2"/>
          <p:cNvSpPr/>
          <p:nvPr/>
        </p:nvSpPr>
        <p:spPr>
          <a:xfrm>
            <a:off x="274320" y="914400"/>
            <a:ext cx="365760" cy="365760"/>
          </a:xfrm>
          <a:prstGeom prst="ellipse">
            <a:avLst/>
          </a:prstGeom>
          <a:solidFill>
            <a:srgbClr val="C8102E"/>
          </a:solidFill>
          <a:ln/>
        </p:spPr>
      </p:sp>
      <p:sp>
        <p:nvSpPr>
          <p:cNvPr id="5" name="Text 3"/>
          <p:cNvSpPr/>
          <p:nvPr/>
        </p:nvSpPr>
        <p:spPr>
          <a:xfrm>
            <a:off x="274320" y="91440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777240" y="82296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Peygamber Efendimiz sallallahu aleyhi ve sellemin günlük hayattaki sünnetlerini öğrenir.</a:t>
            </a:r>
            <a:endParaRPr lang="en-US" sz="1200" dirty="0"/>
          </a:p>
        </p:txBody>
      </p:sp>
      <p:sp>
        <p:nvSpPr>
          <p:cNvPr id="7" name="Shape 5"/>
          <p:cNvSpPr/>
          <p:nvPr/>
        </p:nvSpPr>
        <p:spPr>
          <a:xfrm>
            <a:off x="274320" y="1874520"/>
            <a:ext cx="365760" cy="365760"/>
          </a:xfrm>
          <a:prstGeom prst="ellipse">
            <a:avLst/>
          </a:prstGeom>
          <a:solidFill>
            <a:srgbClr val="C8102E"/>
          </a:solidFill>
          <a:ln/>
        </p:spPr>
      </p:sp>
      <p:sp>
        <p:nvSpPr>
          <p:cNvPr id="8" name="Text 6"/>
          <p:cNvSpPr/>
          <p:nvPr/>
        </p:nvSpPr>
        <p:spPr>
          <a:xfrm>
            <a:off x="274320" y="187452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Text 7"/>
          <p:cNvSpPr/>
          <p:nvPr/>
        </p:nvSpPr>
        <p:spPr>
          <a:xfrm>
            <a:off x="777240" y="178308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Yeme-içme, selâmlaşma ve temizlik âdâbını kavrar.</a:t>
            </a:r>
            <a:endParaRPr lang="en-US" sz="1200" dirty="0"/>
          </a:p>
        </p:txBody>
      </p:sp>
      <p:sp>
        <p:nvSpPr>
          <p:cNvPr id="10" name="Shape 8"/>
          <p:cNvSpPr/>
          <p:nvPr/>
        </p:nvSpPr>
        <p:spPr>
          <a:xfrm>
            <a:off x="274320" y="2834640"/>
            <a:ext cx="365760" cy="365760"/>
          </a:xfrm>
          <a:prstGeom prst="ellipse">
            <a:avLst/>
          </a:prstGeom>
          <a:solidFill>
            <a:srgbClr val="C8102E"/>
          </a:solidFill>
          <a:ln/>
        </p:spPr>
      </p:sp>
      <p:sp>
        <p:nvSpPr>
          <p:cNvPr id="11" name="Text 9"/>
          <p:cNvSpPr/>
          <p:nvPr/>
        </p:nvSpPr>
        <p:spPr>
          <a:xfrm>
            <a:off x="274320" y="283464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2" name="Text 10"/>
          <p:cNvSpPr/>
          <p:nvPr/>
        </p:nvSpPr>
        <p:spPr>
          <a:xfrm>
            <a:off x="777240" y="274320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Sünnetin günlük hayata nasıl yansıdığını fark eder.</a:t>
            </a:r>
            <a:endParaRPr lang="en-US" sz="1200" dirty="0"/>
          </a:p>
        </p:txBody>
      </p:sp>
      <p:sp>
        <p:nvSpPr>
          <p:cNvPr id="13" name="Shape 11"/>
          <p:cNvSpPr/>
          <p:nvPr/>
        </p:nvSpPr>
        <p:spPr>
          <a:xfrm>
            <a:off x="274320" y="3794760"/>
            <a:ext cx="365760" cy="365760"/>
          </a:xfrm>
          <a:prstGeom prst="ellipse">
            <a:avLst/>
          </a:prstGeom>
          <a:solidFill>
            <a:srgbClr val="C8102E"/>
          </a:solidFill>
          <a:ln/>
        </p:spPr>
      </p:sp>
      <p:sp>
        <p:nvSpPr>
          <p:cNvPr id="14" name="Text 12"/>
          <p:cNvSpPr/>
          <p:nvPr/>
        </p:nvSpPr>
        <p:spPr>
          <a:xfrm>
            <a:off x="274320" y="379476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5" name="Text 13"/>
          <p:cNvSpPr/>
          <p:nvPr/>
        </p:nvSpPr>
        <p:spPr>
          <a:xfrm>
            <a:off x="777240" y="370332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Güzel âdâb ve ahlâkın önemini benimser.</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Anahtar Kavramlar</a:t>
            </a:r>
            <a:endParaRPr lang="en-US" sz="1800" dirty="0"/>
          </a:p>
        </p:txBody>
      </p:sp>
      <p:sp>
        <p:nvSpPr>
          <p:cNvPr id="4" name="Shape 2"/>
          <p:cNvSpPr/>
          <p:nvPr/>
        </p:nvSpPr>
        <p:spPr>
          <a:xfrm>
            <a:off x="274320" y="822960"/>
            <a:ext cx="2228850" cy="2377440"/>
          </a:xfrm>
          <a:prstGeom prst="roundRect">
            <a:avLst>
              <a:gd name="adj" fmla="val 3282"/>
            </a:avLst>
          </a:prstGeom>
          <a:solidFill>
            <a:srgbClr val="FCEAED"/>
          </a:solidFill>
          <a:ln/>
        </p:spPr>
      </p:sp>
      <p:sp>
        <p:nvSpPr>
          <p:cNvPr id="5" name="Text 3"/>
          <p:cNvSpPr/>
          <p:nvPr/>
        </p:nvSpPr>
        <p:spPr>
          <a:xfrm>
            <a:off x="365760" y="9144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Sünnet</a:t>
            </a:r>
            <a:endParaRPr lang="en-US" sz="1100" dirty="0"/>
          </a:p>
        </p:txBody>
      </p:sp>
      <p:sp>
        <p:nvSpPr>
          <p:cNvPr id="6" name="Text 4"/>
          <p:cNvSpPr/>
          <p:nvPr/>
        </p:nvSpPr>
        <p:spPr>
          <a:xfrm>
            <a:off x="365760" y="12801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Peygamber Efendimiz sallallahu aleyhi ve sellemin söz, fiil ve tasviplerinin tamamı.</a:t>
            </a:r>
            <a:endParaRPr lang="en-US" sz="900" dirty="0"/>
          </a:p>
        </p:txBody>
      </p:sp>
      <p:sp>
        <p:nvSpPr>
          <p:cNvPr id="7" name="Shape 5"/>
          <p:cNvSpPr/>
          <p:nvPr/>
        </p:nvSpPr>
        <p:spPr>
          <a:xfrm>
            <a:off x="2640330" y="822960"/>
            <a:ext cx="2228850" cy="2377440"/>
          </a:xfrm>
          <a:prstGeom prst="roundRect">
            <a:avLst>
              <a:gd name="adj" fmla="val 3282"/>
            </a:avLst>
          </a:prstGeom>
          <a:solidFill>
            <a:srgbClr val="FCEAED"/>
          </a:solidFill>
          <a:ln/>
        </p:spPr>
      </p:sp>
      <p:sp>
        <p:nvSpPr>
          <p:cNvPr id="8" name="Text 6"/>
          <p:cNvSpPr/>
          <p:nvPr/>
        </p:nvSpPr>
        <p:spPr>
          <a:xfrm>
            <a:off x="2731770" y="9144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Âdâb</a:t>
            </a:r>
            <a:endParaRPr lang="en-US" sz="1100" dirty="0"/>
          </a:p>
        </p:txBody>
      </p:sp>
      <p:sp>
        <p:nvSpPr>
          <p:cNvPr id="9" name="Text 7"/>
          <p:cNvSpPr/>
          <p:nvPr/>
        </p:nvSpPr>
        <p:spPr>
          <a:xfrm>
            <a:off x="2731770" y="12801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Güzel davranış kuralları, görgü ve nezaket.</a:t>
            </a:r>
            <a:endParaRPr lang="en-US" sz="900" dirty="0"/>
          </a:p>
        </p:txBody>
      </p:sp>
      <p:sp>
        <p:nvSpPr>
          <p:cNvPr id="10" name="Shape 8"/>
          <p:cNvSpPr/>
          <p:nvPr/>
        </p:nvSpPr>
        <p:spPr>
          <a:xfrm>
            <a:off x="274320" y="3337560"/>
            <a:ext cx="2228850" cy="2377440"/>
          </a:xfrm>
          <a:prstGeom prst="roundRect">
            <a:avLst>
              <a:gd name="adj" fmla="val 3282"/>
            </a:avLst>
          </a:prstGeom>
          <a:solidFill>
            <a:srgbClr val="FCEAED"/>
          </a:solidFill>
          <a:ln/>
        </p:spPr>
      </p:sp>
      <p:sp>
        <p:nvSpPr>
          <p:cNvPr id="11" name="Text 9"/>
          <p:cNvSpPr/>
          <p:nvPr/>
        </p:nvSpPr>
        <p:spPr>
          <a:xfrm>
            <a:off x="365760" y="34290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Besmele</a:t>
            </a:r>
            <a:endParaRPr lang="en-US" sz="1100" dirty="0"/>
          </a:p>
        </p:txBody>
      </p:sp>
      <p:sp>
        <p:nvSpPr>
          <p:cNvPr id="12" name="Text 10"/>
          <p:cNvSpPr/>
          <p:nvPr/>
        </p:nvSpPr>
        <p:spPr>
          <a:xfrm>
            <a:off x="365760" y="37947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Her işe 'Bismillahirrahmanirrahim' diyerek başlamak.</a:t>
            </a:r>
            <a:endParaRPr lang="en-US" sz="900" dirty="0"/>
          </a:p>
        </p:txBody>
      </p:sp>
      <p:sp>
        <p:nvSpPr>
          <p:cNvPr id="13" name="Shape 11"/>
          <p:cNvSpPr/>
          <p:nvPr/>
        </p:nvSpPr>
        <p:spPr>
          <a:xfrm>
            <a:off x="2640330" y="3337560"/>
            <a:ext cx="2228850" cy="2377440"/>
          </a:xfrm>
          <a:prstGeom prst="roundRect">
            <a:avLst>
              <a:gd name="adj" fmla="val 3282"/>
            </a:avLst>
          </a:prstGeom>
          <a:solidFill>
            <a:srgbClr val="FCEAED"/>
          </a:solidFill>
          <a:ln/>
        </p:spPr>
      </p:sp>
      <p:sp>
        <p:nvSpPr>
          <p:cNvPr id="14" name="Text 12"/>
          <p:cNvSpPr/>
          <p:nvPr/>
        </p:nvSpPr>
        <p:spPr>
          <a:xfrm>
            <a:off x="2731770" y="34290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Selâm</a:t>
            </a:r>
            <a:endParaRPr lang="en-US" sz="1100" dirty="0"/>
          </a:p>
        </p:txBody>
      </p:sp>
      <p:sp>
        <p:nvSpPr>
          <p:cNvPr id="15" name="Text 13"/>
          <p:cNvSpPr/>
          <p:nvPr/>
        </p:nvSpPr>
        <p:spPr>
          <a:xfrm>
            <a:off x="2731770" y="37947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'Esselâmu aleyküm' diyerek karşılaşılan kişiye esenlik dilemek.</a:t>
            </a:r>
            <a:endParaRPr lang="en-US" sz="900" dirty="0"/>
          </a:p>
        </p:txBody>
      </p:sp>
      <p:sp>
        <p:nvSpPr>
          <p:cNvPr id="16" name="Shape 14"/>
          <p:cNvSpPr/>
          <p:nvPr/>
        </p:nvSpPr>
        <p:spPr>
          <a:xfrm>
            <a:off x="274320" y="5852160"/>
            <a:ext cx="2228850" cy="2377440"/>
          </a:xfrm>
          <a:prstGeom prst="roundRect">
            <a:avLst>
              <a:gd name="adj" fmla="val 3282"/>
            </a:avLst>
          </a:prstGeom>
          <a:solidFill>
            <a:srgbClr val="FCEAED"/>
          </a:solidFill>
          <a:ln/>
        </p:spPr>
      </p:sp>
      <p:sp>
        <p:nvSpPr>
          <p:cNvPr id="17" name="Text 15"/>
          <p:cNvSpPr/>
          <p:nvPr/>
        </p:nvSpPr>
        <p:spPr>
          <a:xfrm>
            <a:off x="365760" y="59436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İsraf</a:t>
            </a:r>
            <a:endParaRPr lang="en-US" sz="1100" dirty="0"/>
          </a:p>
        </p:txBody>
      </p:sp>
      <p:sp>
        <p:nvSpPr>
          <p:cNvPr id="18" name="Text 16"/>
          <p:cNvSpPr/>
          <p:nvPr/>
        </p:nvSpPr>
        <p:spPr>
          <a:xfrm>
            <a:off x="365760" y="63093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Nimetleri gereksiz yere harcamak, savurganlık.</a:t>
            </a:r>
            <a:endParaRPr lang="en-US" sz="900" dirty="0"/>
          </a:p>
        </p:txBody>
      </p:sp>
      <p:sp>
        <p:nvSpPr>
          <p:cNvPr id="19" name="Shape 17"/>
          <p:cNvSpPr/>
          <p:nvPr/>
        </p:nvSpPr>
        <p:spPr>
          <a:xfrm>
            <a:off x="2640330" y="5852160"/>
            <a:ext cx="2228850" cy="2377440"/>
          </a:xfrm>
          <a:prstGeom prst="roundRect">
            <a:avLst>
              <a:gd name="adj" fmla="val 3282"/>
            </a:avLst>
          </a:prstGeom>
          <a:solidFill>
            <a:srgbClr val="FCEAED"/>
          </a:solidFill>
          <a:ln/>
        </p:spPr>
      </p:sp>
      <p:sp>
        <p:nvSpPr>
          <p:cNvPr id="20" name="Text 18"/>
          <p:cNvSpPr/>
          <p:nvPr/>
        </p:nvSpPr>
        <p:spPr>
          <a:xfrm>
            <a:off x="2731770" y="59436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Misafirperverlik</a:t>
            </a:r>
            <a:endParaRPr lang="en-US" sz="1100" dirty="0"/>
          </a:p>
        </p:txBody>
      </p:sp>
      <p:sp>
        <p:nvSpPr>
          <p:cNvPr id="21" name="Text 19"/>
          <p:cNvSpPr/>
          <p:nvPr/>
        </p:nvSpPr>
        <p:spPr>
          <a:xfrm>
            <a:off x="2731770" y="63093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Gelen misafire ikramda bulunmak, güler yüz göstermek.</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Peygamber Efendimiz'in Sofra Âdâbı</a:t>
            </a:r>
            <a:endParaRPr lang="en-US" sz="1800" dirty="0"/>
          </a:p>
        </p:txBody>
      </p:sp>
      <p:sp>
        <p:nvSpPr>
          <p:cNvPr id="4" name="Text 2"/>
          <p:cNvSpPr/>
          <p:nvPr/>
        </p:nvSpPr>
        <p:spPr>
          <a:xfrm>
            <a:off x="274320" y="822960"/>
            <a:ext cx="4594860" cy="640080"/>
          </a:xfrm>
          <a:prstGeom prst="rect">
            <a:avLst/>
          </a:prstGeom>
          <a:noFill/>
          <a:ln/>
        </p:spPr>
        <p:txBody>
          <a:bodyPr wrap="square" rtlCol="0" anchor="ctr"/>
          <a:lstStyle/>
          <a:p>
            <a:pPr algn="l" indent="0" marL="0">
              <a:buNone/>
            </a:pPr>
            <a:r>
              <a:rPr lang="en-US" sz="1000" i="1" dirty="0">
                <a:solidFill>
                  <a:srgbClr val="666666"/>
                </a:solidFill>
                <a:latin typeface="Calibri" pitchFamily="34" charset="0"/>
                <a:ea typeface="Calibri" pitchFamily="34" charset="-122"/>
                <a:cs typeface="Calibri" pitchFamily="34" charset="-120"/>
              </a:rPr>
              <a:t>Peygamber Efendimiz sallallahu aleyhi ve sellem günlük hayatın her anında güzel ahlâkın örneğini vermiştir. Yeme-içme âdâbından selâmlaşmaya, temizlikten misafirperverliğe kadar her konuda sünnetler bırakmıştır.</a:t>
            </a:r>
            <a:endParaRPr lang="en-US" sz="1000" dirty="0"/>
          </a:p>
        </p:txBody>
      </p:sp>
      <p:sp>
        <p:nvSpPr>
          <p:cNvPr id="5" name="Text 3"/>
          <p:cNvSpPr/>
          <p:nvPr/>
        </p:nvSpPr>
        <p:spPr>
          <a:xfrm>
            <a:off x="274320" y="164592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Peygamber Efendimiz sallallahu aleyhi ve sellem sofra kurulduğunda mutlaka Besmele ile başlar, sağ eliyle yer ve önünden yerdi. Bir gün yanında yemek yiyen küçük bir çocuk eli yemeğin her tarafına uzanıyordu. Peygamber Efendimiz sallallahu aleyhi ve sellem ona şefkatle 'Bismillah de, sağ elinle ye ve önünden ye' diye öğretti.</a:t>
            </a:r>
            <a:endParaRPr lang="en-US" sz="1000" dirty="0"/>
          </a:p>
        </p:txBody>
      </p:sp>
      <p:sp>
        <p:nvSpPr>
          <p:cNvPr id="6" name="Text 4"/>
          <p:cNvSpPr/>
          <p:nvPr/>
        </p:nvSpPr>
        <p:spPr>
          <a:xfrm>
            <a:off x="274320" y="365760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Yemeğini asla israf etmez, tabağını sıyırır ve 'Yemeğin hangi kısmında bereket olduğunu bilemezsiniz' buyururdu. Sofraya oturduğunda misafirleriyle birlikte yer, kimseyi ayırt etmezdi. Sofrada paylaşmak, birlikte yemek O'nun en sevdiği sünnetlerinden biriydi. Yemekten sonra da Allah'a hamd ederdi.</a:t>
            </a:r>
            <a:endParaRPr lang="en-US" sz="1000" dirty="0"/>
          </a:p>
        </p:txBody>
      </p:sp>
      <p:sp>
        <p:nvSpPr>
          <p:cNvPr id="7" name="Text 5"/>
          <p:cNvSpPr/>
          <p:nvPr/>
        </p:nvSpPr>
        <p:spPr>
          <a:xfrm>
            <a:off x="274320" y="566928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Selâmlaşma konusunda da Peygamber Efendimiz sallallahu aleyhi ve sellem çok titizdi. Her karşılaştığı kişiye selâm verir, küçük-büyük ayırt etmezdi. 'Selâmı yayınız' buyurarak Müslümanlar arasındaki sevgi ve kardeşlik bağını güçlendirirdi.</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731520"/>
            <a:ext cx="914400" cy="1097280"/>
          </a:xfrm>
          <a:prstGeom prst="rect">
            <a:avLst/>
          </a:prstGeom>
          <a:noFill/>
          <a:ln/>
        </p:spPr>
        <p:txBody>
          <a:bodyPr wrap="square" rtlCol="0" anchor="ctr"/>
          <a:lstStyle/>
          <a:p>
            <a:pPr indent="0" marL="0">
              <a:buNone/>
            </a:pPr>
            <a:r>
              <a:rPr lang="en-US" sz="7200" b="1" dirty="0">
                <a:solidFill>
                  <a:srgbClr val="C8102E"/>
                </a:solidFill>
                <a:latin typeface="Calibri" pitchFamily="34" charset="0"/>
                <a:ea typeface="Calibri" pitchFamily="34" charset="-122"/>
                <a:cs typeface="Calibri" pitchFamily="34" charset="-120"/>
              </a:rPr>
              <a:t>“</a:t>
            </a:r>
            <a:endParaRPr lang="en-US" sz="7200" dirty="0"/>
          </a:p>
        </p:txBody>
      </p:sp>
      <p:sp>
        <p:nvSpPr>
          <p:cNvPr id="4" name="Shape 2"/>
          <p:cNvSpPr/>
          <p:nvPr/>
        </p:nvSpPr>
        <p:spPr>
          <a:xfrm>
            <a:off x="822960" y="1188720"/>
            <a:ext cx="45720" cy="4114800"/>
          </a:xfrm>
          <a:prstGeom prst="rect">
            <a:avLst/>
          </a:prstGeom>
          <a:solidFill>
            <a:srgbClr val="C8102E"/>
          </a:solidFill>
          <a:ln/>
        </p:spPr>
      </p:sp>
      <p:sp>
        <p:nvSpPr>
          <p:cNvPr id="5" name="Text 3"/>
          <p:cNvSpPr/>
          <p:nvPr/>
        </p:nvSpPr>
        <p:spPr>
          <a:xfrm>
            <a:off x="1051560" y="1188720"/>
            <a:ext cx="3680460" cy="4114800"/>
          </a:xfrm>
          <a:prstGeom prst="rect">
            <a:avLst/>
          </a:prstGeom>
          <a:noFill/>
          <a:ln/>
        </p:spPr>
        <p:txBody>
          <a:bodyPr wrap="square" rtlCol="0" anchor="ctr"/>
          <a:lstStyle/>
          <a:p>
            <a:pPr algn="l" indent="0" marL="0">
              <a:buNone/>
            </a:pPr>
            <a:r>
              <a:rPr lang="en-US" sz="1400" i="1" dirty="0">
                <a:solidFill>
                  <a:srgbClr val="222222"/>
                </a:solidFill>
                <a:latin typeface="Calibri" pitchFamily="34" charset="0"/>
                <a:ea typeface="Calibri" pitchFamily="34" charset="-122"/>
                <a:cs typeface="Calibri" pitchFamily="34" charset="-120"/>
              </a:rPr>
              <a:t>Bismillah de, sağ elinle ye ve önünden ye.</a:t>
            </a:r>
            <a:endParaRPr lang="en-US" sz="1400" dirty="0"/>
          </a:p>
        </p:txBody>
      </p:sp>
      <p:sp>
        <p:nvSpPr>
          <p:cNvPr id="6" name="Text 4"/>
          <p:cNvSpPr/>
          <p:nvPr/>
        </p:nvSpPr>
        <p:spPr>
          <a:xfrm>
            <a:off x="1051560" y="5669280"/>
            <a:ext cx="3680460" cy="457200"/>
          </a:xfrm>
          <a:prstGeom prst="rect">
            <a:avLst/>
          </a:prstGeom>
          <a:noFill/>
          <a:ln/>
        </p:spPr>
        <p:txBody>
          <a:bodyPr wrap="square" rtlCol="0" anchor="ctr"/>
          <a:lstStyle/>
          <a:p>
            <a:pPr algn="r" indent="0" marL="0">
              <a:buNone/>
            </a:pPr>
            <a:r>
              <a:rPr lang="en-US" sz="1000" dirty="0">
                <a:solidFill>
                  <a:srgbClr val="666666"/>
                </a:solidFill>
                <a:latin typeface="Calibri" pitchFamily="34" charset="0"/>
                <a:ea typeface="Calibri" pitchFamily="34" charset="-122"/>
                <a:cs typeface="Calibri" pitchFamily="34" charset="-120"/>
              </a:rPr>
              <a:t>— Peygamber Efendimiz sallallahu aleyhi ve sellem</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Shape 1"/>
          <p:cNvSpPr/>
          <p:nvPr/>
        </p:nvSpPr>
        <p:spPr>
          <a:xfrm>
            <a:off x="1657350" y="3200400"/>
            <a:ext cx="1828800" cy="27432"/>
          </a:xfrm>
          <a:prstGeom prst="rect">
            <a:avLst/>
          </a:prstGeom>
          <a:solidFill>
            <a:srgbClr val="C8102E"/>
          </a:solidFill>
          <a:ln/>
        </p:spPr>
      </p:sp>
      <p:sp>
        <p:nvSpPr>
          <p:cNvPr id="4" name="Text 2"/>
          <p:cNvSpPr/>
          <p:nvPr/>
        </p:nvSpPr>
        <p:spPr>
          <a:xfrm>
            <a:off x="457200" y="3474720"/>
            <a:ext cx="4229100" cy="3200400"/>
          </a:xfrm>
          <a:prstGeom prst="rect">
            <a:avLst/>
          </a:prstGeom>
          <a:noFill/>
          <a:ln/>
        </p:spPr>
        <p:txBody>
          <a:bodyPr wrap="square" rtlCol="0" anchor="ctr"/>
          <a:lstStyle/>
          <a:p>
            <a:pPr algn="ctr" indent="0" marL="0">
              <a:buNone/>
            </a:pPr>
            <a:r>
              <a:rPr lang="en-US" sz="1300" i="1" dirty="0">
                <a:solidFill>
                  <a:srgbClr val="8B0000"/>
                </a:solidFill>
                <a:latin typeface="Calibri" pitchFamily="34" charset="0"/>
                <a:ea typeface="Calibri" pitchFamily="34" charset="-122"/>
                <a:cs typeface="Calibri" pitchFamily="34" charset="-120"/>
              </a:rPr>
              <a:t>Sizin için Allah'ın Resulünde güzel bir örnek vardır.</a:t>
            </a:r>
            <a:endParaRPr lang="en-US" sz="1300" dirty="0"/>
          </a:p>
        </p:txBody>
      </p:sp>
      <p:sp>
        <p:nvSpPr>
          <p:cNvPr id="5" name="Shape 3"/>
          <p:cNvSpPr/>
          <p:nvPr/>
        </p:nvSpPr>
        <p:spPr>
          <a:xfrm>
            <a:off x="1657350" y="6858000"/>
            <a:ext cx="1828800" cy="27432"/>
          </a:xfrm>
          <a:prstGeom prst="rect">
            <a:avLst/>
          </a:prstGeom>
          <a:solidFill>
            <a:srgbClr val="C8102E"/>
          </a:solidFill>
          <a:ln/>
        </p:spPr>
      </p:sp>
      <p:sp>
        <p:nvSpPr>
          <p:cNvPr id="6" name="Text 4"/>
          <p:cNvSpPr/>
          <p:nvPr/>
        </p:nvSpPr>
        <p:spPr>
          <a:xfrm>
            <a:off x="457200" y="7132320"/>
            <a:ext cx="4229100" cy="457200"/>
          </a:xfrm>
          <a:prstGeom prst="rect">
            <a:avLst/>
          </a:prstGeom>
          <a:noFill/>
          <a:ln/>
        </p:spPr>
        <p:txBody>
          <a:bodyPr wrap="square" rtlCol="0" anchor="ctr"/>
          <a:lstStyle/>
          <a:p>
            <a:pPr algn="ctr" indent="0" marL="0">
              <a:buNone/>
            </a:pPr>
            <a:r>
              <a:rPr lang="en-US" sz="900" dirty="0">
                <a:solidFill>
                  <a:srgbClr val="666666"/>
                </a:solidFill>
                <a:latin typeface="Calibri" pitchFamily="34" charset="0"/>
                <a:ea typeface="Calibri" pitchFamily="34" charset="-122"/>
                <a:cs typeface="Calibri" pitchFamily="34" charset="-120"/>
              </a:rPr>
              <a:t>Ahzâb Sûresi, 21. âyet</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Degerin Boyutlari</a:t>
            </a:r>
            <a:endParaRPr lang="en-US" sz="1800" dirty="0"/>
          </a:p>
        </p:txBody>
      </p:sp>
      <p:sp>
        <p:nvSpPr>
          <p:cNvPr id="4" name="Shape 2"/>
          <p:cNvSpPr/>
          <p:nvPr/>
        </p:nvSpPr>
        <p:spPr>
          <a:xfrm>
            <a:off x="274320" y="822960"/>
            <a:ext cx="2228850" cy="3474720"/>
          </a:xfrm>
          <a:prstGeom prst="roundRect">
            <a:avLst>
              <a:gd name="adj" fmla="val 3282"/>
            </a:avLst>
          </a:prstGeom>
          <a:solidFill>
            <a:srgbClr val="FCEAED"/>
          </a:solidFill>
          <a:ln/>
        </p:spPr>
      </p:sp>
      <p:sp>
        <p:nvSpPr>
          <p:cNvPr id="5" name="Text 3"/>
          <p:cNvSpPr/>
          <p:nvPr/>
        </p:nvSpPr>
        <p:spPr>
          <a:xfrm>
            <a:off x="274320" y="91440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6" name="Text 4"/>
          <p:cNvSpPr/>
          <p:nvPr/>
        </p:nvSpPr>
        <p:spPr>
          <a:xfrm>
            <a:off x="347472" y="137160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Bireysel Gelişim</a:t>
            </a:r>
            <a:endParaRPr lang="en-US" sz="1100" dirty="0"/>
          </a:p>
        </p:txBody>
      </p:sp>
      <p:sp>
        <p:nvSpPr>
          <p:cNvPr id="7" name="Text 5"/>
          <p:cNvSpPr/>
          <p:nvPr/>
        </p:nvSpPr>
        <p:spPr>
          <a:xfrm>
            <a:off x="347472" y="178308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Günlük alışkanlıklarını sünnet doğrultusunda düzenlemek.</a:t>
            </a:r>
            <a:endParaRPr lang="en-US" sz="800" dirty="0"/>
          </a:p>
        </p:txBody>
      </p:sp>
      <p:sp>
        <p:nvSpPr>
          <p:cNvPr id="8" name="Shape 6"/>
          <p:cNvSpPr/>
          <p:nvPr/>
        </p:nvSpPr>
        <p:spPr>
          <a:xfrm>
            <a:off x="2640330" y="822960"/>
            <a:ext cx="2228850" cy="3474720"/>
          </a:xfrm>
          <a:prstGeom prst="roundRect">
            <a:avLst>
              <a:gd name="adj" fmla="val 3282"/>
            </a:avLst>
          </a:prstGeom>
          <a:solidFill>
            <a:srgbClr val="FCEAED"/>
          </a:solidFill>
          <a:ln/>
        </p:spPr>
      </p:sp>
      <p:sp>
        <p:nvSpPr>
          <p:cNvPr id="9" name="Text 7"/>
          <p:cNvSpPr/>
          <p:nvPr/>
        </p:nvSpPr>
        <p:spPr>
          <a:xfrm>
            <a:off x="2640330" y="91440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0" name="Text 8"/>
          <p:cNvSpPr/>
          <p:nvPr/>
        </p:nvSpPr>
        <p:spPr>
          <a:xfrm>
            <a:off x="2713482" y="137160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Sosyal İlişkiler</a:t>
            </a:r>
            <a:endParaRPr lang="en-US" sz="1100" dirty="0"/>
          </a:p>
        </p:txBody>
      </p:sp>
      <p:sp>
        <p:nvSpPr>
          <p:cNvPr id="11" name="Text 9"/>
          <p:cNvSpPr/>
          <p:nvPr/>
        </p:nvSpPr>
        <p:spPr>
          <a:xfrm>
            <a:off x="2713482" y="178308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Selâmlaşma ve nezaketle çevresindeki ilişkileri güçlendirmek.</a:t>
            </a:r>
            <a:endParaRPr lang="en-US" sz="800" dirty="0"/>
          </a:p>
        </p:txBody>
      </p:sp>
      <p:sp>
        <p:nvSpPr>
          <p:cNvPr id="12" name="Shape 10"/>
          <p:cNvSpPr/>
          <p:nvPr/>
        </p:nvSpPr>
        <p:spPr>
          <a:xfrm>
            <a:off x="274320" y="4434840"/>
            <a:ext cx="2228850" cy="3474720"/>
          </a:xfrm>
          <a:prstGeom prst="roundRect">
            <a:avLst>
              <a:gd name="adj" fmla="val 3282"/>
            </a:avLst>
          </a:prstGeom>
          <a:solidFill>
            <a:srgbClr val="FCEAED"/>
          </a:solidFill>
          <a:ln/>
        </p:spPr>
      </p:sp>
      <p:sp>
        <p:nvSpPr>
          <p:cNvPr id="13" name="Text 11"/>
          <p:cNvSpPr/>
          <p:nvPr/>
        </p:nvSpPr>
        <p:spPr>
          <a:xfrm>
            <a:off x="274320" y="452628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4" name="Text 12"/>
          <p:cNvSpPr/>
          <p:nvPr/>
        </p:nvSpPr>
        <p:spPr>
          <a:xfrm>
            <a:off x="347472" y="498348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Manevi Boyut</a:t>
            </a:r>
            <a:endParaRPr lang="en-US" sz="1100" dirty="0"/>
          </a:p>
        </p:txBody>
      </p:sp>
      <p:sp>
        <p:nvSpPr>
          <p:cNvPr id="15" name="Text 13"/>
          <p:cNvSpPr/>
          <p:nvPr/>
        </p:nvSpPr>
        <p:spPr>
          <a:xfrm>
            <a:off x="347472" y="539496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Her anı ibadete dönüştürmenin bilincine varmak.</a:t>
            </a:r>
            <a:endParaRPr lang="en-US" sz="800" dirty="0"/>
          </a:p>
        </p:txBody>
      </p:sp>
      <p:sp>
        <p:nvSpPr>
          <p:cNvPr id="16" name="Shape 14"/>
          <p:cNvSpPr/>
          <p:nvPr/>
        </p:nvSpPr>
        <p:spPr>
          <a:xfrm>
            <a:off x="2640330" y="4434840"/>
            <a:ext cx="2228850" cy="3474720"/>
          </a:xfrm>
          <a:prstGeom prst="roundRect">
            <a:avLst>
              <a:gd name="adj" fmla="val 3282"/>
            </a:avLst>
          </a:prstGeom>
          <a:solidFill>
            <a:srgbClr val="FCEAED"/>
          </a:solidFill>
          <a:ln/>
        </p:spPr>
      </p:sp>
      <p:sp>
        <p:nvSpPr>
          <p:cNvPr id="17" name="Text 15"/>
          <p:cNvSpPr/>
          <p:nvPr/>
        </p:nvSpPr>
        <p:spPr>
          <a:xfrm>
            <a:off x="2640330" y="452628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8" name="Text 16"/>
          <p:cNvSpPr/>
          <p:nvPr/>
        </p:nvSpPr>
        <p:spPr>
          <a:xfrm>
            <a:off x="2713482" y="498348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Sağlık Boyutu</a:t>
            </a:r>
            <a:endParaRPr lang="en-US" sz="1100" dirty="0"/>
          </a:p>
        </p:txBody>
      </p:sp>
      <p:sp>
        <p:nvSpPr>
          <p:cNvPr id="19" name="Text 17"/>
          <p:cNvSpPr/>
          <p:nvPr/>
        </p:nvSpPr>
        <p:spPr>
          <a:xfrm>
            <a:off x="2713482" y="539496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Temizlik ve yeme-içme sünnetlerinin sağlığa katkısını anlamak.</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Senaryolar</a:t>
            </a:r>
            <a:endParaRPr lang="en-US" sz="1800" dirty="0"/>
          </a:p>
        </p:txBody>
      </p:sp>
      <p:sp>
        <p:nvSpPr>
          <p:cNvPr id="4" name="Shape 2"/>
          <p:cNvSpPr/>
          <p:nvPr/>
        </p:nvSpPr>
        <p:spPr>
          <a:xfrm>
            <a:off x="274320" y="822960"/>
            <a:ext cx="4594860" cy="3474720"/>
          </a:xfrm>
          <a:prstGeom prst="roundRect">
            <a:avLst>
              <a:gd name="adj" fmla="val 2105"/>
            </a:avLst>
          </a:prstGeom>
          <a:solidFill>
            <a:srgbClr val="F5F5F5"/>
          </a:solidFill>
          <a:ln/>
        </p:spPr>
      </p:sp>
      <p:sp>
        <p:nvSpPr>
          <p:cNvPr id="5" name="Text 3"/>
          <p:cNvSpPr/>
          <p:nvPr/>
        </p:nvSpPr>
        <p:spPr>
          <a:xfrm>
            <a:off x="411480" y="9144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Okul Kantini</a:t>
            </a:r>
            <a:endParaRPr lang="en-US" sz="1100" dirty="0"/>
          </a:p>
        </p:txBody>
      </p:sp>
      <p:sp>
        <p:nvSpPr>
          <p:cNvPr id="6" name="Text 4"/>
          <p:cNvSpPr/>
          <p:nvPr/>
        </p:nvSpPr>
        <p:spPr>
          <a:xfrm>
            <a:off x="411480" y="12801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Okul kantininde aceleyle yemek yiyorsun. Arkadaşların hızlı hızlı yiyor, kimse Besmele çekmiyor. Yemeğin yarısını da çöpe atıyorlar. Ne yaparsın?</a:t>
            </a:r>
            <a:endParaRPr lang="en-US" sz="900" dirty="0"/>
          </a:p>
        </p:txBody>
      </p:sp>
      <p:sp>
        <p:nvSpPr>
          <p:cNvPr id="7" name="Shape 5"/>
          <p:cNvSpPr/>
          <p:nvPr/>
        </p:nvSpPr>
        <p:spPr>
          <a:xfrm>
            <a:off x="411480" y="2743200"/>
            <a:ext cx="4320540" cy="347472"/>
          </a:xfrm>
          <a:prstGeom prst="roundRect">
            <a:avLst>
              <a:gd name="adj" fmla="val 15789"/>
            </a:avLst>
          </a:prstGeom>
          <a:solidFill>
            <a:srgbClr val="FCEAED"/>
          </a:solidFill>
          <a:ln/>
        </p:spPr>
      </p:sp>
      <p:sp>
        <p:nvSpPr>
          <p:cNvPr id="8" name="Text 6"/>
          <p:cNvSpPr/>
          <p:nvPr/>
        </p:nvSpPr>
        <p:spPr>
          <a:xfrm>
            <a:off x="411480" y="27432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Ben de herkes gibi aceleyle yer ve kalanı atarım.</a:t>
            </a:r>
            <a:endParaRPr lang="en-US" sz="800" dirty="0"/>
          </a:p>
        </p:txBody>
      </p:sp>
      <p:sp>
        <p:nvSpPr>
          <p:cNvPr id="9" name="Shape 7"/>
          <p:cNvSpPr/>
          <p:nvPr/>
        </p:nvSpPr>
        <p:spPr>
          <a:xfrm>
            <a:off x="411480" y="3154680"/>
            <a:ext cx="4320540" cy="347472"/>
          </a:xfrm>
          <a:prstGeom prst="roundRect">
            <a:avLst>
              <a:gd name="adj" fmla="val 15789"/>
            </a:avLst>
          </a:prstGeom>
          <a:solidFill>
            <a:srgbClr val="FCEAED"/>
          </a:solidFill>
          <a:ln/>
        </p:spPr>
      </p:sp>
      <p:sp>
        <p:nvSpPr>
          <p:cNvPr id="10" name="Text 8"/>
          <p:cNvSpPr/>
          <p:nvPr/>
        </p:nvSpPr>
        <p:spPr>
          <a:xfrm>
            <a:off x="411480" y="31546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Besmele çekerim, sakin sakin yerim ve yemeğimi israf etmem.</a:t>
            </a:r>
            <a:endParaRPr lang="en-US" sz="800" dirty="0"/>
          </a:p>
        </p:txBody>
      </p:sp>
      <p:sp>
        <p:nvSpPr>
          <p:cNvPr id="11" name="Shape 9"/>
          <p:cNvSpPr/>
          <p:nvPr/>
        </p:nvSpPr>
        <p:spPr>
          <a:xfrm>
            <a:off x="411480" y="3566160"/>
            <a:ext cx="4320540" cy="347472"/>
          </a:xfrm>
          <a:prstGeom prst="roundRect">
            <a:avLst>
              <a:gd name="adj" fmla="val 15789"/>
            </a:avLst>
          </a:prstGeom>
          <a:solidFill>
            <a:srgbClr val="FCEAED"/>
          </a:solidFill>
          <a:ln/>
        </p:spPr>
      </p:sp>
      <p:sp>
        <p:nvSpPr>
          <p:cNvPr id="12" name="Text 10"/>
          <p:cNvSpPr/>
          <p:nvPr/>
        </p:nvSpPr>
        <p:spPr>
          <a:xfrm>
            <a:off x="411480" y="35661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Arkadaşlarımı eleştirir ve onlara kızarım.</a:t>
            </a:r>
            <a:endParaRPr lang="en-US" sz="800" dirty="0"/>
          </a:p>
        </p:txBody>
      </p:sp>
      <p:sp>
        <p:nvSpPr>
          <p:cNvPr id="13" name="Shape 11"/>
          <p:cNvSpPr/>
          <p:nvPr/>
        </p:nvSpPr>
        <p:spPr>
          <a:xfrm>
            <a:off x="274320" y="4480560"/>
            <a:ext cx="4594860" cy="3474720"/>
          </a:xfrm>
          <a:prstGeom prst="roundRect">
            <a:avLst>
              <a:gd name="adj" fmla="val 2105"/>
            </a:avLst>
          </a:prstGeom>
          <a:solidFill>
            <a:srgbClr val="F5F5F5"/>
          </a:solidFill>
          <a:ln/>
        </p:spPr>
      </p:sp>
      <p:sp>
        <p:nvSpPr>
          <p:cNvPr id="14" name="Text 12"/>
          <p:cNvSpPr/>
          <p:nvPr/>
        </p:nvSpPr>
        <p:spPr>
          <a:xfrm>
            <a:off x="411480" y="45720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Selâm Verme</a:t>
            </a:r>
            <a:endParaRPr lang="en-US" sz="1100" dirty="0"/>
          </a:p>
        </p:txBody>
      </p:sp>
      <p:sp>
        <p:nvSpPr>
          <p:cNvPr id="15" name="Text 13"/>
          <p:cNvSpPr/>
          <p:nvPr/>
        </p:nvSpPr>
        <p:spPr>
          <a:xfrm>
            <a:off x="411480" y="49377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Okulda tanımadığın bir öğrenci seninle göz göze geliyor. Arkadaşların 'Tanımadığın birine selâm verme' diyor. Ne yaparsın?</a:t>
            </a:r>
            <a:endParaRPr lang="en-US" sz="900" dirty="0"/>
          </a:p>
        </p:txBody>
      </p:sp>
      <p:sp>
        <p:nvSpPr>
          <p:cNvPr id="16" name="Shape 14"/>
          <p:cNvSpPr/>
          <p:nvPr/>
        </p:nvSpPr>
        <p:spPr>
          <a:xfrm>
            <a:off x="411480" y="6400800"/>
            <a:ext cx="4320540" cy="347472"/>
          </a:xfrm>
          <a:prstGeom prst="roundRect">
            <a:avLst>
              <a:gd name="adj" fmla="val 15789"/>
            </a:avLst>
          </a:prstGeom>
          <a:solidFill>
            <a:srgbClr val="FCEAED"/>
          </a:solidFill>
          <a:ln/>
        </p:spPr>
      </p:sp>
      <p:sp>
        <p:nvSpPr>
          <p:cNvPr id="17" name="Text 15"/>
          <p:cNvSpPr/>
          <p:nvPr/>
        </p:nvSpPr>
        <p:spPr>
          <a:xfrm>
            <a:off x="411480" y="64008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Arkadaşlarımın dediğini yapar, selâm vermem.</a:t>
            </a:r>
            <a:endParaRPr lang="en-US" sz="800" dirty="0"/>
          </a:p>
        </p:txBody>
      </p:sp>
      <p:sp>
        <p:nvSpPr>
          <p:cNvPr id="18" name="Shape 16"/>
          <p:cNvSpPr/>
          <p:nvPr/>
        </p:nvSpPr>
        <p:spPr>
          <a:xfrm>
            <a:off x="411480" y="6812280"/>
            <a:ext cx="4320540" cy="347472"/>
          </a:xfrm>
          <a:prstGeom prst="roundRect">
            <a:avLst>
              <a:gd name="adj" fmla="val 15789"/>
            </a:avLst>
          </a:prstGeom>
          <a:solidFill>
            <a:srgbClr val="FCEAED"/>
          </a:solidFill>
          <a:ln/>
        </p:spPr>
      </p:sp>
      <p:sp>
        <p:nvSpPr>
          <p:cNvPr id="19" name="Text 17"/>
          <p:cNvSpPr/>
          <p:nvPr/>
        </p:nvSpPr>
        <p:spPr>
          <a:xfrm>
            <a:off x="411480" y="68122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Güler yüzle selâm veririm çünkü selâmı yaymak sünnettir.</a:t>
            </a:r>
            <a:endParaRPr lang="en-US" sz="800" dirty="0"/>
          </a:p>
        </p:txBody>
      </p:sp>
      <p:sp>
        <p:nvSpPr>
          <p:cNvPr id="20" name="Shape 18"/>
          <p:cNvSpPr/>
          <p:nvPr/>
        </p:nvSpPr>
        <p:spPr>
          <a:xfrm>
            <a:off x="411480" y="7223760"/>
            <a:ext cx="4320540" cy="347472"/>
          </a:xfrm>
          <a:prstGeom prst="roundRect">
            <a:avLst>
              <a:gd name="adj" fmla="val 15789"/>
            </a:avLst>
          </a:prstGeom>
          <a:solidFill>
            <a:srgbClr val="FCEAED"/>
          </a:solidFill>
          <a:ln/>
        </p:spPr>
      </p:sp>
      <p:sp>
        <p:nvSpPr>
          <p:cNvPr id="21" name="Text 19"/>
          <p:cNvSpPr/>
          <p:nvPr/>
        </p:nvSpPr>
        <p:spPr>
          <a:xfrm>
            <a:off x="411480" y="72237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Bakışımı kaçırır, görmezden gelirim.</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Senaryolar</a:t>
            </a:r>
            <a:endParaRPr lang="en-US" sz="1800" dirty="0"/>
          </a:p>
        </p:txBody>
      </p:sp>
      <p:sp>
        <p:nvSpPr>
          <p:cNvPr id="4" name="Shape 2"/>
          <p:cNvSpPr/>
          <p:nvPr/>
        </p:nvSpPr>
        <p:spPr>
          <a:xfrm>
            <a:off x="274320" y="822960"/>
            <a:ext cx="4594860" cy="3474720"/>
          </a:xfrm>
          <a:prstGeom prst="roundRect">
            <a:avLst>
              <a:gd name="adj" fmla="val 2105"/>
            </a:avLst>
          </a:prstGeom>
          <a:solidFill>
            <a:srgbClr val="F5F5F5"/>
          </a:solidFill>
          <a:ln/>
        </p:spPr>
      </p:sp>
      <p:sp>
        <p:nvSpPr>
          <p:cNvPr id="5" name="Text 3"/>
          <p:cNvSpPr/>
          <p:nvPr/>
        </p:nvSpPr>
        <p:spPr>
          <a:xfrm>
            <a:off x="411480" y="9144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Misafir Geldi</a:t>
            </a:r>
            <a:endParaRPr lang="en-US" sz="1100" dirty="0"/>
          </a:p>
        </p:txBody>
      </p:sp>
      <p:sp>
        <p:nvSpPr>
          <p:cNvPr id="6" name="Text 4"/>
          <p:cNvSpPr/>
          <p:nvPr/>
        </p:nvSpPr>
        <p:spPr>
          <a:xfrm>
            <a:off x="411480" y="12801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Eve beklenmedik misafirler geldi. Sen odanda ödev yapıyordun ve rahatsız oldun. Annen senden yardım istiyor. Ne yaparsın?</a:t>
            </a:r>
            <a:endParaRPr lang="en-US" sz="900" dirty="0"/>
          </a:p>
        </p:txBody>
      </p:sp>
      <p:sp>
        <p:nvSpPr>
          <p:cNvPr id="7" name="Shape 5"/>
          <p:cNvSpPr/>
          <p:nvPr/>
        </p:nvSpPr>
        <p:spPr>
          <a:xfrm>
            <a:off x="411480" y="2743200"/>
            <a:ext cx="4320540" cy="347472"/>
          </a:xfrm>
          <a:prstGeom prst="roundRect">
            <a:avLst>
              <a:gd name="adj" fmla="val 15789"/>
            </a:avLst>
          </a:prstGeom>
          <a:solidFill>
            <a:srgbClr val="FCEAED"/>
          </a:solidFill>
          <a:ln/>
        </p:spPr>
      </p:sp>
      <p:sp>
        <p:nvSpPr>
          <p:cNvPr id="8" name="Text 6"/>
          <p:cNvSpPr/>
          <p:nvPr/>
        </p:nvSpPr>
        <p:spPr>
          <a:xfrm>
            <a:off x="411480" y="27432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Odamdan çıkmam, ödevim var derim.</a:t>
            </a:r>
            <a:endParaRPr lang="en-US" sz="800" dirty="0"/>
          </a:p>
        </p:txBody>
      </p:sp>
      <p:sp>
        <p:nvSpPr>
          <p:cNvPr id="9" name="Shape 7"/>
          <p:cNvSpPr/>
          <p:nvPr/>
        </p:nvSpPr>
        <p:spPr>
          <a:xfrm>
            <a:off x="411480" y="3154680"/>
            <a:ext cx="4320540" cy="347472"/>
          </a:xfrm>
          <a:prstGeom prst="roundRect">
            <a:avLst>
              <a:gd name="adj" fmla="val 15789"/>
            </a:avLst>
          </a:prstGeom>
          <a:solidFill>
            <a:srgbClr val="FCEAED"/>
          </a:solidFill>
          <a:ln/>
        </p:spPr>
      </p:sp>
      <p:sp>
        <p:nvSpPr>
          <p:cNvPr id="10" name="Text 8"/>
          <p:cNvSpPr/>
          <p:nvPr/>
        </p:nvSpPr>
        <p:spPr>
          <a:xfrm>
            <a:off x="411480" y="31546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Misafirlere güler yüzle karşılar, anneme yardım ederim.</a:t>
            </a:r>
            <a:endParaRPr lang="en-US" sz="800" dirty="0"/>
          </a:p>
        </p:txBody>
      </p:sp>
      <p:sp>
        <p:nvSpPr>
          <p:cNvPr id="11" name="Shape 9"/>
          <p:cNvSpPr/>
          <p:nvPr/>
        </p:nvSpPr>
        <p:spPr>
          <a:xfrm>
            <a:off x="411480" y="3566160"/>
            <a:ext cx="4320540" cy="347472"/>
          </a:xfrm>
          <a:prstGeom prst="roundRect">
            <a:avLst>
              <a:gd name="adj" fmla="val 15789"/>
            </a:avLst>
          </a:prstGeom>
          <a:solidFill>
            <a:srgbClr val="FCEAED"/>
          </a:solidFill>
          <a:ln/>
        </p:spPr>
      </p:sp>
      <p:sp>
        <p:nvSpPr>
          <p:cNvPr id="12" name="Text 10"/>
          <p:cNvSpPr/>
          <p:nvPr/>
        </p:nvSpPr>
        <p:spPr>
          <a:xfrm>
            <a:off x="411480" y="35661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İsteksizce çıkarım ama suratımı asarım.</a:t>
            </a:r>
            <a:endParaRPr lang="en-US" sz="800" dirty="0"/>
          </a:p>
        </p:txBody>
      </p:sp>
      <p:sp>
        <p:nvSpPr>
          <p:cNvPr id="13" name="Shape 11"/>
          <p:cNvSpPr/>
          <p:nvPr/>
        </p:nvSpPr>
        <p:spPr>
          <a:xfrm>
            <a:off x="274320" y="4480560"/>
            <a:ext cx="4594860" cy="3474720"/>
          </a:xfrm>
          <a:prstGeom prst="roundRect">
            <a:avLst>
              <a:gd name="adj" fmla="val 2105"/>
            </a:avLst>
          </a:prstGeom>
          <a:solidFill>
            <a:srgbClr val="F5F5F5"/>
          </a:solidFill>
          <a:ln/>
        </p:spPr>
      </p:sp>
      <p:sp>
        <p:nvSpPr>
          <p:cNvPr id="14" name="Text 12"/>
          <p:cNvSpPr/>
          <p:nvPr/>
        </p:nvSpPr>
        <p:spPr>
          <a:xfrm>
            <a:off x="411480" y="45720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Temizlik Alışkanlığı</a:t>
            </a:r>
            <a:endParaRPr lang="en-US" sz="1100" dirty="0"/>
          </a:p>
        </p:txBody>
      </p:sp>
      <p:sp>
        <p:nvSpPr>
          <p:cNvPr id="15" name="Text 13"/>
          <p:cNvSpPr/>
          <p:nvPr/>
        </p:nvSpPr>
        <p:spPr>
          <a:xfrm>
            <a:off x="411480" y="49377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Arkadaşın sınıfta yere çöp atıyor ve 'Temizlikçi toplar' diyor. Sen de elinde bir kağıt var ama çöp kutusu biraz uzakta. Ne yaparsın?</a:t>
            </a:r>
            <a:endParaRPr lang="en-US" sz="900" dirty="0"/>
          </a:p>
        </p:txBody>
      </p:sp>
      <p:sp>
        <p:nvSpPr>
          <p:cNvPr id="16" name="Shape 14"/>
          <p:cNvSpPr/>
          <p:nvPr/>
        </p:nvSpPr>
        <p:spPr>
          <a:xfrm>
            <a:off x="411480" y="6400800"/>
            <a:ext cx="4320540" cy="347472"/>
          </a:xfrm>
          <a:prstGeom prst="roundRect">
            <a:avLst>
              <a:gd name="adj" fmla="val 15789"/>
            </a:avLst>
          </a:prstGeom>
          <a:solidFill>
            <a:srgbClr val="FCEAED"/>
          </a:solidFill>
          <a:ln/>
        </p:spPr>
      </p:sp>
      <p:sp>
        <p:nvSpPr>
          <p:cNvPr id="17" name="Text 15"/>
          <p:cNvSpPr/>
          <p:nvPr/>
        </p:nvSpPr>
        <p:spPr>
          <a:xfrm>
            <a:off x="411480" y="64008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Ben de yere atarım, temizlikçi halleder.</a:t>
            </a:r>
            <a:endParaRPr lang="en-US" sz="800" dirty="0"/>
          </a:p>
        </p:txBody>
      </p:sp>
      <p:sp>
        <p:nvSpPr>
          <p:cNvPr id="18" name="Shape 16"/>
          <p:cNvSpPr/>
          <p:nvPr/>
        </p:nvSpPr>
        <p:spPr>
          <a:xfrm>
            <a:off x="411480" y="6812280"/>
            <a:ext cx="4320540" cy="347472"/>
          </a:xfrm>
          <a:prstGeom prst="roundRect">
            <a:avLst>
              <a:gd name="adj" fmla="val 15789"/>
            </a:avLst>
          </a:prstGeom>
          <a:solidFill>
            <a:srgbClr val="FCEAED"/>
          </a:solidFill>
          <a:ln/>
        </p:spPr>
      </p:sp>
      <p:sp>
        <p:nvSpPr>
          <p:cNvPr id="19" name="Text 17"/>
          <p:cNvSpPr/>
          <p:nvPr/>
        </p:nvSpPr>
        <p:spPr>
          <a:xfrm>
            <a:off x="411480" y="68122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Çöpümü çöp kutusuna atar, arkadaşıma da nazikçe uyarırım.</a:t>
            </a:r>
            <a:endParaRPr lang="en-US" sz="800" dirty="0"/>
          </a:p>
        </p:txBody>
      </p:sp>
      <p:sp>
        <p:nvSpPr>
          <p:cNvPr id="20" name="Shape 18"/>
          <p:cNvSpPr/>
          <p:nvPr/>
        </p:nvSpPr>
        <p:spPr>
          <a:xfrm>
            <a:off x="411480" y="7223760"/>
            <a:ext cx="4320540" cy="347472"/>
          </a:xfrm>
          <a:prstGeom prst="roundRect">
            <a:avLst>
              <a:gd name="adj" fmla="val 15789"/>
            </a:avLst>
          </a:prstGeom>
          <a:solidFill>
            <a:srgbClr val="FCEAED"/>
          </a:solidFill>
          <a:ln/>
        </p:spPr>
      </p:sp>
      <p:sp>
        <p:nvSpPr>
          <p:cNvPr id="21" name="Text 19"/>
          <p:cNvSpPr/>
          <p:nvPr/>
        </p:nvSpPr>
        <p:spPr>
          <a:xfrm>
            <a:off x="411480" y="72237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Kağıdı cebime koyarım ama arkadaşıma bir şey demem.</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182880"/>
            <a:ext cx="5143500" cy="54864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Quiz</a:t>
            </a:r>
            <a:endParaRPr lang="en-US" sz="2000" dirty="0"/>
          </a:p>
        </p:txBody>
      </p:sp>
      <p:sp>
        <p:nvSpPr>
          <p:cNvPr id="5" name="Shape 3"/>
          <p:cNvSpPr/>
          <p:nvPr/>
        </p:nvSpPr>
        <p:spPr>
          <a:xfrm>
            <a:off x="274320" y="914400"/>
            <a:ext cx="4594860" cy="2377440"/>
          </a:xfrm>
          <a:prstGeom prst="roundRect">
            <a:avLst>
              <a:gd name="adj" fmla="val 3077"/>
            </a:avLst>
          </a:prstGeom>
          <a:solidFill>
            <a:srgbClr val="FFFFFF">
              <a:alpha val="90000"/>
            </a:srgbClr>
          </a:solidFill>
          <a:ln/>
        </p:spPr>
      </p:sp>
      <p:sp>
        <p:nvSpPr>
          <p:cNvPr id="6" name="Text 4"/>
          <p:cNvSpPr/>
          <p:nvPr/>
        </p:nvSpPr>
        <p:spPr>
          <a:xfrm>
            <a:off x="365760" y="10058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Peygamber Efendimiz sallallahu aleyhi ve sellem yemeğe nasıl başlardı?</a:t>
            </a:r>
            <a:endParaRPr lang="en-US" sz="900" dirty="0"/>
          </a:p>
        </p:txBody>
      </p:sp>
      <p:sp>
        <p:nvSpPr>
          <p:cNvPr id="7" name="Text 5"/>
          <p:cNvSpPr/>
          <p:nvPr/>
        </p:nvSpPr>
        <p:spPr>
          <a:xfrm>
            <a:off x="365760" y="16459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Dua ederek</a:t>
            </a:r>
            <a:endParaRPr lang="en-US" sz="800" dirty="0"/>
          </a:p>
        </p:txBody>
      </p:sp>
      <p:sp>
        <p:nvSpPr>
          <p:cNvPr id="8" name="Text 6"/>
          <p:cNvSpPr/>
          <p:nvPr/>
        </p:nvSpPr>
        <p:spPr>
          <a:xfrm>
            <a:off x="365760" y="20299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Besmele çekerek</a:t>
            </a:r>
            <a:endParaRPr lang="en-US" sz="800" dirty="0"/>
          </a:p>
        </p:txBody>
      </p:sp>
      <p:sp>
        <p:nvSpPr>
          <p:cNvPr id="9" name="Text 7"/>
          <p:cNvSpPr/>
          <p:nvPr/>
        </p:nvSpPr>
        <p:spPr>
          <a:xfrm>
            <a:off x="365760" y="24140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Şükür ederek</a:t>
            </a:r>
            <a:endParaRPr lang="en-US" sz="800" dirty="0"/>
          </a:p>
        </p:txBody>
      </p:sp>
      <p:sp>
        <p:nvSpPr>
          <p:cNvPr id="10" name="Text 8"/>
          <p:cNvSpPr/>
          <p:nvPr/>
        </p:nvSpPr>
        <p:spPr>
          <a:xfrm>
            <a:off x="365760" y="27980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Sessizce</a:t>
            </a:r>
            <a:endParaRPr lang="en-US" sz="800" dirty="0"/>
          </a:p>
        </p:txBody>
      </p:sp>
      <p:sp>
        <p:nvSpPr>
          <p:cNvPr id="11" name="Shape 9"/>
          <p:cNvSpPr/>
          <p:nvPr/>
        </p:nvSpPr>
        <p:spPr>
          <a:xfrm>
            <a:off x="274320" y="3429000"/>
            <a:ext cx="4594860" cy="2377440"/>
          </a:xfrm>
          <a:prstGeom prst="roundRect">
            <a:avLst>
              <a:gd name="adj" fmla="val 3077"/>
            </a:avLst>
          </a:prstGeom>
          <a:solidFill>
            <a:srgbClr val="FFFFFF">
              <a:alpha val="90000"/>
            </a:srgbClr>
          </a:solidFill>
          <a:ln/>
        </p:spPr>
      </p:sp>
      <p:sp>
        <p:nvSpPr>
          <p:cNvPr id="12" name="Text 10"/>
          <p:cNvSpPr/>
          <p:nvPr/>
        </p:nvSpPr>
        <p:spPr>
          <a:xfrm>
            <a:off x="365760" y="35204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Peygamber Efendimiz sallallahu aleyhi ve sellem tabağında yemek bırakır mıydı?</a:t>
            </a:r>
            <a:endParaRPr lang="en-US" sz="900" dirty="0"/>
          </a:p>
        </p:txBody>
      </p:sp>
      <p:sp>
        <p:nvSpPr>
          <p:cNvPr id="13" name="Text 11"/>
          <p:cNvSpPr/>
          <p:nvPr/>
        </p:nvSpPr>
        <p:spPr>
          <a:xfrm>
            <a:off x="365760" y="41605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Evet, yarısını bırakırdı</a:t>
            </a:r>
            <a:endParaRPr lang="en-US" sz="800" dirty="0"/>
          </a:p>
        </p:txBody>
      </p:sp>
      <p:sp>
        <p:nvSpPr>
          <p:cNvPr id="14" name="Text 12"/>
          <p:cNvSpPr/>
          <p:nvPr/>
        </p:nvSpPr>
        <p:spPr>
          <a:xfrm>
            <a:off x="365760" y="45445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Hayır, tabağını sıyırırdı</a:t>
            </a:r>
            <a:endParaRPr lang="en-US" sz="800" dirty="0"/>
          </a:p>
        </p:txBody>
      </p:sp>
      <p:sp>
        <p:nvSpPr>
          <p:cNvPr id="15" name="Text 13"/>
          <p:cNvSpPr/>
          <p:nvPr/>
        </p:nvSpPr>
        <p:spPr>
          <a:xfrm>
            <a:off x="365760" y="49286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Bazen bırakırdı</a:t>
            </a:r>
            <a:endParaRPr lang="en-US" sz="800" dirty="0"/>
          </a:p>
        </p:txBody>
      </p:sp>
      <p:sp>
        <p:nvSpPr>
          <p:cNvPr id="16" name="Text 14"/>
          <p:cNvSpPr/>
          <p:nvPr/>
        </p:nvSpPr>
        <p:spPr>
          <a:xfrm>
            <a:off x="365760" y="53126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Sadece misafir varken bırakmazdı</a:t>
            </a:r>
            <a:endParaRPr lang="en-US" sz="800" dirty="0"/>
          </a:p>
        </p:txBody>
      </p:sp>
      <p:sp>
        <p:nvSpPr>
          <p:cNvPr id="17" name="Shape 15"/>
          <p:cNvSpPr/>
          <p:nvPr/>
        </p:nvSpPr>
        <p:spPr>
          <a:xfrm>
            <a:off x="274320" y="5943600"/>
            <a:ext cx="4594860" cy="2377440"/>
          </a:xfrm>
          <a:prstGeom prst="roundRect">
            <a:avLst>
              <a:gd name="adj" fmla="val 3077"/>
            </a:avLst>
          </a:prstGeom>
          <a:solidFill>
            <a:srgbClr val="FFFFFF">
              <a:alpha val="90000"/>
            </a:srgbClr>
          </a:solidFill>
          <a:ln/>
        </p:spPr>
      </p:sp>
      <p:sp>
        <p:nvSpPr>
          <p:cNvPr id="18" name="Text 16"/>
          <p:cNvSpPr/>
          <p:nvPr/>
        </p:nvSpPr>
        <p:spPr>
          <a:xfrm>
            <a:off x="365760" y="60350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İsraf ne demektir?</a:t>
            </a:r>
            <a:endParaRPr lang="en-US" sz="900" dirty="0"/>
          </a:p>
        </p:txBody>
      </p:sp>
      <p:sp>
        <p:nvSpPr>
          <p:cNvPr id="19" name="Text 17"/>
          <p:cNvSpPr/>
          <p:nvPr/>
        </p:nvSpPr>
        <p:spPr>
          <a:xfrm>
            <a:off x="365760" y="66751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Tasarruf yapmak</a:t>
            </a:r>
            <a:endParaRPr lang="en-US" sz="800" dirty="0"/>
          </a:p>
        </p:txBody>
      </p:sp>
      <p:sp>
        <p:nvSpPr>
          <p:cNvPr id="20" name="Text 18"/>
          <p:cNvSpPr/>
          <p:nvPr/>
        </p:nvSpPr>
        <p:spPr>
          <a:xfrm>
            <a:off x="365760" y="70591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Nimetleri gereksiz yere harcamak</a:t>
            </a:r>
            <a:endParaRPr lang="en-US" sz="800" dirty="0"/>
          </a:p>
        </p:txBody>
      </p:sp>
      <p:sp>
        <p:nvSpPr>
          <p:cNvPr id="21" name="Text 19"/>
          <p:cNvSpPr/>
          <p:nvPr/>
        </p:nvSpPr>
        <p:spPr>
          <a:xfrm>
            <a:off x="365760" y="74432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Paylaşmak</a:t>
            </a:r>
            <a:endParaRPr lang="en-US" sz="800" dirty="0"/>
          </a:p>
        </p:txBody>
      </p:sp>
      <p:sp>
        <p:nvSpPr>
          <p:cNvPr id="22" name="Text 20"/>
          <p:cNvSpPr/>
          <p:nvPr/>
        </p:nvSpPr>
        <p:spPr>
          <a:xfrm>
            <a:off x="365760" y="78272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Biriktirmek</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1371600"/>
            <a:ext cx="5143500" cy="548640"/>
          </a:xfrm>
          <a:prstGeom prst="rect">
            <a:avLst/>
          </a:prstGeom>
          <a:noFill/>
          <a:ln/>
        </p:spPr>
        <p:txBody>
          <a:bodyPr wrap="square" rtlCol="0" anchor="ctr"/>
          <a:lstStyle/>
          <a:p>
            <a:pPr algn="ctr" indent="0" marL="0">
              <a:buNone/>
            </a:pPr>
            <a:r>
              <a:rPr lang="en-US" sz="2000" dirty="0">
                <a:solidFill>
                  <a:srgbClr val="FCEAED"/>
                </a:solidFill>
              </a:rPr>
              <a:t>✦</a:t>
            </a:r>
            <a:endParaRPr lang="en-US" sz="2000" dirty="0"/>
          </a:p>
        </p:txBody>
      </p:sp>
      <p:sp>
        <p:nvSpPr>
          <p:cNvPr id="5" name="Text 3"/>
          <p:cNvSpPr/>
          <p:nvPr/>
        </p:nvSpPr>
        <p:spPr>
          <a:xfrm>
            <a:off x="365760" y="2286000"/>
            <a:ext cx="4411980" cy="3657600"/>
          </a:xfrm>
          <a:prstGeom prst="rect">
            <a:avLst/>
          </a:prstGeom>
          <a:noFill/>
          <a:ln/>
        </p:spPr>
        <p:txBody>
          <a:bodyPr wrap="square" rtlCol="0" anchor="ctr"/>
          <a:lstStyle/>
          <a:p>
            <a:pPr algn="ctr" indent="0" marL="0">
              <a:buNone/>
            </a:pPr>
            <a:r>
              <a:rPr lang="en-US" sz="1500" i="1" dirty="0">
                <a:solidFill>
                  <a:srgbClr val="FFFFFF"/>
                </a:solidFill>
                <a:latin typeface="Calibri" pitchFamily="34" charset="0"/>
                <a:ea typeface="Calibri" pitchFamily="34" charset="-122"/>
                <a:cs typeface="Calibri" pitchFamily="34" charset="-120"/>
              </a:rPr>
              <a:t>Sizin için Allah'ın Resulünde güzel bir örnek vardır.</a:t>
            </a:r>
            <a:endParaRPr lang="en-US" sz="1500" dirty="0"/>
          </a:p>
        </p:txBody>
      </p:sp>
      <p:sp>
        <p:nvSpPr>
          <p:cNvPr id="6" name="Text 4"/>
          <p:cNvSpPr/>
          <p:nvPr/>
        </p:nvSpPr>
        <p:spPr>
          <a:xfrm>
            <a:off x="365760" y="6217920"/>
            <a:ext cx="4411980" cy="457200"/>
          </a:xfrm>
          <a:prstGeom prst="rect">
            <a:avLst/>
          </a:prstGeom>
          <a:noFill/>
          <a:ln/>
        </p:spPr>
        <p:txBody>
          <a:bodyPr wrap="square" rtlCol="0" anchor="ctr"/>
          <a:lstStyle/>
          <a:p>
            <a:pPr algn="ctr" indent="0" marL="0">
              <a:buNone/>
            </a:pPr>
            <a:r>
              <a:rPr lang="en-US" sz="1000" dirty="0">
                <a:solidFill>
                  <a:srgbClr val="FCEAED"/>
                </a:solidFill>
                <a:latin typeface="Calibri" pitchFamily="34" charset="0"/>
                <a:ea typeface="Calibri" pitchFamily="34" charset="-122"/>
                <a:cs typeface="Calibri" pitchFamily="34" charset="-120"/>
              </a:rPr>
              <a:t>Ahzâb Sûresi, 21. âyet</a:t>
            </a:r>
            <a:endParaRPr lang="en-US" sz="1000" dirty="0"/>
          </a:p>
        </p:txBody>
      </p:sp>
      <p:sp>
        <p:nvSpPr>
          <p:cNvPr id="7" name="Text 5"/>
          <p:cNvSpPr/>
          <p:nvPr/>
        </p:nvSpPr>
        <p:spPr>
          <a:xfrm>
            <a:off x="0" y="6858000"/>
            <a:ext cx="5143500" cy="548640"/>
          </a:xfrm>
          <a:prstGeom prst="rect">
            <a:avLst/>
          </a:prstGeom>
          <a:noFill/>
          <a:ln/>
        </p:spPr>
        <p:txBody>
          <a:bodyPr wrap="square" rtlCol="0" anchor="ctr"/>
          <a:lstStyle/>
          <a:p>
            <a:pPr algn="ctr" indent="0" marL="0">
              <a:buNone/>
            </a:pPr>
            <a:r>
              <a:rPr lang="en-US" sz="2000" dirty="0">
                <a:solidFill>
                  <a:srgbClr val="FCEAED"/>
                </a:solidFill>
              </a:rPr>
              <a:t>✦</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Duesuenelim</a:t>
            </a:r>
            <a:endParaRPr lang="en-US" sz="1800" dirty="0"/>
          </a:p>
        </p:txBody>
      </p:sp>
      <p:sp>
        <p:nvSpPr>
          <p:cNvPr id="4" name="Shape 2"/>
          <p:cNvSpPr/>
          <p:nvPr/>
        </p:nvSpPr>
        <p:spPr>
          <a:xfrm>
            <a:off x="274320" y="822960"/>
            <a:ext cx="4594860" cy="2194560"/>
          </a:xfrm>
          <a:prstGeom prst="roundRect">
            <a:avLst>
              <a:gd name="adj" fmla="val 3333"/>
            </a:avLst>
          </a:prstGeom>
          <a:solidFill>
            <a:srgbClr val="FCEAED"/>
          </a:solidFill>
          <a:ln/>
        </p:spPr>
      </p:sp>
      <p:sp>
        <p:nvSpPr>
          <p:cNvPr id="5" name="Text 3"/>
          <p:cNvSpPr/>
          <p:nvPr/>
        </p:nvSpPr>
        <p:spPr>
          <a:xfrm>
            <a:off x="411480" y="96012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731520" y="96012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Günlük hayatında hangi sünnetleri uygulamaya çalışıyorsun?</a:t>
            </a:r>
            <a:endParaRPr lang="en-US" sz="1100" dirty="0"/>
          </a:p>
        </p:txBody>
      </p:sp>
      <p:sp>
        <p:nvSpPr>
          <p:cNvPr id="7" name="Shape 5"/>
          <p:cNvSpPr/>
          <p:nvPr/>
        </p:nvSpPr>
        <p:spPr>
          <a:xfrm>
            <a:off x="274320" y="3200400"/>
            <a:ext cx="4594860" cy="2194560"/>
          </a:xfrm>
          <a:prstGeom prst="roundRect">
            <a:avLst>
              <a:gd name="adj" fmla="val 3333"/>
            </a:avLst>
          </a:prstGeom>
          <a:solidFill>
            <a:srgbClr val="FCEAED"/>
          </a:solidFill>
          <a:ln/>
        </p:spPr>
      </p:sp>
      <p:sp>
        <p:nvSpPr>
          <p:cNvPr id="8" name="Text 6"/>
          <p:cNvSpPr/>
          <p:nvPr/>
        </p:nvSpPr>
        <p:spPr>
          <a:xfrm>
            <a:off x="411480" y="333756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2.</a:t>
            </a:r>
            <a:endParaRPr lang="en-US" sz="1400" dirty="0"/>
          </a:p>
        </p:txBody>
      </p:sp>
      <p:sp>
        <p:nvSpPr>
          <p:cNvPr id="9" name="Text 7"/>
          <p:cNvSpPr/>
          <p:nvPr/>
        </p:nvSpPr>
        <p:spPr>
          <a:xfrm>
            <a:off x="731520" y="333756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Yemek yerken Besmele çekmeyi ne sıklıkla hatırlıyorsun?</a:t>
            </a:r>
            <a:endParaRPr lang="en-US" sz="1100" dirty="0"/>
          </a:p>
        </p:txBody>
      </p:sp>
      <p:sp>
        <p:nvSpPr>
          <p:cNvPr id="10" name="Shape 8"/>
          <p:cNvSpPr/>
          <p:nvPr/>
        </p:nvSpPr>
        <p:spPr>
          <a:xfrm>
            <a:off x="274320" y="5577840"/>
            <a:ext cx="4594860" cy="2194560"/>
          </a:xfrm>
          <a:prstGeom prst="roundRect">
            <a:avLst>
              <a:gd name="adj" fmla="val 3333"/>
            </a:avLst>
          </a:prstGeom>
          <a:solidFill>
            <a:srgbClr val="FCEAED"/>
          </a:solidFill>
          <a:ln/>
        </p:spPr>
      </p:sp>
      <p:sp>
        <p:nvSpPr>
          <p:cNvPr id="11" name="Text 9"/>
          <p:cNvSpPr/>
          <p:nvPr/>
        </p:nvSpPr>
        <p:spPr>
          <a:xfrm>
            <a:off x="411480" y="571500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3.</a:t>
            </a:r>
            <a:endParaRPr lang="en-US" sz="1400" dirty="0"/>
          </a:p>
        </p:txBody>
      </p:sp>
      <p:sp>
        <p:nvSpPr>
          <p:cNvPr id="12" name="Text 10"/>
          <p:cNvSpPr/>
          <p:nvPr/>
        </p:nvSpPr>
        <p:spPr>
          <a:xfrm>
            <a:off x="731520" y="571500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Selâmlaşmanın insanlar arasındaki ilişkiye nasıl bir etkisi olduğunu düşünüyorsun?</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2286000"/>
            <a:ext cx="5143500" cy="914400"/>
          </a:xfrm>
          <a:prstGeom prst="rect">
            <a:avLst/>
          </a:prstGeom>
          <a:noFill/>
          <a:ln/>
        </p:spPr>
        <p:txBody>
          <a:bodyPr wrap="square" rtlCol="0" anchor="ctr"/>
          <a:lstStyle/>
          <a:p>
            <a:pPr algn="ctr" indent="0" marL="0">
              <a:buNone/>
            </a:pPr>
            <a:r>
              <a:rPr lang="en-US" sz="4400" dirty="0">
                <a:solidFill>
                  <a:srgbClr val="000000"/>
                </a:solidFill>
              </a:rPr>
              <a:t>❤️</a:t>
            </a:r>
            <a:endParaRPr lang="en-US" sz="4400" dirty="0"/>
          </a:p>
        </p:txBody>
      </p:sp>
      <p:sp>
        <p:nvSpPr>
          <p:cNvPr id="5" name="Text 3"/>
          <p:cNvSpPr/>
          <p:nvPr/>
        </p:nvSpPr>
        <p:spPr>
          <a:xfrm>
            <a:off x="0" y="3474720"/>
            <a:ext cx="5143500" cy="73152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Birlikte Iyilik Akademisi</a:t>
            </a:r>
            <a:endParaRPr lang="en-US" sz="2200" dirty="0"/>
          </a:p>
        </p:txBody>
      </p:sp>
      <p:sp>
        <p:nvSpPr>
          <p:cNvPr id="6" name="Text 4"/>
          <p:cNvSpPr/>
          <p:nvPr/>
        </p:nvSpPr>
        <p:spPr>
          <a:xfrm>
            <a:off x="0" y="4297680"/>
            <a:ext cx="5143500" cy="54864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Degerler Egitimi</a:t>
            </a:r>
            <a:endParaRPr lang="en-US" sz="1400" dirty="0"/>
          </a:p>
        </p:txBody>
      </p:sp>
      <p:sp>
        <p:nvSpPr>
          <p:cNvPr id="7" name="Text 5"/>
          <p:cNvSpPr/>
          <p:nvPr/>
        </p:nvSpPr>
        <p:spPr>
          <a:xfrm>
            <a:off x="0" y="5303520"/>
            <a:ext cx="5143500" cy="457200"/>
          </a:xfrm>
          <a:prstGeom prst="rect">
            <a:avLst/>
          </a:prstGeom>
          <a:noFill/>
          <a:ln/>
        </p:spPr>
        <p:txBody>
          <a:bodyPr wrap="square" rtlCol="0" anchor="ctr"/>
          <a:lstStyle/>
          <a:p>
            <a:pPr algn="ctr" indent="0" marL="0">
              <a:buNone/>
            </a:pPr>
            <a:r>
              <a:rPr lang="en-US" sz="1200" i="1" dirty="0">
                <a:solidFill>
                  <a:srgbClr val="FCEAED"/>
                </a:solidFill>
                <a:latin typeface="Calibri" pitchFamily="34" charset="0"/>
                <a:ea typeface="Calibri" pitchFamily="34" charset="-122"/>
                <a:cs typeface="Calibri" pitchFamily="34" charset="-120"/>
              </a:rPr>
              <a:t>Ders 36</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Sünnet ve Günlük Hayat</dc:title>
  <dc:subject>Degerler Egitimi</dc:subject>
  <dc:creator>Birlikte Iyilik Akademisi</dc:creator>
  <cp:lastModifiedBy>Birlikte Iyilik Akademisi</cp:lastModifiedBy>
  <cp:revision>1</cp:revision>
  <dcterms:created xsi:type="dcterms:W3CDTF">2026-03-21T08:52:35Z</dcterms:created>
  <dcterms:modified xsi:type="dcterms:W3CDTF">2026-03-21T08:52:35Z</dcterms:modified>
</cp:coreProperties>
</file>