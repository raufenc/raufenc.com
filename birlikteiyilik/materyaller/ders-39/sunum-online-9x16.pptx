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5143500" cy="9144000"/>
  <p:notesSz cx="9144000" cy="51435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548640"/>
            <a:ext cx="5143500" cy="457200"/>
          </a:xfrm>
          <a:prstGeom prst="rect">
            <a:avLst/>
          </a:prstGeom>
          <a:noFill/>
          <a:ln/>
        </p:spPr>
        <p:txBody>
          <a:bodyPr wrap="square" rtlCol="0" anchor="ctr"/>
          <a:lstStyle/>
          <a:p>
            <a:pPr algn="ctr" indent="0" marL="0">
              <a:buNone/>
            </a:pPr>
            <a:r>
              <a:rPr lang="en-US" sz="1100" dirty="0">
                <a:solidFill>
                  <a:srgbClr val="FCEAED"/>
                </a:solidFill>
                <a:latin typeface="Calibri" pitchFamily="34" charset="0"/>
                <a:ea typeface="Calibri" pitchFamily="34" charset="-122"/>
                <a:cs typeface="Calibri" pitchFamily="34" charset="-120"/>
              </a:rPr>
              <a:t>Birlikte Iyilik Akademisi</a:t>
            </a:r>
            <a:endParaRPr lang="en-US" sz="1100" dirty="0"/>
          </a:p>
        </p:txBody>
      </p:sp>
      <p:sp>
        <p:nvSpPr>
          <p:cNvPr id="5" name="Text 3"/>
          <p:cNvSpPr/>
          <p:nvPr/>
        </p:nvSpPr>
        <p:spPr>
          <a:xfrm>
            <a:off x="365760" y="2743200"/>
            <a:ext cx="4411980" cy="137160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Cömertlik ve Paylaşma</a:t>
            </a:r>
            <a:endParaRPr lang="en-US" sz="2800" dirty="0"/>
          </a:p>
        </p:txBody>
      </p:sp>
      <p:sp>
        <p:nvSpPr>
          <p:cNvPr id="6" name="Text 4"/>
          <p:cNvSpPr/>
          <p:nvPr/>
        </p:nvSpPr>
        <p:spPr>
          <a:xfrm>
            <a:off x="457200" y="4206240"/>
            <a:ext cx="4229100" cy="548640"/>
          </a:xfrm>
          <a:prstGeom prst="rect">
            <a:avLst/>
          </a:prstGeom>
          <a:noFill/>
          <a:ln/>
        </p:spPr>
        <p:txBody>
          <a:bodyPr wrap="square" rtlCol="0" anchor="ctr"/>
          <a:lstStyle/>
          <a:p>
            <a:pPr algn="ctr" indent="0" marL="0">
              <a:buNone/>
            </a:pPr>
            <a:r>
              <a:rPr lang="en-US" sz="1500" i="1" dirty="0">
                <a:solidFill>
                  <a:srgbClr val="FCEAED"/>
                </a:solidFill>
                <a:latin typeface="Calibri" pitchFamily="34" charset="0"/>
                <a:ea typeface="Calibri" pitchFamily="34" charset="-122"/>
                <a:cs typeface="Calibri" pitchFamily="34" charset="-120"/>
              </a:rPr>
              <a:t>Veren El Alan Elden Üstündür</a:t>
            </a:r>
            <a:endParaRPr lang="en-US" sz="1500" dirty="0"/>
          </a:p>
        </p:txBody>
      </p:sp>
      <p:sp>
        <p:nvSpPr>
          <p:cNvPr id="7" name="Text 5"/>
          <p:cNvSpPr/>
          <p:nvPr/>
        </p:nvSpPr>
        <p:spPr>
          <a:xfrm>
            <a:off x="0" y="8412480"/>
            <a:ext cx="514350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Degerler Egitimi</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Buguen Ne Oegreneceegiz?</a:t>
            </a:r>
            <a:endParaRPr lang="en-US" sz="1800" dirty="0"/>
          </a:p>
        </p:txBody>
      </p:sp>
      <p:sp>
        <p:nvSpPr>
          <p:cNvPr id="4" name="Shape 2"/>
          <p:cNvSpPr/>
          <p:nvPr/>
        </p:nvSpPr>
        <p:spPr>
          <a:xfrm>
            <a:off x="274320" y="914400"/>
            <a:ext cx="365760" cy="365760"/>
          </a:xfrm>
          <a:prstGeom prst="ellipse">
            <a:avLst/>
          </a:prstGeom>
          <a:solidFill>
            <a:srgbClr val="C8102E"/>
          </a:solidFill>
          <a:ln/>
        </p:spPr>
      </p:sp>
      <p:sp>
        <p:nvSpPr>
          <p:cNvPr id="5" name="Text 3"/>
          <p:cNvSpPr/>
          <p:nvPr/>
        </p:nvSpPr>
        <p:spPr>
          <a:xfrm>
            <a:off x="274320" y="91440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777240" y="82296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Zekâtın İslâm'daki yerini ve toplumsal önemini öğrenir.</a:t>
            </a:r>
            <a:endParaRPr lang="en-US" sz="1200" dirty="0"/>
          </a:p>
        </p:txBody>
      </p:sp>
      <p:sp>
        <p:nvSpPr>
          <p:cNvPr id="7" name="Shape 5"/>
          <p:cNvSpPr/>
          <p:nvPr/>
        </p:nvSpPr>
        <p:spPr>
          <a:xfrm>
            <a:off x="274320" y="1874520"/>
            <a:ext cx="365760" cy="365760"/>
          </a:xfrm>
          <a:prstGeom prst="ellipse">
            <a:avLst/>
          </a:prstGeom>
          <a:solidFill>
            <a:srgbClr val="C8102E"/>
          </a:solidFill>
          <a:ln/>
        </p:spPr>
      </p:sp>
      <p:sp>
        <p:nvSpPr>
          <p:cNvPr id="8" name="Text 6"/>
          <p:cNvSpPr/>
          <p:nvPr/>
        </p:nvSpPr>
        <p:spPr>
          <a:xfrm>
            <a:off x="274320" y="187452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777240" y="178308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Cömertliğin sadece maddi değil, manevi boyutunu da kavrar.</a:t>
            </a:r>
            <a:endParaRPr lang="en-US" sz="1200" dirty="0"/>
          </a:p>
        </p:txBody>
      </p:sp>
      <p:sp>
        <p:nvSpPr>
          <p:cNvPr id="10" name="Shape 8"/>
          <p:cNvSpPr/>
          <p:nvPr/>
        </p:nvSpPr>
        <p:spPr>
          <a:xfrm>
            <a:off x="274320" y="2834640"/>
            <a:ext cx="365760" cy="365760"/>
          </a:xfrm>
          <a:prstGeom prst="ellipse">
            <a:avLst/>
          </a:prstGeom>
          <a:solidFill>
            <a:srgbClr val="C8102E"/>
          </a:solidFill>
          <a:ln/>
        </p:spPr>
      </p:sp>
      <p:sp>
        <p:nvSpPr>
          <p:cNvPr id="11" name="Text 9"/>
          <p:cNvSpPr/>
          <p:nvPr/>
        </p:nvSpPr>
        <p:spPr>
          <a:xfrm>
            <a:off x="274320" y="283464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777240" y="274320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Paylaşmanın toplumsal dayanışmayı güçlendirdiğini anlar.</a:t>
            </a:r>
            <a:endParaRPr lang="en-US" sz="1200" dirty="0"/>
          </a:p>
        </p:txBody>
      </p:sp>
      <p:sp>
        <p:nvSpPr>
          <p:cNvPr id="13" name="Shape 11"/>
          <p:cNvSpPr/>
          <p:nvPr/>
        </p:nvSpPr>
        <p:spPr>
          <a:xfrm>
            <a:off x="274320" y="3794760"/>
            <a:ext cx="365760" cy="365760"/>
          </a:xfrm>
          <a:prstGeom prst="ellipse">
            <a:avLst/>
          </a:prstGeom>
          <a:solidFill>
            <a:srgbClr val="C8102E"/>
          </a:solidFill>
          <a:ln/>
        </p:spPr>
      </p:sp>
      <p:sp>
        <p:nvSpPr>
          <p:cNvPr id="14" name="Text 12"/>
          <p:cNvSpPr/>
          <p:nvPr/>
        </p:nvSpPr>
        <p:spPr>
          <a:xfrm>
            <a:off x="274320" y="3794760"/>
            <a:ext cx="365760" cy="3657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777240" y="3703320"/>
            <a:ext cx="4091940" cy="640080"/>
          </a:xfrm>
          <a:prstGeom prst="rect">
            <a:avLst/>
          </a:prstGeom>
          <a:noFill/>
          <a:ln/>
        </p:spPr>
        <p:txBody>
          <a:bodyPr wrap="square" rtlCol="0" anchor="ctr"/>
          <a:lstStyle/>
          <a:p>
            <a:pPr algn="l" indent="0" marL="0">
              <a:buNone/>
            </a:pPr>
            <a:r>
              <a:rPr lang="en-US" sz="1200" dirty="0">
                <a:solidFill>
                  <a:srgbClr val="222222"/>
                </a:solidFill>
                <a:latin typeface="Calibri" pitchFamily="34" charset="0"/>
                <a:ea typeface="Calibri" pitchFamily="34" charset="-122"/>
                <a:cs typeface="Calibri" pitchFamily="34" charset="-120"/>
              </a:rPr>
              <a:t>Günlük hayatta cömert olmanın yollarını fark eder.</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Anahtar Kavramlar</a:t>
            </a:r>
            <a:endParaRPr lang="en-US" sz="1800" dirty="0"/>
          </a:p>
        </p:txBody>
      </p:sp>
      <p:sp>
        <p:nvSpPr>
          <p:cNvPr id="4" name="Shape 2"/>
          <p:cNvSpPr/>
          <p:nvPr/>
        </p:nvSpPr>
        <p:spPr>
          <a:xfrm>
            <a:off x="274320" y="822960"/>
            <a:ext cx="2228850" cy="2377440"/>
          </a:xfrm>
          <a:prstGeom prst="roundRect">
            <a:avLst>
              <a:gd name="adj" fmla="val 3282"/>
            </a:avLst>
          </a:prstGeom>
          <a:solidFill>
            <a:srgbClr val="FCEAED"/>
          </a:solidFill>
          <a:ln/>
        </p:spPr>
      </p:sp>
      <p:sp>
        <p:nvSpPr>
          <p:cNvPr id="5" name="Text 3"/>
          <p:cNvSpPr/>
          <p:nvPr/>
        </p:nvSpPr>
        <p:spPr>
          <a:xfrm>
            <a:off x="36576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Zekât</a:t>
            </a:r>
            <a:endParaRPr lang="en-US" sz="1100" dirty="0"/>
          </a:p>
        </p:txBody>
      </p:sp>
      <p:sp>
        <p:nvSpPr>
          <p:cNvPr id="6" name="Text 4"/>
          <p:cNvSpPr/>
          <p:nvPr/>
        </p:nvSpPr>
        <p:spPr>
          <a:xfrm>
            <a:off x="36576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Zenginlerin mallarından belirli oranda ihtiyaç sahiplerine vermeleri gereken farz ibadet.</a:t>
            </a:r>
            <a:endParaRPr lang="en-US" sz="900" dirty="0"/>
          </a:p>
        </p:txBody>
      </p:sp>
      <p:sp>
        <p:nvSpPr>
          <p:cNvPr id="7" name="Shape 5"/>
          <p:cNvSpPr/>
          <p:nvPr/>
        </p:nvSpPr>
        <p:spPr>
          <a:xfrm>
            <a:off x="2640330" y="822960"/>
            <a:ext cx="2228850" cy="2377440"/>
          </a:xfrm>
          <a:prstGeom prst="roundRect">
            <a:avLst>
              <a:gd name="adj" fmla="val 3282"/>
            </a:avLst>
          </a:prstGeom>
          <a:solidFill>
            <a:srgbClr val="FCEAED"/>
          </a:solidFill>
          <a:ln/>
        </p:spPr>
      </p:sp>
      <p:sp>
        <p:nvSpPr>
          <p:cNvPr id="8" name="Text 6"/>
          <p:cNvSpPr/>
          <p:nvPr/>
        </p:nvSpPr>
        <p:spPr>
          <a:xfrm>
            <a:off x="2731770" y="9144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Cömertlik</a:t>
            </a:r>
            <a:endParaRPr lang="en-US" sz="1100" dirty="0"/>
          </a:p>
        </p:txBody>
      </p:sp>
      <p:sp>
        <p:nvSpPr>
          <p:cNvPr id="9" name="Text 7"/>
          <p:cNvSpPr/>
          <p:nvPr/>
        </p:nvSpPr>
        <p:spPr>
          <a:xfrm>
            <a:off x="2731770" y="12801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Sahip olduklarını gönül rahatlığıyla başkalarıyla paylaşmak.</a:t>
            </a:r>
            <a:endParaRPr lang="en-US" sz="900" dirty="0"/>
          </a:p>
        </p:txBody>
      </p:sp>
      <p:sp>
        <p:nvSpPr>
          <p:cNvPr id="10" name="Shape 8"/>
          <p:cNvSpPr/>
          <p:nvPr/>
        </p:nvSpPr>
        <p:spPr>
          <a:xfrm>
            <a:off x="274320" y="3337560"/>
            <a:ext cx="2228850" cy="2377440"/>
          </a:xfrm>
          <a:prstGeom prst="roundRect">
            <a:avLst>
              <a:gd name="adj" fmla="val 3282"/>
            </a:avLst>
          </a:prstGeom>
          <a:solidFill>
            <a:srgbClr val="FCEAED"/>
          </a:solidFill>
          <a:ln/>
        </p:spPr>
      </p:sp>
      <p:sp>
        <p:nvSpPr>
          <p:cNvPr id="11" name="Text 9"/>
          <p:cNvSpPr/>
          <p:nvPr/>
        </p:nvSpPr>
        <p:spPr>
          <a:xfrm>
            <a:off x="36576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Sadaka</a:t>
            </a:r>
            <a:endParaRPr lang="en-US" sz="1100" dirty="0"/>
          </a:p>
        </p:txBody>
      </p:sp>
      <p:sp>
        <p:nvSpPr>
          <p:cNvPr id="12" name="Text 10"/>
          <p:cNvSpPr/>
          <p:nvPr/>
        </p:nvSpPr>
        <p:spPr>
          <a:xfrm>
            <a:off x="36576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 rızası için yapılan her türlü iyilik ve yardım.</a:t>
            </a:r>
            <a:endParaRPr lang="en-US" sz="900" dirty="0"/>
          </a:p>
        </p:txBody>
      </p:sp>
      <p:sp>
        <p:nvSpPr>
          <p:cNvPr id="13" name="Shape 11"/>
          <p:cNvSpPr/>
          <p:nvPr/>
        </p:nvSpPr>
        <p:spPr>
          <a:xfrm>
            <a:off x="2640330" y="3337560"/>
            <a:ext cx="2228850" cy="2377440"/>
          </a:xfrm>
          <a:prstGeom prst="roundRect">
            <a:avLst>
              <a:gd name="adj" fmla="val 3282"/>
            </a:avLst>
          </a:prstGeom>
          <a:solidFill>
            <a:srgbClr val="FCEAED"/>
          </a:solidFill>
          <a:ln/>
        </p:spPr>
      </p:sp>
      <p:sp>
        <p:nvSpPr>
          <p:cNvPr id="14" name="Text 12"/>
          <p:cNvSpPr/>
          <p:nvPr/>
        </p:nvSpPr>
        <p:spPr>
          <a:xfrm>
            <a:off x="2731770" y="34290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İnfâk</a:t>
            </a:r>
            <a:endParaRPr lang="en-US" sz="1100" dirty="0"/>
          </a:p>
        </p:txBody>
      </p:sp>
      <p:sp>
        <p:nvSpPr>
          <p:cNvPr id="15" name="Text 13"/>
          <p:cNvSpPr/>
          <p:nvPr/>
        </p:nvSpPr>
        <p:spPr>
          <a:xfrm>
            <a:off x="2731770" y="37947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Allah yolunda harcama yapmak, ihtiyaç sahiplerine vermek.</a:t>
            </a:r>
            <a:endParaRPr lang="en-US" sz="900" dirty="0"/>
          </a:p>
        </p:txBody>
      </p:sp>
      <p:sp>
        <p:nvSpPr>
          <p:cNvPr id="16" name="Shape 14"/>
          <p:cNvSpPr/>
          <p:nvPr/>
        </p:nvSpPr>
        <p:spPr>
          <a:xfrm>
            <a:off x="274320" y="5852160"/>
            <a:ext cx="2228850" cy="2377440"/>
          </a:xfrm>
          <a:prstGeom prst="roundRect">
            <a:avLst>
              <a:gd name="adj" fmla="val 3282"/>
            </a:avLst>
          </a:prstGeom>
          <a:solidFill>
            <a:srgbClr val="FCEAED"/>
          </a:solidFill>
          <a:ln/>
        </p:spPr>
      </p:sp>
      <p:sp>
        <p:nvSpPr>
          <p:cNvPr id="17" name="Text 15"/>
          <p:cNvSpPr/>
          <p:nvPr/>
        </p:nvSpPr>
        <p:spPr>
          <a:xfrm>
            <a:off x="36576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Toplumsal Adalet</a:t>
            </a:r>
            <a:endParaRPr lang="en-US" sz="1100" dirty="0"/>
          </a:p>
        </p:txBody>
      </p:sp>
      <p:sp>
        <p:nvSpPr>
          <p:cNvPr id="18" name="Text 16"/>
          <p:cNvSpPr/>
          <p:nvPr/>
        </p:nvSpPr>
        <p:spPr>
          <a:xfrm>
            <a:off x="36576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Toplumda zengin-fakir arasındaki dengenin sağlanması.</a:t>
            </a:r>
            <a:endParaRPr lang="en-US" sz="900" dirty="0"/>
          </a:p>
        </p:txBody>
      </p:sp>
      <p:sp>
        <p:nvSpPr>
          <p:cNvPr id="19" name="Shape 17"/>
          <p:cNvSpPr/>
          <p:nvPr/>
        </p:nvSpPr>
        <p:spPr>
          <a:xfrm>
            <a:off x="2640330" y="5852160"/>
            <a:ext cx="2228850" cy="2377440"/>
          </a:xfrm>
          <a:prstGeom prst="roundRect">
            <a:avLst>
              <a:gd name="adj" fmla="val 3282"/>
            </a:avLst>
          </a:prstGeom>
          <a:solidFill>
            <a:srgbClr val="FCEAED"/>
          </a:solidFill>
          <a:ln/>
        </p:spPr>
      </p:sp>
      <p:sp>
        <p:nvSpPr>
          <p:cNvPr id="20" name="Text 18"/>
          <p:cNvSpPr/>
          <p:nvPr/>
        </p:nvSpPr>
        <p:spPr>
          <a:xfrm>
            <a:off x="2731770" y="5943600"/>
            <a:ext cx="204597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Dayanışma</a:t>
            </a:r>
            <a:endParaRPr lang="en-US" sz="1100" dirty="0"/>
          </a:p>
        </p:txBody>
      </p:sp>
      <p:sp>
        <p:nvSpPr>
          <p:cNvPr id="21" name="Text 19"/>
          <p:cNvSpPr/>
          <p:nvPr/>
        </p:nvSpPr>
        <p:spPr>
          <a:xfrm>
            <a:off x="2731770" y="6309360"/>
            <a:ext cx="2045970" cy="178308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İnsanların birbirine destek olması, yardımlaşması.</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Cömertliğin Zirvesi</a:t>
            </a:r>
            <a:endParaRPr lang="en-US" sz="1800" dirty="0"/>
          </a:p>
        </p:txBody>
      </p:sp>
      <p:sp>
        <p:nvSpPr>
          <p:cNvPr id="4" name="Text 2"/>
          <p:cNvSpPr/>
          <p:nvPr/>
        </p:nvSpPr>
        <p:spPr>
          <a:xfrm>
            <a:off x="274320" y="822960"/>
            <a:ext cx="4594860" cy="640080"/>
          </a:xfrm>
          <a:prstGeom prst="rect">
            <a:avLst/>
          </a:prstGeom>
          <a:noFill/>
          <a:ln/>
        </p:spPr>
        <p:txBody>
          <a:bodyPr wrap="square" rtlCol="0" anchor="ctr"/>
          <a:lstStyle/>
          <a:p>
            <a:pPr algn="l" indent="0" marL="0">
              <a:buNone/>
            </a:pPr>
            <a:r>
              <a:rPr lang="en-US" sz="1000" i="1" dirty="0">
                <a:solidFill>
                  <a:srgbClr val="666666"/>
                </a:solidFill>
                <a:latin typeface="Calibri" pitchFamily="34" charset="0"/>
                <a:ea typeface="Calibri" pitchFamily="34" charset="-122"/>
                <a:cs typeface="Calibri" pitchFamily="34" charset="-120"/>
              </a:rPr>
              <a:t>Peygamber Efendimiz sallallahu aleyhi ve sellem insanların en cömerti idi. Kendisinden bir şey istendiğinde asla 'Hayır' demezdi. Zekâtın farz kılınması ile birlikte İslâm toplumunda paylaşma kültürü kurumsal bir hâl aldı.</a:t>
            </a:r>
            <a:endParaRPr lang="en-US" sz="1000" dirty="0"/>
          </a:p>
        </p:txBody>
      </p:sp>
      <p:sp>
        <p:nvSpPr>
          <p:cNvPr id="5" name="Text 3"/>
          <p:cNvSpPr/>
          <p:nvPr/>
        </p:nvSpPr>
        <p:spPr>
          <a:xfrm>
            <a:off x="274320" y="164592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'Veren el alan elden üstündür' buyurarak cömertliği en güzel şekilde özetlemiştir. Bir gün bir bedevi gelip O'ndan bir şey istedi. Peygamber Efendimiz sallallahu aleyhi ve sellem ona bir sürü koyun verdi. Bedevi kavmine döndüğünde 'Müslüman olun, Muhammed öyle veriyor ki fakirlik korkusu bilmiyor' dedi.</a:t>
            </a:r>
            <a:endParaRPr lang="en-US" sz="1000" dirty="0"/>
          </a:p>
        </p:txBody>
      </p:sp>
      <p:sp>
        <p:nvSpPr>
          <p:cNvPr id="6" name="Text 4"/>
          <p:cNvSpPr/>
          <p:nvPr/>
        </p:nvSpPr>
        <p:spPr>
          <a:xfrm>
            <a:off x="274320" y="365760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Zekât, zenginlerin mallarından belirli bir miktarı ihtiyaç sahiplerine vermesidir. Bu sadece bir yardım değil, aynı zamanda toplumsal adaletin temelidir. Zekât sayesinde zenginle fakir arasındaki uçurum kapanır, toplumda dayanışma güçlenir. Allah Teâlâ 'Namazı kılın, zekâtı verin' buyurarak zekâtı namazla birlikte zikretmiştir.</a:t>
            </a:r>
            <a:endParaRPr lang="en-US" sz="1000" dirty="0"/>
          </a:p>
        </p:txBody>
      </p:sp>
      <p:sp>
        <p:nvSpPr>
          <p:cNvPr id="7" name="Text 5"/>
          <p:cNvSpPr/>
          <p:nvPr/>
        </p:nvSpPr>
        <p:spPr>
          <a:xfrm>
            <a:off x="274320" y="5669280"/>
            <a:ext cx="4594860" cy="192024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Peygamber Efendimiz sallallahu aleyhi ve sellem sadece mal ile değil, güler yüz, tatlı söz ve güzel davranışla da cömert olmayı öğretmiştir. 'Kardeşinin yüzüne gülümsemen sadakadır' buyurarak herkesin bir şekilde cömert olabileceğini göstermiştir.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731520"/>
            <a:ext cx="914400" cy="1097280"/>
          </a:xfrm>
          <a:prstGeom prst="rect">
            <a:avLst/>
          </a:prstGeom>
          <a:noFill/>
          <a:ln/>
        </p:spPr>
        <p:txBody>
          <a:bodyPr wrap="square" rtlCol="0" anchor="ctr"/>
          <a:lstStyle/>
          <a:p>
            <a:pPr indent="0" marL="0">
              <a:buNone/>
            </a:pPr>
            <a:r>
              <a:rPr lang="en-US" sz="7200" b="1" dirty="0">
                <a:solidFill>
                  <a:srgbClr val="C8102E"/>
                </a:solidFill>
                <a:latin typeface="Calibri" pitchFamily="34" charset="0"/>
                <a:ea typeface="Calibri" pitchFamily="34" charset="-122"/>
                <a:cs typeface="Calibri" pitchFamily="34" charset="-120"/>
              </a:rPr>
              <a:t>“</a:t>
            </a:r>
            <a:endParaRPr lang="en-US" sz="7200" dirty="0"/>
          </a:p>
        </p:txBody>
      </p:sp>
      <p:sp>
        <p:nvSpPr>
          <p:cNvPr id="4" name="Shape 2"/>
          <p:cNvSpPr/>
          <p:nvPr/>
        </p:nvSpPr>
        <p:spPr>
          <a:xfrm>
            <a:off x="822960" y="1188720"/>
            <a:ext cx="45720" cy="4114800"/>
          </a:xfrm>
          <a:prstGeom prst="rect">
            <a:avLst/>
          </a:prstGeom>
          <a:solidFill>
            <a:srgbClr val="C8102E"/>
          </a:solidFill>
          <a:ln/>
        </p:spPr>
      </p:sp>
      <p:sp>
        <p:nvSpPr>
          <p:cNvPr id="5" name="Text 3"/>
          <p:cNvSpPr/>
          <p:nvPr/>
        </p:nvSpPr>
        <p:spPr>
          <a:xfrm>
            <a:off x="1051560" y="1188720"/>
            <a:ext cx="3680460" cy="4114800"/>
          </a:xfrm>
          <a:prstGeom prst="rect">
            <a:avLst/>
          </a:prstGeom>
          <a:noFill/>
          <a:ln/>
        </p:spPr>
        <p:txBody>
          <a:bodyPr wrap="square" rtlCol="0" anchor="ctr"/>
          <a:lstStyle/>
          <a:p>
            <a:pPr algn="l" indent="0" marL="0">
              <a:buNone/>
            </a:pPr>
            <a:r>
              <a:rPr lang="en-US" sz="1400" i="1" dirty="0">
                <a:solidFill>
                  <a:srgbClr val="222222"/>
                </a:solidFill>
                <a:latin typeface="Calibri" pitchFamily="34" charset="0"/>
                <a:ea typeface="Calibri" pitchFamily="34" charset="-122"/>
                <a:cs typeface="Calibri" pitchFamily="34" charset="-120"/>
              </a:rPr>
              <a:t>Veren el alan elden üstündür.</a:t>
            </a:r>
            <a:endParaRPr lang="en-US" sz="1400" dirty="0"/>
          </a:p>
        </p:txBody>
      </p:sp>
      <p:sp>
        <p:nvSpPr>
          <p:cNvPr id="6" name="Text 4"/>
          <p:cNvSpPr/>
          <p:nvPr/>
        </p:nvSpPr>
        <p:spPr>
          <a:xfrm>
            <a:off x="1051560" y="5669280"/>
            <a:ext cx="3680460" cy="457200"/>
          </a:xfrm>
          <a:prstGeom prst="rect">
            <a:avLst/>
          </a:prstGeom>
          <a:noFill/>
          <a:ln/>
        </p:spPr>
        <p:txBody>
          <a:bodyPr wrap="square" rtlCol="0" anchor="ctr"/>
          <a:lstStyle/>
          <a:p>
            <a:pPr algn="r" indent="0" marL="0">
              <a:buNone/>
            </a:pPr>
            <a:r>
              <a:rPr lang="en-US" sz="1000" dirty="0">
                <a:solidFill>
                  <a:srgbClr val="666666"/>
                </a:solidFill>
                <a:latin typeface="Calibri" pitchFamily="34" charset="0"/>
                <a:ea typeface="Calibri" pitchFamily="34" charset="-122"/>
                <a:cs typeface="Calibri" pitchFamily="34" charset="-120"/>
              </a:rPr>
              <a:t>— Peygamber Efendimiz sallallahu aleyhi ve sellem</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Shape 1"/>
          <p:cNvSpPr/>
          <p:nvPr/>
        </p:nvSpPr>
        <p:spPr>
          <a:xfrm>
            <a:off x="1657350" y="3200400"/>
            <a:ext cx="1828800" cy="27432"/>
          </a:xfrm>
          <a:prstGeom prst="rect">
            <a:avLst/>
          </a:prstGeom>
          <a:solidFill>
            <a:srgbClr val="C8102E"/>
          </a:solidFill>
          <a:ln/>
        </p:spPr>
      </p:sp>
      <p:sp>
        <p:nvSpPr>
          <p:cNvPr id="4" name="Text 2"/>
          <p:cNvSpPr/>
          <p:nvPr/>
        </p:nvSpPr>
        <p:spPr>
          <a:xfrm>
            <a:off x="457200" y="3474720"/>
            <a:ext cx="4229100" cy="3200400"/>
          </a:xfrm>
          <a:prstGeom prst="rect">
            <a:avLst/>
          </a:prstGeom>
          <a:noFill/>
          <a:ln/>
        </p:spPr>
        <p:txBody>
          <a:bodyPr wrap="square" rtlCol="0" anchor="ctr"/>
          <a:lstStyle/>
          <a:p>
            <a:pPr algn="ctr" indent="0" marL="0">
              <a:buNone/>
            </a:pPr>
            <a:r>
              <a:rPr lang="en-US" sz="1300" i="1" dirty="0">
                <a:solidFill>
                  <a:srgbClr val="8B0000"/>
                </a:solidFill>
                <a:latin typeface="Calibri" pitchFamily="34" charset="0"/>
                <a:ea typeface="Calibri" pitchFamily="34" charset="-122"/>
                <a:cs typeface="Calibri" pitchFamily="34" charset="-120"/>
              </a:rPr>
              <a:t>Namazı kılın, zekâtı verin.</a:t>
            </a:r>
            <a:endParaRPr lang="en-US" sz="1300" dirty="0"/>
          </a:p>
        </p:txBody>
      </p:sp>
      <p:sp>
        <p:nvSpPr>
          <p:cNvPr id="5" name="Shape 3"/>
          <p:cNvSpPr/>
          <p:nvPr/>
        </p:nvSpPr>
        <p:spPr>
          <a:xfrm>
            <a:off x="1657350" y="6858000"/>
            <a:ext cx="1828800" cy="27432"/>
          </a:xfrm>
          <a:prstGeom prst="rect">
            <a:avLst/>
          </a:prstGeom>
          <a:solidFill>
            <a:srgbClr val="C8102E"/>
          </a:solidFill>
          <a:ln/>
        </p:spPr>
      </p:sp>
      <p:sp>
        <p:nvSpPr>
          <p:cNvPr id="6" name="Text 4"/>
          <p:cNvSpPr/>
          <p:nvPr/>
        </p:nvSpPr>
        <p:spPr>
          <a:xfrm>
            <a:off x="457200" y="7132320"/>
            <a:ext cx="4229100" cy="457200"/>
          </a:xfrm>
          <a:prstGeom prst="rect">
            <a:avLst/>
          </a:prstGeom>
          <a:noFill/>
          <a:ln/>
        </p:spPr>
        <p:txBody>
          <a:bodyPr wrap="square" rtlCol="0" anchor="ctr"/>
          <a:lstStyle/>
          <a:p>
            <a:pPr algn="ctr" indent="0" marL="0">
              <a:buNone/>
            </a:pPr>
            <a:r>
              <a:rPr lang="en-US" sz="900" dirty="0">
                <a:solidFill>
                  <a:srgbClr val="666666"/>
                </a:solidFill>
                <a:latin typeface="Calibri" pitchFamily="34" charset="0"/>
                <a:ea typeface="Calibri" pitchFamily="34" charset="-122"/>
                <a:cs typeface="Calibri" pitchFamily="34" charset="-120"/>
              </a:rPr>
              <a:t>Bakara Sûresi, 43. âyet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Degerin Boyutlari</a:t>
            </a:r>
            <a:endParaRPr lang="en-US" sz="1800" dirty="0"/>
          </a:p>
        </p:txBody>
      </p:sp>
      <p:sp>
        <p:nvSpPr>
          <p:cNvPr id="4" name="Shape 2"/>
          <p:cNvSpPr/>
          <p:nvPr/>
        </p:nvSpPr>
        <p:spPr>
          <a:xfrm>
            <a:off x="274320" y="822960"/>
            <a:ext cx="2228850" cy="3474720"/>
          </a:xfrm>
          <a:prstGeom prst="roundRect">
            <a:avLst>
              <a:gd name="adj" fmla="val 3282"/>
            </a:avLst>
          </a:prstGeom>
          <a:solidFill>
            <a:srgbClr val="FCEAED"/>
          </a:solidFill>
          <a:ln/>
        </p:spPr>
      </p:sp>
      <p:sp>
        <p:nvSpPr>
          <p:cNvPr id="5" name="Text 3"/>
          <p:cNvSpPr/>
          <p:nvPr/>
        </p:nvSpPr>
        <p:spPr>
          <a:xfrm>
            <a:off x="27432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6" name="Text 4"/>
          <p:cNvSpPr/>
          <p:nvPr/>
        </p:nvSpPr>
        <p:spPr>
          <a:xfrm>
            <a:off x="34747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Bireysel Gelişim</a:t>
            </a:r>
            <a:endParaRPr lang="en-US" sz="1100" dirty="0"/>
          </a:p>
        </p:txBody>
      </p:sp>
      <p:sp>
        <p:nvSpPr>
          <p:cNvPr id="7" name="Text 5"/>
          <p:cNvSpPr/>
          <p:nvPr/>
        </p:nvSpPr>
        <p:spPr>
          <a:xfrm>
            <a:off x="34747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Cömertlik alışkanlığı kazanarak bencillikten uzaklaşmak.</a:t>
            </a:r>
            <a:endParaRPr lang="en-US" sz="800" dirty="0"/>
          </a:p>
        </p:txBody>
      </p:sp>
      <p:sp>
        <p:nvSpPr>
          <p:cNvPr id="8" name="Shape 6"/>
          <p:cNvSpPr/>
          <p:nvPr/>
        </p:nvSpPr>
        <p:spPr>
          <a:xfrm>
            <a:off x="2640330" y="822960"/>
            <a:ext cx="2228850" cy="3474720"/>
          </a:xfrm>
          <a:prstGeom prst="roundRect">
            <a:avLst>
              <a:gd name="adj" fmla="val 3282"/>
            </a:avLst>
          </a:prstGeom>
          <a:solidFill>
            <a:srgbClr val="FCEAED"/>
          </a:solidFill>
          <a:ln/>
        </p:spPr>
      </p:sp>
      <p:sp>
        <p:nvSpPr>
          <p:cNvPr id="9" name="Text 7"/>
          <p:cNvSpPr/>
          <p:nvPr/>
        </p:nvSpPr>
        <p:spPr>
          <a:xfrm>
            <a:off x="2640330" y="91440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0" name="Text 8"/>
          <p:cNvSpPr/>
          <p:nvPr/>
        </p:nvSpPr>
        <p:spPr>
          <a:xfrm>
            <a:off x="2713482" y="137160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Toplumsal Boyut</a:t>
            </a:r>
            <a:endParaRPr lang="en-US" sz="1100" dirty="0"/>
          </a:p>
        </p:txBody>
      </p:sp>
      <p:sp>
        <p:nvSpPr>
          <p:cNvPr id="11" name="Text 9"/>
          <p:cNvSpPr/>
          <p:nvPr/>
        </p:nvSpPr>
        <p:spPr>
          <a:xfrm>
            <a:off x="2713482" y="178308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Zekât ve paylaşmayla toplumsal adalete katkıda bulunmak.</a:t>
            </a:r>
            <a:endParaRPr lang="en-US" sz="800" dirty="0"/>
          </a:p>
        </p:txBody>
      </p:sp>
      <p:sp>
        <p:nvSpPr>
          <p:cNvPr id="12" name="Shape 10"/>
          <p:cNvSpPr/>
          <p:nvPr/>
        </p:nvSpPr>
        <p:spPr>
          <a:xfrm>
            <a:off x="274320" y="4434840"/>
            <a:ext cx="2228850" cy="3474720"/>
          </a:xfrm>
          <a:prstGeom prst="roundRect">
            <a:avLst>
              <a:gd name="adj" fmla="val 3282"/>
            </a:avLst>
          </a:prstGeom>
          <a:solidFill>
            <a:srgbClr val="FCEAED"/>
          </a:solidFill>
          <a:ln/>
        </p:spPr>
      </p:sp>
      <p:sp>
        <p:nvSpPr>
          <p:cNvPr id="13" name="Text 11"/>
          <p:cNvSpPr/>
          <p:nvPr/>
        </p:nvSpPr>
        <p:spPr>
          <a:xfrm>
            <a:off x="27432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4747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Manevi Boyut</a:t>
            </a:r>
            <a:endParaRPr lang="en-US" sz="1100" dirty="0"/>
          </a:p>
        </p:txBody>
      </p:sp>
      <p:sp>
        <p:nvSpPr>
          <p:cNvPr id="15" name="Text 13"/>
          <p:cNvSpPr/>
          <p:nvPr/>
        </p:nvSpPr>
        <p:spPr>
          <a:xfrm>
            <a:off x="34747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Vermenin manevi huzurunu ve bereket getirdiğini anlamak.</a:t>
            </a:r>
            <a:endParaRPr lang="en-US" sz="800" dirty="0"/>
          </a:p>
        </p:txBody>
      </p:sp>
      <p:sp>
        <p:nvSpPr>
          <p:cNvPr id="16" name="Shape 14"/>
          <p:cNvSpPr/>
          <p:nvPr/>
        </p:nvSpPr>
        <p:spPr>
          <a:xfrm>
            <a:off x="2640330" y="4434840"/>
            <a:ext cx="2228850" cy="3474720"/>
          </a:xfrm>
          <a:prstGeom prst="roundRect">
            <a:avLst>
              <a:gd name="adj" fmla="val 3282"/>
            </a:avLst>
          </a:prstGeom>
          <a:solidFill>
            <a:srgbClr val="FCEAED"/>
          </a:solidFill>
          <a:ln/>
        </p:spPr>
      </p:sp>
      <p:sp>
        <p:nvSpPr>
          <p:cNvPr id="17" name="Text 15"/>
          <p:cNvSpPr/>
          <p:nvPr/>
        </p:nvSpPr>
        <p:spPr>
          <a:xfrm>
            <a:off x="2640330" y="4526280"/>
            <a:ext cx="222885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8" name="Text 16"/>
          <p:cNvSpPr/>
          <p:nvPr/>
        </p:nvSpPr>
        <p:spPr>
          <a:xfrm>
            <a:off x="2713482" y="4983480"/>
            <a:ext cx="2082546" cy="365760"/>
          </a:xfrm>
          <a:prstGeom prst="rect">
            <a:avLst/>
          </a:prstGeom>
          <a:noFill/>
          <a:ln/>
        </p:spPr>
        <p:txBody>
          <a:bodyPr wrap="square" rtlCol="0" anchor="ctr"/>
          <a:lstStyle/>
          <a:p>
            <a:pPr algn="ctr" indent="0" marL="0">
              <a:buNone/>
            </a:pPr>
            <a:r>
              <a:rPr lang="en-US" sz="1100" b="1" dirty="0">
                <a:solidFill>
                  <a:srgbClr val="C8102E"/>
                </a:solidFill>
                <a:latin typeface="Calibri" pitchFamily="34" charset="0"/>
                <a:ea typeface="Calibri" pitchFamily="34" charset="-122"/>
                <a:cs typeface="Calibri" pitchFamily="34" charset="-120"/>
              </a:rPr>
              <a:t>Ekonomik Boyut</a:t>
            </a:r>
            <a:endParaRPr lang="en-US" sz="1100" dirty="0"/>
          </a:p>
        </p:txBody>
      </p:sp>
      <p:sp>
        <p:nvSpPr>
          <p:cNvPr id="19" name="Text 17"/>
          <p:cNvSpPr/>
          <p:nvPr/>
        </p:nvSpPr>
        <p:spPr>
          <a:xfrm>
            <a:off x="2713482" y="5394960"/>
            <a:ext cx="2082546" cy="2331720"/>
          </a:xfrm>
          <a:prstGeom prst="rect">
            <a:avLst/>
          </a:prstGeom>
          <a:noFill/>
          <a:ln/>
        </p:spPr>
        <p:txBody>
          <a:bodyPr wrap="square" rtlCol="0" anchor="t"/>
          <a:lstStyle/>
          <a:p>
            <a:pPr algn="l" indent="0" marL="0">
              <a:buNone/>
            </a:pPr>
            <a:r>
              <a:rPr lang="en-US" sz="800" dirty="0">
                <a:solidFill>
                  <a:srgbClr val="222222"/>
                </a:solidFill>
                <a:latin typeface="Calibri" pitchFamily="34" charset="0"/>
                <a:ea typeface="Calibri" pitchFamily="34" charset="-122"/>
                <a:cs typeface="Calibri" pitchFamily="34" charset="-120"/>
              </a:rPr>
              <a:t>Zekâtın toplumda ekonomik dengeyi nasıl sağladığını görmek.</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Harçlık Paylaşımı</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Biriktirdiğin harçlıkla çok istediğin bir kitabı alacaktın. Ama sınıfında maddi durumu zor olan bir arkadaşının okul malzemesi alamadığını fark ettin.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Kitabımı alırım, arkadaşımın durumu beni ilgilendirmez.</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Harçlığımın bir kısmıyla arkadaşıma malzeme alır, kitabı sonra alırım.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Öğretmene söylerim ama kendim bir şey yapmam.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Yemek Paylaşımı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 kantininde çok güzel bir sandviç aldın. Yanında oturan arkadaşın yemek getirmemiş ve sana bakıyor ama istemeye çekiniyor.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Görmezden gelirim, kendi yemeğimi yerim.</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Sandviçimi paylaşırım ve birlikte yeriz.</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'Yarın sen getir' derim ama paylaşmam.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Senaryolar</a:t>
            </a:r>
            <a:endParaRPr lang="en-US" sz="1800" dirty="0"/>
          </a:p>
        </p:txBody>
      </p:sp>
      <p:sp>
        <p:nvSpPr>
          <p:cNvPr id="4" name="Shape 2"/>
          <p:cNvSpPr/>
          <p:nvPr/>
        </p:nvSpPr>
        <p:spPr>
          <a:xfrm>
            <a:off x="274320" y="822960"/>
            <a:ext cx="4594860" cy="3474720"/>
          </a:xfrm>
          <a:prstGeom prst="roundRect">
            <a:avLst>
              <a:gd name="adj" fmla="val 2105"/>
            </a:avLst>
          </a:prstGeom>
          <a:solidFill>
            <a:srgbClr val="F5F5F5"/>
          </a:solidFill>
          <a:ln/>
        </p:spPr>
      </p:sp>
      <p:sp>
        <p:nvSpPr>
          <p:cNvPr id="5" name="Text 3"/>
          <p:cNvSpPr/>
          <p:nvPr/>
        </p:nvSpPr>
        <p:spPr>
          <a:xfrm>
            <a:off x="411480" y="9144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Eski Eşyalar</a:t>
            </a:r>
            <a:endParaRPr lang="en-US" sz="1100" dirty="0"/>
          </a:p>
        </p:txBody>
      </p:sp>
      <p:sp>
        <p:nvSpPr>
          <p:cNvPr id="6" name="Text 4"/>
          <p:cNvSpPr/>
          <p:nvPr/>
        </p:nvSpPr>
        <p:spPr>
          <a:xfrm>
            <a:off x="411480" y="12801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Odan dolup taşıyor ve kullanmadığın birçok oyuncak, kitap ve kıyafet var. Annen 'Bunları ihtiyacı olanlara verelim' diyor ama sen bazılarını seviyorsun. Ne yaparsın?</a:t>
            </a:r>
            <a:endParaRPr lang="en-US" sz="900" dirty="0"/>
          </a:p>
        </p:txBody>
      </p:sp>
      <p:sp>
        <p:nvSpPr>
          <p:cNvPr id="7" name="Shape 5"/>
          <p:cNvSpPr/>
          <p:nvPr/>
        </p:nvSpPr>
        <p:spPr>
          <a:xfrm>
            <a:off x="411480" y="2743200"/>
            <a:ext cx="4320540" cy="347472"/>
          </a:xfrm>
          <a:prstGeom prst="roundRect">
            <a:avLst>
              <a:gd name="adj" fmla="val 15789"/>
            </a:avLst>
          </a:prstGeom>
          <a:solidFill>
            <a:srgbClr val="FCEAED"/>
          </a:solidFill>
          <a:ln/>
        </p:spPr>
      </p:sp>
      <p:sp>
        <p:nvSpPr>
          <p:cNvPr id="8" name="Text 6"/>
          <p:cNvSpPr/>
          <p:nvPr/>
        </p:nvSpPr>
        <p:spPr>
          <a:xfrm>
            <a:off x="411480" y="27432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Hiçbirini vermem, hepsi benim.</a:t>
            </a:r>
            <a:endParaRPr lang="en-US" sz="800" dirty="0"/>
          </a:p>
        </p:txBody>
      </p:sp>
      <p:sp>
        <p:nvSpPr>
          <p:cNvPr id="9" name="Shape 7"/>
          <p:cNvSpPr/>
          <p:nvPr/>
        </p:nvSpPr>
        <p:spPr>
          <a:xfrm>
            <a:off x="411480" y="3154680"/>
            <a:ext cx="4320540" cy="347472"/>
          </a:xfrm>
          <a:prstGeom prst="roundRect">
            <a:avLst>
              <a:gd name="adj" fmla="val 15789"/>
            </a:avLst>
          </a:prstGeom>
          <a:solidFill>
            <a:srgbClr val="FCEAED"/>
          </a:solidFill>
          <a:ln/>
        </p:spPr>
      </p:sp>
      <p:sp>
        <p:nvSpPr>
          <p:cNvPr id="10" name="Text 8"/>
          <p:cNvSpPr/>
          <p:nvPr/>
        </p:nvSpPr>
        <p:spPr>
          <a:xfrm>
            <a:off x="411480" y="31546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Kullanmadıklarımı ayırır, ihtiyacı olanlara sevinerek veririm.</a:t>
            </a:r>
            <a:endParaRPr lang="en-US" sz="800" dirty="0"/>
          </a:p>
        </p:txBody>
      </p:sp>
      <p:sp>
        <p:nvSpPr>
          <p:cNvPr id="11" name="Shape 9"/>
          <p:cNvSpPr/>
          <p:nvPr/>
        </p:nvSpPr>
        <p:spPr>
          <a:xfrm>
            <a:off x="411480" y="3566160"/>
            <a:ext cx="4320540" cy="347472"/>
          </a:xfrm>
          <a:prstGeom prst="roundRect">
            <a:avLst>
              <a:gd name="adj" fmla="val 15789"/>
            </a:avLst>
          </a:prstGeom>
          <a:solidFill>
            <a:srgbClr val="FCEAED"/>
          </a:solidFill>
          <a:ln/>
        </p:spPr>
      </p:sp>
      <p:sp>
        <p:nvSpPr>
          <p:cNvPr id="12" name="Text 10"/>
          <p:cNvSpPr/>
          <p:nvPr/>
        </p:nvSpPr>
        <p:spPr>
          <a:xfrm>
            <a:off x="411480" y="35661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Sadece kırık olanları veririm.</a:t>
            </a:r>
            <a:endParaRPr lang="en-US" sz="800" dirty="0"/>
          </a:p>
        </p:txBody>
      </p:sp>
      <p:sp>
        <p:nvSpPr>
          <p:cNvPr id="13" name="Shape 11"/>
          <p:cNvSpPr/>
          <p:nvPr/>
        </p:nvSpPr>
        <p:spPr>
          <a:xfrm>
            <a:off x="274320" y="4480560"/>
            <a:ext cx="4594860" cy="3474720"/>
          </a:xfrm>
          <a:prstGeom prst="roundRect">
            <a:avLst>
              <a:gd name="adj" fmla="val 2105"/>
            </a:avLst>
          </a:prstGeom>
          <a:solidFill>
            <a:srgbClr val="F5F5F5"/>
          </a:solidFill>
          <a:ln/>
        </p:spPr>
      </p:sp>
      <p:sp>
        <p:nvSpPr>
          <p:cNvPr id="14" name="Text 12"/>
          <p:cNvSpPr/>
          <p:nvPr/>
        </p:nvSpPr>
        <p:spPr>
          <a:xfrm>
            <a:off x="411480" y="4572000"/>
            <a:ext cx="4320540" cy="365760"/>
          </a:xfrm>
          <a:prstGeom prst="rect">
            <a:avLst/>
          </a:prstGeom>
          <a:noFill/>
          <a:ln/>
        </p:spPr>
        <p:txBody>
          <a:bodyPr wrap="square" rtlCol="0" anchor="ctr"/>
          <a:lstStyle/>
          <a:p>
            <a:pPr algn="l" indent="0" marL="0">
              <a:buNone/>
            </a:pPr>
            <a:r>
              <a:rPr lang="en-US" sz="1100" b="1" dirty="0">
                <a:solidFill>
                  <a:srgbClr val="C8102E"/>
                </a:solidFill>
                <a:latin typeface="Calibri" pitchFamily="34" charset="0"/>
                <a:ea typeface="Calibri" pitchFamily="34" charset="-122"/>
                <a:cs typeface="Calibri" pitchFamily="34" charset="-120"/>
              </a:rPr>
              <a:t>Güleryüz Sadakası</a:t>
            </a:r>
            <a:endParaRPr lang="en-US" sz="1100" dirty="0"/>
          </a:p>
        </p:txBody>
      </p:sp>
      <p:sp>
        <p:nvSpPr>
          <p:cNvPr id="15" name="Text 13"/>
          <p:cNvSpPr/>
          <p:nvPr/>
        </p:nvSpPr>
        <p:spPr>
          <a:xfrm>
            <a:off x="411480" y="4937760"/>
            <a:ext cx="4320540" cy="1371600"/>
          </a:xfrm>
          <a:prstGeom prst="rect">
            <a:avLst/>
          </a:prstGeom>
          <a:noFill/>
          <a:ln/>
        </p:spPr>
        <p:txBody>
          <a:bodyPr wrap="square" rtlCol="0" anchor="t"/>
          <a:lstStyle/>
          <a:p>
            <a:pPr algn="l" indent="0" marL="0">
              <a:buNone/>
            </a:pPr>
            <a:r>
              <a:rPr lang="en-US" sz="900" dirty="0">
                <a:solidFill>
                  <a:srgbClr val="222222"/>
                </a:solidFill>
                <a:latin typeface="Calibri" pitchFamily="34" charset="0"/>
                <a:ea typeface="Calibri" pitchFamily="34" charset="-122"/>
                <a:cs typeface="Calibri" pitchFamily="34" charset="-120"/>
              </a:rPr>
              <a:t>Okulda yeni başlayan bir öğrenci var. Kimse onunla konuşmuyor ve yalnız oturuyor. Teneffüste herkes kendi grubuyla eğleniyor. Ne yaparsın?</a:t>
            </a:r>
            <a:endParaRPr lang="en-US" sz="900" dirty="0"/>
          </a:p>
        </p:txBody>
      </p:sp>
      <p:sp>
        <p:nvSpPr>
          <p:cNvPr id="16" name="Shape 14"/>
          <p:cNvSpPr/>
          <p:nvPr/>
        </p:nvSpPr>
        <p:spPr>
          <a:xfrm>
            <a:off x="411480" y="6400800"/>
            <a:ext cx="4320540" cy="347472"/>
          </a:xfrm>
          <a:prstGeom prst="roundRect">
            <a:avLst>
              <a:gd name="adj" fmla="val 15789"/>
            </a:avLst>
          </a:prstGeom>
          <a:solidFill>
            <a:srgbClr val="FCEAED"/>
          </a:solidFill>
          <a:ln/>
        </p:spPr>
      </p:sp>
      <p:sp>
        <p:nvSpPr>
          <p:cNvPr id="17" name="Text 15"/>
          <p:cNvSpPr/>
          <p:nvPr/>
        </p:nvSpPr>
        <p:spPr>
          <a:xfrm>
            <a:off x="411480" y="640080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kendi grupumla takılırım, zamanla alışır.</a:t>
            </a:r>
            <a:endParaRPr lang="en-US" sz="800" dirty="0"/>
          </a:p>
        </p:txBody>
      </p:sp>
      <p:sp>
        <p:nvSpPr>
          <p:cNvPr id="18" name="Shape 16"/>
          <p:cNvSpPr/>
          <p:nvPr/>
        </p:nvSpPr>
        <p:spPr>
          <a:xfrm>
            <a:off x="411480" y="6812280"/>
            <a:ext cx="4320540" cy="347472"/>
          </a:xfrm>
          <a:prstGeom prst="roundRect">
            <a:avLst>
              <a:gd name="adj" fmla="val 15789"/>
            </a:avLst>
          </a:prstGeom>
          <a:solidFill>
            <a:srgbClr val="FCEAED"/>
          </a:solidFill>
          <a:ln/>
        </p:spPr>
      </p:sp>
      <p:sp>
        <p:nvSpPr>
          <p:cNvPr id="19" name="Text 17"/>
          <p:cNvSpPr/>
          <p:nvPr/>
        </p:nvSpPr>
        <p:spPr>
          <a:xfrm>
            <a:off x="411480" y="681228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Yanına gider, güler yüzle tanışır ve onu arkadaş grubuma davet ederim.</a:t>
            </a:r>
            <a:endParaRPr lang="en-US" sz="800" dirty="0"/>
          </a:p>
        </p:txBody>
      </p:sp>
      <p:sp>
        <p:nvSpPr>
          <p:cNvPr id="20" name="Shape 18"/>
          <p:cNvSpPr/>
          <p:nvPr/>
        </p:nvSpPr>
        <p:spPr>
          <a:xfrm>
            <a:off x="411480" y="7223760"/>
            <a:ext cx="4320540" cy="347472"/>
          </a:xfrm>
          <a:prstGeom prst="roundRect">
            <a:avLst>
              <a:gd name="adj" fmla="val 15789"/>
            </a:avLst>
          </a:prstGeom>
          <a:solidFill>
            <a:srgbClr val="FCEAED"/>
          </a:solidFill>
          <a:ln/>
        </p:spPr>
      </p:sp>
      <p:sp>
        <p:nvSpPr>
          <p:cNvPr id="21" name="Text 19"/>
          <p:cNvSpPr/>
          <p:nvPr/>
        </p:nvSpPr>
        <p:spPr>
          <a:xfrm>
            <a:off x="411480" y="7223760"/>
            <a:ext cx="4320540" cy="347472"/>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Uzaktan bakarım ama yanına gitmem.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82880"/>
            <a:ext cx="514350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Quiz</a:t>
            </a:r>
            <a:endParaRPr lang="en-US" sz="2000" dirty="0"/>
          </a:p>
        </p:txBody>
      </p:sp>
      <p:sp>
        <p:nvSpPr>
          <p:cNvPr id="5" name="Shape 3"/>
          <p:cNvSpPr/>
          <p:nvPr/>
        </p:nvSpPr>
        <p:spPr>
          <a:xfrm>
            <a:off x="274320" y="914400"/>
            <a:ext cx="4594860" cy="2377440"/>
          </a:xfrm>
          <a:prstGeom prst="roundRect">
            <a:avLst>
              <a:gd name="adj" fmla="val 3077"/>
            </a:avLst>
          </a:prstGeom>
          <a:solidFill>
            <a:srgbClr val="FFFFFF">
              <a:alpha val="90000"/>
            </a:srgbClr>
          </a:solidFill>
          <a:ln/>
        </p:spPr>
      </p:sp>
      <p:sp>
        <p:nvSpPr>
          <p:cNvPr id="6" name="Text 4"/>
          <p:cNvSpPr/>
          <p:nvPr/>
        </p:nvSpPr>
        <p:spPr>
          <a:xfrm>
            <a:off x="365760" y="10058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 cömertlik hakkında ne buyurmuştur?</a:t>
            </a:r>
            <a:endParaRPr lang="en-US" sz="900" dirty="0"/>
          </a:p>
        </p:txBody>
      </p:sp>
      <p:sp>
        <p:nvSpPr>
          <p:cNvPr id="7" name="Text 5"/>
          <p:cNvSpPr/>
          <p:nvPr/>
        </p:nvSpPr>
        <p:spPr>
          <a:xfrm>
            <a:off x="365760" y="16459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'Kendinize yetecek kadar harcayın'</a:t>
            </a:r>
            <a:endParaRPr lang="en-US" sz="800" dirty="0"/>
          </a:p>
        </p:txBody>
      </p:sp>
      <p:sp>
        <p:nvSpPr>
          <p:cNvPr id="8" name="Text 6"/>
          <p:cNvSpPr/>
          <p:nvPr/>
        </p:nvSpPr>
        <p:spPr>
          <a:xfrm>
            <a:off x="365760" y="20299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'Veren el alan elden üstündür'</a:t>
            </a:r>
            <a:endParaRPr lang="en-US" sz="800" dirty="0"/>
          </a:p>
        </p:txBody>
      </p:sp>
      <p:sp>
        <p:nvSpPr>
          <p:cNvPr id="9" name="Text 7"/>
          <p:cNvSpPr/>
          <p:nvPr/>
        </p:nvSpPr>
        <p:spPr>
          <a:xfrm>
            <a:off x="365760" y="24140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'Malınızı saklayın'</a:t>
            </a:r>
            <a:endParaRPr lang="en-US" sz="800" dirty="0"/>
          </a:p>
        </p:txBody>
      </p:sp>
      <p:sp>
        <p:nvSpPr>
          <p:cNvPr id="10" name="Text 8"/>
          <p:cNvSpPr/>
          <p:nvPr/>
        </p:nvSpPr>
        <p:spPr>
          <a:xfrm>
            <a:off x="365760" y="27980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yakınlarınıza verin'</a:t>
            </a:r>
            <a:endParaRPr lang="en-US" sz="800" dirty="0"/>
          </a:p>
        </p:txBody>
      </p:sp>
      <p:sp>
        <p:nvSpPr>
          <p:cNvPr id="11" name="Shape 9"/>
          <p:cNvSpPr/>
          <p:nvPr/>
        </p:nvSpPr>
        <p:spPr>
          <a:xfrm>
            <a:off x="274320" y="3429000"/>
            <a:ext cx="4594860" cy="2377440"/>
          </a:xfrm>
          <a:prstGeom prst="roundRect">
            <a:avLst>
              <a:gd name="adj" fmla="val 3077"/>
            </a:avLst>
          </a:prstGeom>
          <a:solidFill>
            <a:srgbClr val="FFFFFF">
              <a:alpha val="90000"/>
            </a:srgbClr>
          </a:solidFill>
          <a:ln/>
        </p:spPr>
      </p:sp>
      <p:sp>
        <p:nvSpPr>
          <p:cNvPr id="12" name="Text 10"/>
          <p:cNvSpPr/>
          <p:nvPr/>
        </p:nvSpPr>
        <p:spPr>
          <a:xfrm>
            <a:off x="365760" y="35204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Peygamber Efendimiz sallallahu aleyhi ve selleme gelen bedevi ne demiştir kavmine döndüğünde?</a:t>
            </a:r>
            <a:endParaRPr lang="en-US" sz="900" dirty="0"/>
          </a:p>
        </p:txBody>
      </p:sp>
      <p:sp>
        <p:nvSpPr>
          <p:cNvPr id="13" name="Text 11"/>
          <p:cNvSpPr/>
          <p:nvPr/>
        </p:nvSpPr>
        <p:spPr>
          <a:xfrm>
            <a:off x="365760" y="41605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'Hiçbir şey vermedi'</a:t>
            </a:r>
            <a:endParaRPr lang="en-US" sz="800" dirty="0"/>
          </a:p>
        </p:txBody>
      </p:sp>
      <p:sp>
        <p:nvSpPr>
          <p:cNvPr id="14" name="Text 12"/>
          <p:cNvSpPr/>
          <p:nvPr/>
        </p:nvSpPr>
        <p:spPr>
          <a:xfrm>
            <a:off x="365760" y="45445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'Müslüman olun, Muhammed öyle veriyor ki fakirlik korkusu bilmiyor'</a:t>
            </a:r>
            <a:endParaRPr lang="en-US" sz="800" dirty="0"/>
          </a:p>
        </p:txBody>
      </p:sp>
      <p:sp>
        <p:nvSpPr>
          <p:cNvPr id="15" name="Text 13"/>
          <p:cNvSpPr/>
          <p:nvPr/>
        </p:nvSpPr>
        <p:spPr>
          <a:xfrm>
            <a:off x="365760" y="49286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'Çok az verdi'</a:t>
            </a:r>
            <a:endParaRPr lang="en-US" sz="800" dirty="0"/>
          </a:p>
        </p:txBody>
      </p:sp>
      <p:sp>
        <p:nvSpPr>
          <p:cNvPr id="16" name="Text 14"/>
          <p:cNvSpPr/>
          <p:nvPr/>
        </p:nvSpPr>
        <p:spPr>
          <a:xfrm>
            <a:off x="365760" y="53126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'Sadece bana verdi'</a:t>
            </a:r>
            <a:endParaRPr lang="en-US" sz="800" dirty="0"/>
          </a:p>
        </p:txBody>
      </p:sp>
      <p:sp>
        <p:nvSpPr>
          <p:cNvPr id="17" name="Shape 15"/>
          <p:cNvSpPr/>
          <p:nvPr/>
        </p:nvSpPr>
        <p:spPr>
          <a:xfrm>
            <a:off x="274320" y="5943600"/>
            <a:ext cx="4594860" cy="2377440"/>
          </a:xfrm>
          <a:prstGeom prst="roundRect">
            <a:avLst>
              <a:gd name="adj" fmla="val 3077"/>
            </a:avLst>
          </a:prstGeom>
          <a:solidFill>
            <a:srgbClr val="FFFFFF">
              <a:alpha val="90000"/>
            </a:srgbClr>
          </a:solidFill>
          <a:ln/>
        </p:spPr>
      </p:sp>
      <p:sp>
        <p:nvSpPr>
          <p:cNvPr id="18" name="Text 16"/>
          <p:cNvSpPr/>
          <p:nvPr/>
        </p:nvSpPr>
        <p:spPr>
          <a:xfrm>
            <a:off x="365760" y="6035040"/>
            <a:ext cx="4411980" cy="640080"/>
          </a:xfrm>
          <a:prstGeom prst="rect">
            <a:avLst/>
          </a:prstGeom>
          <a:noFill/>
          <a:ln/>
        </p:spPr>
        <p:txBody>
          <a:bodyPr wrap="square" rtlCol="0" anchor="t"/>
          <a:lstStyle/>
          <a:p>
            <a:pPr algn="l" indent="0" marL="0">
              <a:buNone/>
            </a:pPr>
            <a:r>
              <a:rPr lang="en-US" sz="900" b="1" dirty="0">
                <a:solidFill>
                  <a:srgbClr val="8B0000"/>
                </a:solidFill>
                <a:latin typeface="Calibri" pitchFamily="34" charset="0"/>
                <a:ea typeface="Calibri" pitchFamily="34" charset="-122"/>
                <a:cs typeface="Calibri" pitchFamily="34" charset="-120"/>
              </a:rPr>
              <a:t>Zekâtın toplumsal faydası nedir?</a:t>
            </a:r>
            <a:endParaRPr lang="en-US" sz="900" dirty="0"/>
          </a:p>
        </p:txBody>
      </p:sp>
      <p:sp>
        <p:nvSpPr>
          <p:cNvPr id="19" name="Text 17"/>
          <p:cNvSpPr/>
          <p:nvPr/>
        </p:nvSpPr>
        <p:spPr>
          <a:xfrm>
            <a:off x="365760" y="6675120"/>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A) Sadece zengini ödüllendirir</a:t>
            </a:r>
            <a:endParaRPr lang="en-US" sz="800" dirty="0"/>
          </a:p>
        </p:txBody>
      </p:sp>
      <p:sp>
        <p:nvSpPr>
          <p:cNvPr id="20" name="Text 18"/>
          <p:cNvSpPr/>
          <p:nvPr/>
        </p:nvSpPr>
        <p:spPr>
          <a:xfrm>
            <a:off x="365760" y="7059168"/>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B) Zengin-fakir arasındaki uçurumu kapatır</a:t>
            </a:r>
            <a:endParaRPr lang="en-US" sz="800" dirty="0"/>
          </a:p>
        </p:txBody>
      </p:sp>
      <p:sp>
        <p:nvSpPr>
          <p:cNvPr id="21" name="Text 19"/>
          <p:cNvSpPr/>
          <p:nvPr/>
        </p:nvSpPr>
        <p:spPr>
          <a:xfrm>
            <a:off x="365760" y="7443216"/>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C) Fakirleri bağımlı yapar</a:t>
            </a:r>
            <a:endParaRPr lang="en-US" sz="800" dirty="0"/>
          </a:p>
        </p:txBody>
      </p:sp>
      <p:sp>
        <p:nvSpPr>
          <p:cNvPr id="22" name="Text 20"/>
          <p:cNvSpPr/>
          <p:nvPr/>
        </p:nvSpPr>
        <p:spPr>
          <a:xfrm>
            <a:off x="365760" y="7827264"/>
            <a:ext cx="4411980" cy="347472"/>
          </a:xfrm>
          <a:prstGeom prst="rect">
            <a:avLst/>
          </a:prstGeom>
          <a:noFill/>
          <a:ln/>
        </p:spPr>
        <p:txBody>
          <a:bodyPr wrap="square" rtlCol="0" anchor="ctr"/>
          <a:lstStyle/>
          <a:p>
            <a:pPr algn="l" indent="0" marL="0">
              <a:buNone/>
            </a:pPr>
            <a:r>
              <a:rPr lang="en-US" sz="800" dirty="0">
                <a:solidFill>
                  <a:srgbClr val="222222"/>
                </a:solidFill>
                <a:latin typeface="Calibri" pitchFamily="34" charset="0"/>
                <a:ea typeface="Calibri" pitchFamily="34" charset="-122"/>
                <a:cs typeface="Calibri" pitchFamily="34" charset="-120"/>
              </a:rPr>
              <a:t>D) Devletin gelirini artırır</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13716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
        <p:nvSpPr>
          <p:cNvPr id="5" name="Text 3"/>
          <p:cNvSpPr/>
          <p:nvPr/>
        </p:nvSpPr>
        <p:spPr>
          <a:xfrm>
            <a:off x="365760" y="2286000"/>
            <a:ext cx="4411980" cy="3657600"/>
          </a:xfrm>
          <a:prstGeom prst="rect">
            <a:avLst/>
          </a:prstGeom>
          <a:noFill/>
          <a:ln/>
        </p:spPr>
        <p:txBody>
          <a:bodyPr wrap="square" rtlCol="0" anchor="ctr"/>
          <a:lstStyle/>
          <a:p>
            <a:pPr algn="ctr" indent="0" marL="0">
              <a:buNone/>
            </a:pPr>
            <a:r>
              <a:rPr lang="en-US" sz="1500" i="1" dirty="0">
                <a:solidFill>
                  <a:srgbClr val="FFFFFF"/>
                </a:solidFill>
                <a:latin typeface="Calibri" pitchFamily="34" charset="0"/>
                <a:ea typeface="Calibri" pitchFamily="34" charset="-122"/>
                <a:cs typeface="Calibri" pitchFamily="34" charset="-120"/>
              </a:rPr>
              <a:t>Namazı kılın, zekâtı verin.</a:t>
            </a:r>
            <a:endParaRPr lang="en-US" sz="1500" dirty="0"/>
          </a:p>
        </p:txBody>
      </p:sp>
      <p:sp>
        <p:nvSpPr>
          <p:cNvPr id="6" name="Text 4"/>
          <p:cNvSpPr/>
          <p:nvPr/>
        </p:nvSpPr>
        <p:spPr>
          <a:xfrm>
            <a:off x="365760" y="6217920"/>
            <a:ext cx="4411980" cy="457200"/>
          </a:xfrm>
          <a:prstGeom prst="rect">
            <a:avLst/>
          </a:prstGeom>
          <a:noFill/>
          <a:ln/>
        </p:spPr>
        <p:txBody>
          <a:bodyPr wrap="square" rtlCol="0" anchor="ctr"/>
          <a:lstStyle/>
          <a:p>
            <a:pPr algn="ctr" indent="0" marL="0">
              <a:buNone/>
            </a:pPr>
            <a:r>
              <a:rPr lang="en-US" sz="1000" dirty="0">
                <a:solidFill>
                  <a:srgbClr val="FCEAED"/>
                </a:solidFill>
                <a:latin typeface="Calibri" pitchFamily="34" charset="0"/>
                <a:ea typeface="Calibri" pitchFamily="34" charset="-122"/>
                <a:cs typeface="Calibri" pitchFamily="34" charset="-120"/>
              </a:rPr>
              <a:t>Bakara Sûresi, 43. âyet</a:t>
            </a:r>
            <a:endParaRPr lang="en-US" sz="1000" dirty="0"/>
          </a:p>
        </p:txBody>
      </p:sp>
      <p:sp>
        <p:nvSpPr>
          <p:cNvPr id="7" name="Text 5"/>
          <p:cNvSpPr/>
          <p:nvPr/>
        </p:nvSpPr>
        <p:spPr>
          <a:xfrm>
            <a:off x="0" y="6858000"/>
            <a:ext cx="5143500" cy="548640"/>
          </a:xfrm>
          <a:prstGeom prst="rect">
            <a:avLst/>
          </a:prstGeom>
          <a:noFill/>
          <a:ln/>
        </p:spPr>
        <p:txBody>
          <a:bodyPr wrap="square" rtlCol="0" anchor="ctr"/>
          <a:lstStyle/>
          <a:p>
            <a:pPr algn="ctr" indent="0" marL="0">
              <a:buNone/>
            </a:pPr>
            <a:r>
              <a:rPr lang="en-US" sz="2000" dirty="0">
                <a:solidFill>
                  <a:srgbClr val="FCEAED"/>
                </a:solidFill>
              </a:rPr>
              <a:t>✦</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5143500" cy="54864"/>
          </a:xfrm>
          <a:prstGeom prst="rect">
            <a:avLst/>
          </a:prstGeom>
          <a:solidFill>
            <a:srgbClr val="C8102E"/>
          </a:solidFill>
          <a:ln/>
        </p:spPr>
      </p:sp>
      <p:sp>
        <p:nvSpPr>
          <p:cNvPr id="3" name="Text 1"/>
          <p:cNvSpPr/>
          <p:nvPr/>
        </p:nvSpPr>
        <p:spPr>
          <a:xfrm>
            <a:off x="274320" y="182880"/>
            <a:ext cx="4594860" cy="457200"/>
          </a:xfrm>
          <a:prstGeom prst="rect">
            <a:avLst/>
          </a:prstGeom>
          <a:noFill/>
          <a:ln/>
        </p:spPr>
        <p:txBody>
          <a:bodyPr wrap="square" rtlCol="0" anchor="ctr"/>
          <a:lstStyle/>
          <a:p>
            <a:pPr algn="l" indent="0" marL="0">
              <a:buNone/>
            </a:pPr>
            <a:r>
              <a:rPr lang="en-US" sz="1800" b="1" dirty="0">
                <a:solidFill>
                  <a:srgbClr val="C8102E"/>
                </a:solidFill>
                <a:latin typeface="Calibri" pitchFamily="34" charset="0"/>
                <a:ea typeface="Calibri" pitchFamily="34" charset="-122"/>
                <a:cs typeface="Calibri" pitchFamily="34" charset="-120"/>
              </a:rPr>
              <a:t>Duesuenelim</a:t>
            </a:r>
            <a:endParaRPr lang="en-US" sz="1800" dirty="0"/>
          </a:p>
        </p:txBody>
      </p:sp>
      <p:sp>
        <p:nvSpPr>
          <p:cNvPr id="4" name="Shape 2"/>
          <p:cNvSpPr/>
          <p:nvPr/>
        </p:nvSpPr>
        <p:spPr>
          <a:xfrm>
            <a:off x="274320" y="822960"/>
            <a:ext cx="4594860" cy="2194560"/>
          </a:xfrm>
          <a:prstGeom prst="roundRect">
            <a:avLst>
              <a:gd name="adj" fmla="val 3333"/>
            </a:avLst>
          </a:prstGeom>
          <a:solidFill>
            <a:srgbClr val="FCEAED"/>
          </a:solidFill>
          <a:ln/>
        </p:spPr>
      </p:sp>
      <p:sp>
        <p:nvSpPr>
          <p:cNvPr id="5" name="Text 3"/>
          <p:cNvSpPr/>
          <p:nvPr/>
        </p:nvSpPr>
        <p:spPr>
          <a:xfrm>
            <a:off x="411480" y="96012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731520" y="96012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Son zamanlarda birisiyle ne paylaştın ve nasıl hissettin?</a:t>
            </a:r>
            <a:endParaRPr lang="en-US" sz="1100" dirty="0"/>
          </a:p>
        </p:txBody>
      </p:sp>
      <p:sp>
        <p:nvSpPr>
          <p:cNvPr id="7" name="Shape 5"/>
          <p:cNvSpPr/>
          <p:nvPr/>
        </p:nvSpPr>
        <p:spPr>
          <a:xfrm>
            <a:off x="274320" y="3200400"/>
            <a:ext cx="4594860" cy="2194560"/>
          </a:xfrm>
          <a:prstGeom prst="roundRect">
            <a:avLst>
              <a:gd name="adj" fmla="val 3333"/>
            </a:avLst>
          </a:prstGeom>
          <a:solidFill>
            <a:srgbClr val="FCEAED"/>
          </a:solidFill>
          <a:ln/>
        </p:spPr>
      </p:sp>
      <p:sp>
        <p:nvSpPr>
          <p:cNvPr id="8" name="Text 6"/>
          <p:cNvSpPr/>
          <p:nvPr/>
        </p:nvSpPr>
        <p:spPr>
          <a:xfrm>
            <a:off x="411480" y="333756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2.</a:t>
            </a:r>
            <a:endParaRPr lang="en-US" sz="1400" dirty="0"/>
          </a:p>
        </p:txBody>
      </p:sp>
      <p:sp>
        <p:nvSpPr>
          <p:cNvPr id="9" name="Text 7"/>
          <p:cNvSpPr/>
          <p:nvPr/>
        </p:nvSpPr>
        <p:spPr>
          <a:xfrm>
            <a:off x="731520" y="333756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Cömertlik sadece para vermek midir? Başka neler olabilir?</a:t>
            </a:r>
            <a:endParaRPr lang="en-US" sz="1100" dirty="0"/>
          </a:p>
        </p:txBody>
      </p:sp>
      <p:sp>
        <p:nvSpPr>
          <p:cNvPr id="10" name="Shape 8"/>
          <p:cNvSpPr/>
          <p:nvPr/>
        </p:nvSpPr>
        <p:spPr>
          <a:xfrm>
            <a:off x="274320" y="5577840"/>
            <a:ext cx="4594860" cy="2194560"/>
          </a:xfrm>
          <a:prstGeom prst="roundRect">
            <a:avLst>
              <a:gd name="adj" fmla="val 3333"/>
            </a:avLst>
          </a:prstGeom>
          <a:solidFill>
            <a:srgbClr val="FCEAED"/>
          </a:solidFill>
          <a:ln/>
        </p:spPr>
      </p:sp>
      <p:sp>
        <p:nvSpPr>
          <p:cNvPr id="11" name="Text 9"/>
          <p:cNvSpPr/>
          <p:nvPr/>
        </p:nvSpPr>
        <p:spPr>
          <a:xfrm>
            <a:off x="411480" y="5715000"/>
            <a:ext cx="365760" cy="320040"/>
          </a:xfrm>
          <a:prstGeom prst="rect">
            <a:avLst/>
          </a:prstGeom>
          <a:noFill/>
          <a:ln/>
        </p:spPr>
        <p:txBody>
          <a:bodyPr wrap="square" rtlCol="0" anchor="ctr"/>
          <a:lstStyle/>
          <a:p>
            <a:pPr indent="0" marL="0">
              <a:buNone/>
            </a:pPr>
            <a:r>
              <a:rPr lang="en-US" sz="1400" b="1" dirty="0">
                <a:solidFill>
                  <a:srgbClr val="C8102E"/>
                </a:solidFill>
                <a:latin typeface="Calibri" pitchFamily="34" charset="0"/>
                <a:ea typeface="Calibri" pitchFamily="34" charset="-122"/>
                <a:cs typeface="Calibri" pitchFamily="34" charset="-120"/>
              </a:rPr>
              <a:t>3.</a:t>
            </a:r>
            <a:endParaRPr lang="en-US" sz="1400" dirty="0"/>
          </a:p>
        </p:txBody>
      </p:sp>
      <p:sp>
        <p:nvSpPr>
          <p:cNvPr id="12" name="Text 10"/>
          <p:cNvSpPr/>
          <p:nvPr/>
        </p:nvSpPr>
        <p:spPr>
          <a:xfrm>
            <a:off x="731520" y="5715000"/>
            <a:ext cx="3954780" cy="1920240"/>
          </a:xfrm>
          <a:prstGeom prst="rect">
            <a:avLst/>
          </a:prstGeom>
          <a:noFill/>
          <a:ln/>
        </p:spPr>
        <p:txBody>
          <a:bodyPr wrap="square" rtlCol="0" anchor="ctr"/>
          <a:lstStyle/>
          <a:p>
            <a:pPr algn="l" indent="0" marL="0">
              <a:buNone/>
            </a:pPr>
            <a:r>
              <a:rPr lang="en-US" sz="1100" dirty="0">
                <a:solidFill>
                  <a:srgbClr val="222222"/>
                </a:solidFill>
                <a:latin typeface="Calibri" pitchFamily="34" charset="0"/>
                <a:ea typeface="Calibri" pitchFamily="34" charset="-122"/>
                <a:cs typeface="Calibri" pitchFamily="34" charset="-120"/>
              </a:rPr>
              <a:t>Zekâtın toplum için neden bu kadar önemli olduğunu düşünüyorsun?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5143500" cy="9144000"/>
          </a:xfrm>
          <a:prstGeom prst="rect">
            <a:avLst/>
          </a:prstGeom>
          <a:solidFill>
            <a:srgbClr val="8B0000"/>
          </a:solidFill>
          <a:ln/>
        </p:spPr>
      </p:sp>
      <p:sp>
        <p:nvSpPr>
          <p:cNvPr id="3" name="Shape 1"/>
          <p:cNvSpPr/>
          <p:nvPr/>
        </p:nvSpPr>
        <p:spPr>
          <a:xfrm>
            <a:off x="0" y="0"/>
            <a:ext cx="5143500" cy="4572000"/>
          </a:xfrm>
          <a:prstGeom prst="rect">
            <a:avLst/>
          </a:prstGeom>
          <a:solidFill>
            <a:srgbClr val="C8102E">
              <a:alpha val="60000"/>
            </a:srgbClr>
          </a:solidFill>
          <a:ln/>
        </p:spPr>
      </p:sp>
      <p:sp>
        <p:nvSpPr>
          <p:cNvPr id="4" name="Text 2"/>
          <p:cNvSpPr/>
          <p:nvPr/>
        </p:nvSpPr>
        <p:spPr>
          <a:xfrm>
            <a:off x="0" y="2286000"/>
            <a:ext cx="5143500" cy="914400"/>
          </a:xfrm>
          <a:prstGeom prst="rect">
            <a:avLst/>
          </a:prstGeom>
          <a:noFill/>
          <a:ln/>
        </p:spPr>
        <p:txBody>
          <a:bodyPr wrap="square" rtlCol="0" anchor="ctr"/>
          <a:lstStyle/>
          <a:p>
            <a:pPr algn="ctr" indent="0" marL="0">
              <a:buNone/>
            </a:pPr>
            <a:r>
              <a:rPr lang="en-US" sz="4400" dirty="0">
                <a:solidFill>
                  <a:srgbClr val="000000"/>
                </a:solidFill>
              </a:rPr>
              <a:t>❤️</a:t>
            </a:r>
            <a:endParaRPr lang="en-US" sz="4400" dirty="0"/>
          </a:p>
        </p:txBody>
      </p:sp>
      <p:sp>
        <p:nvSpPr>
          <p:cNvPr id="5" name="Text 3"/>
          <p:cNvSpPr/>
          <p:nvPr/>
        </p:nvSpPr>
        <p:spPr>
          <a:xfrm>
            <a:off x="0" y="3474720"/>
            <a:ext cx="514350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Birlikte Iyilik Akademisi</a:t>
            </a:r>
            <a:endParaRPr lang="en-US" sz="2200" dirty="0"/>
          </a:p>
        </p:txBody>
      </p:sp>
      <p:sp>
        <p:nvSpPr>
          <p:cNvPr id="6" name="Text 4"/>
          <p:cNvSpPr/>
          <p:nvPr/>
        </p:nvSpPr>
        <p:spPr>
          <a:xfrm>
            <a:off x="0" y="4297680"/>
            <a:ext cx="5143500" cy="54864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Degerler Egitimi</a:t>
            </a:r>
            <a:endParaRPr lang="en-US" sz="1400" dirty="0"/>
          </a:p>
        </p:txBody>
      </p:sp>
      <p:sp>
        <p:nvSpPr>
          <p:cNvPr id="7" name="Text 5"/>
          <p:cNvSpPr/>
          <p:nvPr/>
        </p:nvSpPr>
        <p:spPr>
          <a:xfrm>
            <a:off x="0" y="5303520"/>
            <a:ext cx="5143500" cy="457200"/>
          </a:xfrm>
          <a:prstGeom prst="rect">
            <a:avLst/>
          </a:prstGeom>
          <a:noFill/>
          <a:ln/>
        </p:spPr>
        <p:txBody>
          <a:bodyPr wrap="square" rtlCol="0" anchor="ctr"/>
          <a:lstStyle/>
          <a:p>
            <a:pPr algn="ctr" indent="0" marL="0">
              <a:buNone/>
            </a:pPr>
            <a:r>
              <a:rPr lang="en-US" sz="1200" i="1" dirty="0">
                <a:solidFill>
                  <a:srgbClr val="FCEAED"/>
                </a:solidFill>
                <a:latin typeface="Calibri" pitchFamily="34" charset="0"/>
                <a:ea typeface="Calibri" pitchFamily="34" charset="-122"/>
                <a:cs typeface="Calibri" pitchFamily="34" charset="-120"/>
              </a:rPr>
              <a:t>Ders 39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Cömertlik ve Paylaşma</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