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457200"/>
            <a:ext cx="121916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Birlikte Iyilik Akademisi</a:t>
            </a:r>
            <a:endParaRPr lang="en-US" sz="1400" dirty="0"/>
          </a:p>
        </p:txBody>
      </p:sp>
      <p:sp>
        <p:nvSpPr>
          <p:cNvPr id="5" name="Text 3"/>
          <p:cNvSpPr/>
          <p:nvPr/>
        </p:nvSpPr>
        <p:spPr>
          <a:xfrm>
            <a:off x="1371600" y="2011680"/>
            <a:ext cx="9448495" cy="13716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İlim ve Eğitim</a:t>
            </a:r>
            <a:endParaRPr lang="en-US" sz="4000" dirty="0"/>
          </a:p>
        </p:txBody>
      </p:sp>
      <p:sp>
        <p:nvSpPr>
          <p:cNvPr id="6" name="Text 4"/>
          <p:cNvSpPr/>
          <p:nvPr/>
        </p:nvSpPr>
        <p:spPr>
          <a:xfrm>
            <a:off x="1828800" y="3474720"/>
            <a:ext cx="8534095" cy="548640"/>
          </a:xfrm>
          <a:prstGeom prst="rect">
            <a:avLst/>
          </a:prstGeom>
          <a:noFill/>
          <a:ln/>
        </p:spPr>
        <p:txBody>
          <a:bodyPr wrap="square" rtlCol="0" anchor="ctr"/>
          <a:lstStyle/>
          <a:p>
            <a:pPr algn="ctr" indent="0" marL="0">
              <a:buNone/>
            </a:pPr>
            <a:r>
              <a:rPr lang="en-US" sz="2000" i="1" dirty="0">
                <a:solidFill>
                  <a:srgbClr val="FCEAED"/>
                </a:solidFill>
                <a:latin typeface="Calibri" pitchFamily="34" charset="0"/>
                <a:ea typeface="Calibri" pitchFamily="34" charset="-122"/>
                <a:cs typeface="Calibri" pitchFamily="34" charset="-120"/>
              </a:rPr>
              <a:t>İlim öğrenmenin önemi ve Peygamber Efendimiz'in eğitim metodu</a:t>
            </a:r>
            <a:endParaRPr lang="en-US" sz="2000" dirty="0"/>
          </a:p>
        </p:txBody>
      </p:sp>
      <p:sp>
        <p:nvSpPr>
          <p:cNvPr id="7" name="Text 5"/>
          <p:cNvSpPr/>
          <p:nvPr/>
        </p:nvSpPr>
        <p:spPr>
          <a:xfrm>
            <a:off x="0" y="6035040"/>
            <a:ext cx="12191695" cy="457200"/>
          </a:xfrm>
          <a:prstGeom prst="rect">
            <a:avLst/>
          </a:prstGeom>
          <a:noFill/>
          <a:ln/>
        </p:spPr>
        <p:txBody>
          <a:bodyPr wrap="square" rtlCol="0" anchor="ctr"/>
          <a:lstStyle/>
          <a:p>
            <a:pPr algn="ctr" indent="0" marL="0">
              <a:buNone/>
            </a:pPr>
            <a:r>
              <a:rPr lang="en-US" sz="1200" dirty="0">
                <a:solidFill>
                  <a:srgbClr val="FCEAED"/>
                </a:solidFill>
                <a:latin typeface="Calibri" pitchFamily="34" charset="0"/>
                <a:ea typeface="Calibri" pitchFamily="34" charset="-122"/>
                <a:cs typeface="Calibri" pitchFamily="34" charset="-120"/>
              </a:rPr>
              <a:t>Degerler Egitimi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Buguen Ne Oegreneceegiz?</a:t>
            </a:r>
            <a:endParaRPr lang="en-US" sz="2400" dirty="0"/>
          </a:p>
        </p:txBody>
      </p:sp>
      <p:sp>
        <p:nvSpPr>
          <p:cNvPr id="4" name="Shape 2"/>
          <p:cNvSpPr/>
          <p:nvPr/>
        </p:nvSpPr>
        <p:spPr>
          <a:xfrm>
            <a:off x="548640" y="1097280"/>
            <a:ext cx="457200" cy="457200"/>
          </a:xfrm>
          <a:prstGeom prst="ellipse">
            <a:avLst/>
          </a:prstGeom>
          <a:solidFill>
            <a:srgbClr val="C8102E"/>
          </a:solidFill>
          <a:ln/>
        </p:spPr>
      </p:sp>
      <p:sp>
        <p:nvSpPr>
          <p:cNvPr id="5" name="Text 3"/>
          <p:cNvSpPr/>
          <p:nvPr/>
        </p:nvSpPr>
        <p:spPr>
          <a:xfrm>
            <a:off x="548640" y="10972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88720" y="100584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Ashab-ı Suffa'nın kim olduğunu ve İslâm eğitim tarihindeki yerini açıklayabilirim.</a:t>
            </a:r>
            <a:endParaRPr lang="en-US" sz="1600" dirty="0"/>
          </a:p>
        </p:txBody>
      </p:sp>
      <p:sp>
        <p:nvSpPr>
          <p:cNvPr id="7" name="Shape 5"/>
          <p:cNvSpPr/>
          <p:nvPr/>
        </p:nvSpPr>
        <p:spPr>
          <a:xfrm>
            <a:off x="548640" y="2103120"/>
            <a:ext cx="457200" cy="457200"/>
          </a:xfrm>
          <a:prstGeom prst="ellipse">
            <a:avLst/>
          </a:prstGeom>
          <a:solidFill>
            <a:srgbClr val="C8102E"/>
          </a:solidFill>
          <a:ln/>
        </p:spPr>
      </p:sp>
      <p:sp>
        <p:nvSpPr>
          <p:cNvPr id="8" name="Text 6"/>
          <p:cNvSpPr/>
          <p:nvPr/>
        </p:nvSpPr>
        <p:spPr>
          <a:xfrm>
            <a:off x="548640" y="21031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88720" y="201168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Peygamber Efendimiz'in eğitim metodunun özelliklerini tanıyabilirim.</a:t>
            </a:r>
            <a:endParaRPr lang="en-US" sz="1600" dirty="0"/>
          </a:p>
        </p:txBody>
      </p:sp>
      <p:sp>
        <p:nvSpPr>
          <p:cNvPr id="10" name="Shape 8"/>
          <p:cNvSpPr/>
          <p:nvPr/>
        </p:nvSpPr>
        <p:spPr>
          <a:xfrm>
            <a:off x="548640" y="3108960"/>
            <a:ext cx="457200" cy="457200"/>
          </a:xfrm>
          <a:prstGeom prst="ellipse">
            <a:avLst/>
          </a:prstGeom>
          <a:solidFill>
            <a:srgbClr val="C8102E"/>
          </a:solidFill>
          <a:ln/>
        </p:spPr>
      </p:sp>
      <p:sp>
        <p:nvSpPr>
          <p:cNvPr id="11" name="Text 9"/>
          <p:cNvSpPr/>
          <p:nvPr/>
        </p:nvSpPr>
        <p:spPr>
          <a:xfrm>
            <a:off x="548640" y="31089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88720" y="301752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İlim öğrenmenin İslâm'daki önemini ve farz oluşunu kavrayabilirim.</a:t>
            </a:r>
            <a:endParaRPr lang="en-US" sz="1600" dirty="0"/>
          </a:p>
        </p:txBody>
      </p:sp>
      <p:sp>
        <p:nvSpPr>
          <p:cNvPr id="13" name="Shape 11"/>
          <p:cNvSpPr/>
          <p:nvPr/>
        </p:nvSpPr>
        <p:spPr>
          <a:xfrm>
            <a:off x="548640" y="4114800"/>
            <a:ext cx="457200" cy="457200"/>
          </a:xfrm>
          <a:prstGeom prst="ellipse">
            <a:avLst/>
          </a:prstGeom>
          <a:solidFill>
            <a:srgbClr val="C8102E"/>
          </a:solidFill>
          <a:ln/>
        </p:spPr>
      </p:sp>
      <p:sp>
        <p:nvSpPr>
          <p:cNvPr id="14" name="Text 12"/>
          <p:cNvSpPr/>
          <p:nvPr/>
        </p:nvSpPr>
        <p:spPr>
          <a:xfrm>
            <a:off x="548640" y="41148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88720" y="402336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Günlük hayatımda ilim öğrenme fırsatlarını değerlendirebilirim.</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Anahtar Kavramlar</a:t>
            </a:r>
            <a:endParaRPr lang="en-US" sz="2400" dirty="0"/>
          </a:p>
        </p:txBody>
      </p:sp>
      <p:sp>
        <p:nvSpPr>
          <p:cNvPr id="4" name="Shape 2"/>
          <p:cNvSpPr/>
          <p:nvPr/>
        </p:nvSpPr>
        <p:spPr>
          <a:xfrm>
            <a:off x="548640" y="1005840"/>
            <a:ext cx="3545738" cy="2194560"/>
          </a:xfrm>
          <a:prstGeom prst="roundRect">
            <a:avLst>
              <a:gd name="adj" fmla="val 4167"/>
            </a:avLst>
          </a:prstGeom>
          <a:solidFill>
            <a:srgbClr val="FCEAED"/>
          </a:solidFill>
          <a:ln/>
        </p:spPr>
      </p:sp>
      <p:sp>
        <p:nvSpPr>
          <p:cNvPr id="5" name="Text 3"/>
          <p:cNvSpPr/>
          <p:nvPr/>
        </p:nvSpPr>
        <p:spPr>
          <a:xfrm>
            <a:off x="685800"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Suffa</a:t>
            </a:r>
            <a:endParaRPr lang="en-US" sz="1400" dirty="0"/>
          </a:p>
        </p:txBody>
      </p:sp>
      <p:sp>
        <p:nvSpPr>
          <p:cNvPr id="6" name="Text 4"/>
          <p:cNvSpPr/>
          <p:nvPr/>
        </p:nvSpPr>
        <p:spPr>
          <a:xfrm>
            <a:off x="685800"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Mescid-i Nebevî'nin avlusunda ilim öğrenmek için kalınan yer, İslâm'ın ilk okulu.</a:t>
            </a:r>
            <a:endParaRPr lang="en-US" sz="1100" dirty="0"/>
          </a:p>
        </p:txBody>
      </p:sp>
      <p:sp>
        <p:nvSpPr>
          <p:cNvPr id="7" name="Shape 5"/>
          <p:cNvSpPr/>
          <p:nvPr/>
        </p:nvSpPr>
        <p:spPr>
          <a:xfrm>
            <a:off x="4322978" y="1005840"/>
            <a:ext cx="3545738" cy="2194560"/>
          </a:xfrm>
          <a:prstGeom prst="roundRect">
            <a:avLst>
              <a:gd name="adj" fmla="val 4167"/>
            </a:avLst>
          </a:prstGeom>
          <a:solidFill>
            <a:srgbClr val="FCEAED"/>
          </a:solidFill>
          <a:ln/>
        </p:spPr>
      </p:sp>
      <p:sp>
        <p:nvSpPr>
          <p:cNvPr id="8" name="Text 6"/>
          <p:cNvSpPr/>
          <p:nvPr/>
        </p:nvSpPr>
        <p:spPr>
          <a:xfrm>
            <a:off x="4460138"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İlim</a:t>
            </a:r>
            <a:endParaRPr lang="en-US" sz="1400" dirty="0"/>
          </a:p>
        </p:txBody>
      </p:sp>
      <p:sp>
        <p:nvSpPr>
          <p:cNvPr id="9" name="Text 7"/>
          <p:cNvSpPr/>
          <p:nvPr/>
        </p:nvSpPr>
        <p:spPr>
          <a:xfrm>
            <a:off x="4460138"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Bilgi edinme, öğrenme ve araştırma yoluyla hakikati arama.</a:t>
            </a:r>
            <a:endParaRPr lang="en-US" sz="1100" dirty="0"/>
          </a:p>
        </p:txBody>
      </p:sp>
      <p:sp>
        <p:nvSpPr>
          <p:cNvPr id="10" name="Shape 8"/>
          <p:cNvSpPr/>
          <p:nvPr/>
        </p:nvSpPr>
        <p:spPr>
          <a:xfrm>
            <a:off x="8097317" y="1005840"/>
            <a:ext cx="3545738" cy="2194560"/>
          </a:xfrm>
          <a:prstGeom prst="roundRect">
            <a:avLst>
              <a:gd name="adj" fmla="val 4167"/>
            </a:avLst>
          </a:prstGeom>
          <a:solidFill>
            <a:srgbClr val="FCEAED"/>
          </a:solidFill>
          <a:ln/>
        </p:spPr>
      </p:sp>
      <p:sp>
        <p:nvSpPr>
          <p:cNvPr id="11" name="Text 9"/>
          <p:cNvSpPr/>
          <p:nvPr/>
        </p:nvSpPr>
        <p:spPr>
          <a:xfrm>
            <a:off x="8234477"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Hadis-i Şerif</a:t>
            </a:r>
            <a:endParaRPr lang="en-US" sz="1400" dirty="0"/>
          </a:p>
        </p:txBody>
      </p:sp>
      <p:sp>
        <p:nvSpPr>
          <p:cNvPr id="12" name="Text 10"/>
          <p:cNvSpPr/>
          <p:nvPr/>
        </p:nvSpPr>
        <p:spPr>
          <a:xfrm>
            <a:off x="8234477"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Peygamber Efendimiz sallallahu aleyhi ve sellem'in sözleri, davranışları ve onayları.</a:t>
            </a:r>
            <a:endParaRPr lang="en-US" sz="1100" dirty="0"/>
          </a:p>
        </p:txBody>
      </p:sp>
      <p:sp>
        <p:nvSpPr>
          <p:cNvPr id="13" name="Shape 11"/>
          <p:cNvSpPr/>
          <p:nvPr/>
        </p:nvSpPr>
        <p:spPr>
          <a:xfrm>
            <a:off x="548640" y="3429000"/>
            <a:ext cx="3545738" cy="2194560"/>
          </a:xfrm>
          <a:prstGeom prst="roundRect">
            <a:avLst>
              <a:gd name="adj" fmla="val 4167"/>
            </a:avLst>
          </a:prstGeom>
          <a:solidFill>
            <a:srgbClr val="FCEAED"/>
          </a:solidFill>
          <a:ln/>
        </p:spPr>
      </p:sp>
      <p:sp>
        <p:nvSpPr>
          <p:cNvPr id="14" name="Text 12"/>
          <p:cNvSpPr/>
          <p:nvPr/>
        </p:nvSpPr>
        <p:spPr>
          <a:xfrm>
            <a:off x="685800"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Ashab-ı Suffa</a:t>
            </a:r>
            <a:endParaRPr lang="en-US" sz="1400" dirty="0"/>
          </a:p>
        </p:txBody>
      </p:sp>
      <p:sp>
        <p:nvSpPr>
          <p:cNvPr id="15" name="Text 13"/>
          <p:cNvSpPr/>
          <p:nvPr/>
        </p:nvSpPr>
        <p:spPr>
          <a:xfrm>
            <a:off x="685800"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Suffa'da kalarak ilim öğrenmeye hayatını adayan sahâbîler.</a:t>
            </a:r>
            <a:endParaRPr lang="en-US" sz="1100" dirty="0"/>
          </a:p>
        </p:txBody>
      </p:sp>
      <p:sp>
        <p:nvSpPr>
          <p:cNvPr id="16" name="Shape 14"/>
          <p:cNvSpPr/>
          <p:nvPr/>
        </p:nvSpPr>
        <p:spPr>
          <a:xfrm>
            <a:off x="4322978" y="3429000"/>
            <a:ext cx="3545738" cy="2194560"/>
          </a:xfrm>
          <a:prstGeom prst="roundRect">
            <a:avLst>
              <a:gd name="adj" fmla="val 4167"/>
            </a:avLst>
          </a:prstGeom>
          <a:solidFill>
            <a:srgbClr val="FCEAED"/>
          </a:solidFill>
          <a:ln/>
        </p:spPr>
      </p:sp>
      <p:sp>
        <p:nvSpPr>
          <p:cNvPr id="17" name="Text 15"/>
          <p:cNvSpPr/>
          <p:nvPr/>
        </p:nvSpPr>
        <p:spPr>
          <a:xfrm>
            <a:off x="4460138"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Eğitim</a:t>
            </a:r>
            <a:endParaRPr lang="en-US" sz="1400" dirty="0"/>
          </a:p>
        </p:txBody>
      </p:sp>
      <p:sp>
        <p:nvSpPr>
          <p:cNvPr id="18" name="Text 16"/>
          <p:cNvSpPr/>
          <p:nvPr/>
        </p:nvSpPr>
        <p:spPr>
          <a:xfrm>
            <a:off x="4460138"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Bilgi, beceri ve değerlerin sistematik olarak öğretilmesi.</a:t>
            </a:r>
            <a:endParaRPr lang="en-US" sz="1100" dirty="0"/>
          </a:p>
        </p:txBody>
      </p:sp>
      <p:sp>
        <p:nvSpPr>
          <p:cNvPr id="19" name="Shape 17"/>
          <p:cNvSpPr/>
          <p:nvPr/>
        </p:nvSpPr>
        <p:spPr>
          <a:xfrm>
            <a:off x="8097317" y="3429000"/>
            <a:ext cx="3545738" cy="2194560"/>
          </a:xfrm>
          <a:prstGeom prst="roundRect">
            <a:avLst>
              <a:gd name="adj" fmla="val 4167"/>
            </a:avLst>
          </a:prstGeom>
          <a:solidFill>
            <a:srgbClr val="FCEAED"/>
          </a:solidFill>
          <a:ln/>
        </p:spPr>
      </p:sp>
      <p:sp>
        <p:nvSpPr>
          <p:cNvPr id="20" name="Text 18"/>
          <p:cNvSpPr/>
          <p:nvPr/>
        </p:nvSpPr>
        <p:spPr>
          <a:xfrm>
            <a:off x="8234477"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Hikmet</a:t>
            </a:r>
            <a:endParaRPr lang="en-US" sz="1400" dirty="0"/>
          </a:p>
        </p:txBody>
      </p:sp>
      <p:sp>
        <p:nvSpPr>
          <p:cNvPr id="21" name="Text 19"/>
          <p:cNvSpPr/>
          <p:nvPr/>
        </p:nvSpPr>
        <p:spPr>
          <a:xfrm>
            <a:off x="8234477"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Derin anlayış, bilgelik; bilgiyi doğru yerde doğru şekilde kullanma.</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Ashab-ı Suffa'nın İlim Aşkı</a:t>
            </a:r>
            <a:endParaRPr lang="en-US" sz="2400" dirty="0"/>
          </a:p>
        </p:txBody>
      </p:sp>
      <p:sp>
        <p:nvSpPr>
          <p:cNvPr id="4" name="Text 2"/>
          <p:cNvSpPr/>
          <p:nvPr/>
        </p:nvSpPr>
        <p:spPr>
          <a:xfrm>
            <a:off x="548640" y="1005840"/>
            <a:ext cx="11094415" cy="548640"/>
          </a:xfrm>
          <a:prstGeom prst="rect">
            <a:avLst/>
          </a:prstGeom>
          <a:noFill/>
          <a:ln/>
        </p:spPr>
        <p:txBody>
          <a:bodyPr wrap="square" rtlCol="0" anchor="ctr"/>
          <a:lstStyle/>
          <a:p>
            <a:pPr algn="l" indent="0" marL="0">
              <a:buNone/>
            </a:pPr>
            <a:r>
              <a:rPr lang="en-US" sz="1300" i="1" dirty="0">
                <a:solidFill>
                  <a:srgbClr val="666666"/>
                </a:solidFill>
                <a:latin typeface="Calibri" pitchFamily="34" charset="0"/>
                <a:ea typeface="Calibri" pitchFamily="34" charset="-122"/>
                <a:cs typeface="Calibri" pitchFamily="34" charset="-120"/>
              </a:rPr>
              <a:t>Peygamber Efendimiz sallallahu aleyhi ve sellem, Medîne'de Mescid-i Nebevî'nin yanında Suffa adı verilen bir bölüm oluşturdu. Burası İslâm'ın ilk üniversitesi olarak kabul edilir. Ashab-ı Suffa, hayatlarını ilim öğrenmeye adamış sahâbîlerdir.</a:t>
            </a:r>
            <a:endParaRPr lang="en-US" sz="1300" dirty="0"/>
          </a:p>
        </p:txBody>
      </p:sp>
      <p:sp>
        <p:nvSpPr>
          <p:cNvPr id="5" name="Text 3"/>
          <p:cNvSpPr/>
          <p:nvPr/>
        </p:nvSpPr>
        <p:spPr>
          <a:xfrm>
            <a:off x="548640" y="17373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Mescid-i Nebevî'nin avlusunda hurma dallarıyla gölgelenen bir alan vardı; buraya Suffa denirdi. Yüzlerce sahâbî, dünya meşgalelerini bırakarak burada ilim öğrenmek için kalıyordu. Çoğunun yatacak yatağı, giyecek elbisesi bile yetersizdi. Ancak onların gönülleri ilim aşkıyla doluydu. Peygamber Efendimiz sallallahu aleyhi ve sellem bizzat onlara ders veriyor, Kur'an-ı Kerim öğretiyor, İslâm'ın inceliklerini anlatıyordu.</a:t>
            </a:r>
            <a:endParaRPr lang="en-US" sz="1400" dirty="0"/>
          </a:p>
        </p:txBody>
      </p:sp>
      <p:sp>
        <p:nvSpPr>
          <p:cNvPr id="6" name="Text 4"/>
          <p:cNvSpPr/>
          <p:nvPr/>
        </p:nvSpPr>
        <p:spPr>
          <a:xfrm>
            <a:off x="548640" y="31089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Peygamber Efendimiz sallallahu aleyhi ve sellem eşsiz bir eğitimciydi. Sabırla anlatır, soru sorarak düşündürür, örneklerle açıklardı. Ashâb-ı Kirâm'a 'İlim öğrenmek her Müslüman'a farzdır' buyurarak ilmin önemini vurgulardı. Hz. Ebû Hureyre radıyallahu anh, Suffa'da kalarak binlerce Hadis-i Şerif ezberlemiş ve gelecek nesillere aktarmıştır. Hz. Muaz bin Cebel radıyallahu anh, Yemen'e gönderilecek kadar derin ilim sahibi olmuştur.</a:t>
            </a:r>
            <a:endParaRPr lang="en-US" sz="1400" dirty="0"/>
          </a:p>
        </p:txBody>
      </p:sp>
      <p:sp>
        <p:nvSpPr>
          <p:cNvPr id="7" name="Text 5"/>
          <p:cNvSpPr/>
          <p:nvPr/>
        </p:nvSpPr>
        <p:spPr>
          <a:xfrm>
            <a:off x="548640" y="44805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Ashab-ı Suffa'nın ilim aşkı, bize açlığa ve yoksulluğa rağmen öğrenmenin ne kadar değerli olduğunu öğretir. Bugün okullarda, kütüphanelerde her türlü imkâna sahibiz. Bu nimetlerin kıymetini bilmek ve ilim öğrenmeye azimle devam etmek, Ashab-ı Suffa'nın bize bıraktığı en güzel mirastır.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914400"/>
            <a:ext cx="914400" cy="1097280"/>
          </a:xfrm>
          <a:prstGeom prst="rect">
            <a:avLst/>
          </a:prstGeom>
          <a:noFill/>
          <a:ln/>
        </p:spPr>
        <p:txBody>
          <a:bodyPr wrap="square" rtlCol="0" anchor="ctr"/>
          <a:lstStyle/>
          <a:p>
            <a:pPr indent="0" marL="0">
              <a:buNone/>
            </a:pPr>
            <a:r>
              <a:rPr lang="en-US" sz="9600" b="1" dirty="0">
                <a:solidFill>
                  <a:srgbClr val="C8102E"/>
                </a:solidFill>
                <a:latin typeface="Calibri" pitchFamily="34" charset="0"/>
                <a:ea typeface="Calibri" pitchFamily="34" charset="-122"/>
                <a:cs typeface="Calibri" pitchFamily="34" charset="-120"/>
              </a:rPr>
              <a:t>“</a:t>
            </a:r>
            <a:endParaRPr lang="en-US" sz="9600" dirty="0"/>
          </a:p>
        </p:txBody>
      </p:sp>
      <p:sp>
        <p:nvSpPr>
          <p:cNvPr id="4" name="Shape 2"/>
          <p:cNvSpPr/>
          <p:nvPr/>
        </p:nvSpPr>
        <p:spPr>
          <a:xfrm>
            <a:off x="1371600" y="1371600"/>
            <a:ext cx="45720" cy="2743200"/>
          </a:xfrm>
          <a:prstGeom prst="rect">
            <a:avLst/>
          </a:prstGeom>
          <a:solidFill>
            <a:srgbClr val="C8102E"/>
          </a:solidFill>
          <a:ln/>
        </p:spPr>
      </p:sp>
      <p:sp>
        <p:nvSpPr>
          <p:cNvPr id="5" name="Text 3"/>
          <p:cNvSpPr/>
          <p:nvPr/>
        </p:nvSpPr>
        <p:spPr>
          <a:xfrm>
            <a:off x="1645920" y="1371600"/>
            <a:ext cx="9722815" cy="2743200"/>
          </a:xfrm>
          <a:prstGeom prst="rect">
            <a:avLst/>
          </a:prstGeom>
          <a:noFill/>
          <a:ln/>
        </p:spPr>
        <p:txBody>
          <a:bodyPr wrap="square" rtlCol="0" anchor="ctr"/>
          <a:lstStyle/>
          <a:p>
            <a:pPr algn="l" indent="0" marL="0">
              <a:buNone/>
            </a:pPr>
            <a:r>
              <a:rPr lang="en-US" sz="2000" i="1" dirty="0">
                <a:solidFill>
                  <a:srgbClr val="222222"/>
                </a:solidFill>
                <a:latin typeface="Calibri" pitchFamily="34" charset="0"/>
                <a:ea typeface="Calibri" pitchFamily="34" charset="-122"/>
                <a:cs typeface="Calibri" pitchFamily="34" charset="-120"/>
              </a:rPr>
              <a:t>İlim öğrenmek, her Müslüman erkek ve kadına farzdır.</a:t>
            </a:r>
            <a:endParaRPr lang="en-US" sz="2000" dirty="0"/>
          </a:p>
        </p:txBody>
      </p:sp>
      <p:sp>
        <p:nvSpPr>
          <p:cNvPr id="6" name="Text 4"/>
          <p:cNvSpPr/>
          <p:nvPr/>
        </p:nvSpPr>
        <p:spPr>
          <a:xfrm>
            <a:off x="1645920" y="4572000"/>
            <a:ext cx="9722815" cy="457200"/>
          </a:xfrm>
          <a:prstGeom prst="rect">
            <a:avLst/>
          </a:prstGeom>
          <a:noFill/>
          <a:ln/>
        </p:spPr>
        <p:txBody>
          <a:bodyPr wrap="square" rtlCol="0" anchor="ctr"/>
          <a:lstStyle/>
          <a:p>
            <a:pPr algn="r" indent="0" marL="0">
              <a:buNone/>
            </a:pPr>
            <a:r>
              <a:rPr lang="en-US" sz="1400" dirty="0">
                <a:solidFill>
                  <a:srgbClr val="666666"/>
                </a:solidFill>
                <a:latin typeface="Calibri" pitchFamily="34" charset="0"/>
                <a:ea typeface="Calibri" pitchFamily="34" charset="-122"/>
                <a:cs typeface="Calibri" pitchFamily="34" charset="-120"/>
              </a:rPr>
              <a:t>— Peygamber Efendimiz sallallahu aleyhi ve sellem (Hadis-i Şerif)</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Shape 1"/>
          <p:cNvSpPr/>
          <p:nvPr/>
        </p:nvSpPr>
        <p:spPr>
          <a:xfrm>
            <a:off x="5181448" y="2057400"/>
            <a:ext cx="1828800" cy="27432"/>
          </a:xfrm>
          <a:prstGeom prst="rect">
            <a:avLst/>
          </a:prstGeom>
          <a:solidFill>
            <a:srgbClr val="C8102E"/>
          </a:solidFill>
          <a:ln/>
        </p:spPr>
      </p:sp>
      <p:sp>
        <p:nvSpPr>
          <p:cNvPr id="4" name="Text 2"/>
          <p:cNvSpPr/>
          <p:nvPr/>
        </p:nvSpPr>
        <p:spPr>
          <a:xfrm>
            <a:off x="1463040" y="2331720"/>
            <a:ext cx="9265615" cy="2286000"/>
          </a:xfrm>
          <a:prstGeom prst="rect">
            <a:avLst/>
          </a:prstGeom>
          <a:noFill/>
          <a:ln/>
        </p:spPr>
        <p:txBody>
          <a:bodyPr wrap="square" rtlCol="0" anchor="ctr"/>
          <a:lstStyle/>
          <a:p>
            <a:pPr algn="ctr" indent="0" marL="0">
              <a:buNone/>
            </a:pPr>
            <a:r>
              <a:rPr lang="en-US" sz="2000" i="1" dirty="0">
                <a:solidFill>
                  <a:srgbClr val="8B0000"/>
                </a:solidFill>
                <a:latin typeface="Calibri" pitchFamily="34" charset="0"/>
                <a:ea typeface="Calibri" pitchFamily="34" charset="-122"/>
                <a:cs typeface="Calibri" pitchFamily="34" charset="-120"/>
              </a:rPr>
              <a:t>De ki: Hiç bilenlerle bilmeyenler bir olur mu?</a:t>
            </a:r>
            <a:endParaRPr lang="en-US" sz="2000" dirty="0"/>
          </a:p>
        </p:txBody>
      </p:sp>
      <p:sp>
        <p:nvSpPr>
          <p:cNvPr id="5" name="Shape 3"/>
          <p:cNvSpPr/>
          <p:nvPr/>
        </p:nvSpPr>
        <p:spPr>
          <a:xfrm>
            <a:off x="5181448" y="4800600"/>
            <a:ext cx="1828800" cy="27432"/>
          </a:xfrm>
          <a:prstGeom prst="rect">
            <a:avLst/>
          </a:prstGeom>
          <a:solidFill>
            <a:srgbClr val="C8102E"/>
          </a:solidFill>
          <a:ln/>
        </p:spPr>
      </p:sp>
      <p:sp>
        <p:nvSpPr>
          <p:cNvPr id="6" name="Text 4"/>
          <p:cNvSpPr/>
          <p:nvPr/>
        </p:nvSpPr>
        <p:spPr>
          <a:xfrm>
            <a:off x="1463040" y="5074920"/>
            <a:ext cx="9265615" cy="45720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Zümer Sûresi, 9</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Degerin Boyutlari</a:t>
            </a:r>
            <a:endParaRPr lang="en-US" sz="2400" dirty="0"/>
          </a:p>
        </p:txBody>
      </p:sp>
      <p:sp>
        <p:nvSpPr>
          <p:cNvPr id="4" name="Shape 2"/>
          <p:cNvSpPr/>
          <p:nvPr/>
        </p:nvSpPr>
        <p:spPr>
          <a:xfrm>
            <a:off x="548640" y="1005840"/>
            <a:ext cx="2636444" cy="4114800"/>
          </a:xfrm>
          <a:prstGeom prst="roundRect">
            <a:avLst>
              <a:gd name="adj" fmla="val 3468"/>
            </a:avLst>
          </a:prstGeom>
          <a:solidFill>
            <a:srgbClr val="FCEAED"/>
          </a:solidFill>
          <a:ln/>
        </p:spPr>
      </p:sp>
      <p:sp>
        <p:nvSpPr>
          <p:cNvPr id="5" name="Text 3"/>
          <p:cNvSpPr/>
          <p:nvPr/>
        </p:nvSpPr>
        <p:spPr>
          <a:xfrm>
            <a:off x="548640"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640080"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Dinî İlim</a:t>
            </a:r>
            <a:endParaRPr lang="en-US" sz="1300" dirty="0"/>
          </a:p>
        </p:txBody>
      </p:sp>
      <p:sp>
        <p:nvSpPr>
          <p:cNvPr id="7" name="Text 5"/>
          <p:cNvSpPr/>
          <p:nvPr/>
        </p:nvSpPr>
        <p:spPr>
          <a:xfrm>
            <a:off x="640080"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Kur'an-ı Kerim, Hadis-i Şerif ve İslâm ilimlerini öğrenme.</a:t>
            </a:r>
            <a:endParaRPr lang="en-US" sz="1000" dirty="0"/>
          </a:p>
        </p:txBody>
      </p:sp>
      <p:sp>
        <p:nvSpPr>
          <p:cNvPr id="8" name="Shape 6"/>
          <p:cNvSpPr/>
          <p:nvPr/>
        </p:nvSpPr>
        <p:spPr>
          <a:xfrm>
            <a:off x="3367964" y="1005840"/>
            <a:ext cx="2636444" cy="4114800"/>
          </a:xfrm>
          <a:prstGeom prst="roundRect">
            <a:avLst>
              <a:gd name="adj" fmla="val 3468"/>
            </a:avLst>
          </a:prstGeom>
          <a:solidFill>
            <a:srgbClr val="FCEAED"/>
          </a:solidFill>
          <a:ln/>
        </p:spPr>
      </p:sp>
      <p:sp>
        <p:nvSpPr>
          <p:cNvPr id="9" name="Text 7"/>
          <p:cNvSpPr/>
          <p:nvPr/>
        </p:nvSpPr>
        <p:spPr>
          <a:xfrm>
            <a:off x="3367964"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3459404"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Dünyevî İlim</a:t>
            </a:r>
            <a:endParaRPr lang="en-US" sz="1300" dirty="0"/>
          </a:p>
        </p:txBody>
      </p:sp>
      <p:sp>
        <p:nvSpPr>
          <p:cNvPr id="11" name="Text 9"/>
          <p:cNvSpPr/>
          <p:nvPr/>
        </p:nvSpPr>
        <p:spPr>
          <a:xfrm>
            <a:off x="3459404"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Fen, matematik, tarih gibi dünya ilimlerini öğrenme.</a:t>
            </a:r>
            <a:endParaRPr lang="en-US" sz="1000" dirty="0"/>
          </a:p>
        </p:txBody>
      </p:sp>
      <p:sp>
        <p:nvSpPr>
          <p:cNvPr id="12" name="Shape 10"/>
          <p:cNvSpPr/>
          <p:nvPr/>
        </p:nvSpPr>
        <p:spPr>
          <a:xfrm>
            <a:off x="6187288" y="1005840"/>
            <a:ext cx="2636444" cy="4114800"/>
          </a:xfrm>
          <a:prstGeom prst="roundRect">
            <a:avLst>
              <a:gd name="adj" fmla="val 3468"/>
            </a:avLst>
          </a:prstGeom>
          <a:solidFill>
            <a:srgbClr val="FCEAED"/>
          </a:solidFill>
          <a:ln/>
        </p:spPr>
      </p:sp>
      <p:sp>
        <p:nvSpPr>
          <p:cNvPr id="13" name="Text 11"/>
          <p:cNvSpPr/>
          <p:nvPr/>
        </p:nvSpPr>
        <p:spPr>
          <a:xfrm>
            <a:off x="6187288"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6278728"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Ahlâk Eğitimi</a:t>
            </a:r>
            <a:endParaRPr lang="en-US" sz="1300" dirty="0"/>
          </a:p>
        </p:txBody>
      </p:sp>
      <p:sp>
        <p:nvSpPr>
          <p:cNvPr id="15" name="Text 13"/>
          <p:cNvSpPr/>
          <p:nvPr/>
        </p:nvSpPr>
        <p:spPr>
          <a:xfrm>
            <a:off x="6278728"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Güzel ahlâk, adab ve edep öğrenerek karakter geliştirme.</a:t>
            </a:r>
            <a:endParaRPr lang="en-US" sz="1000" dirty="0"/>
          </a:p>
        </p:txBody>
      </p:sp>
      <p:sp>
        <p:nvSpPr>
          <p:cNvPr id="16" name="Shape 14"/>
          <p:cNvSpPr/>
          <p:nvPr/>
        </p:nvSpPr>
        <p:spPr>
          <a:xfrm>
            <a:off x="9006611" y="1005840"/>
            <a:ext cx="2636444" cy="4114800"/>
          </a:xfrm>
          <a:prstGeom prst="roundRect">
            <a:avLst>
              <a:gd name="adj" fmla="val 3468"/>
            </a:avLst>
          </a:prstGeom>
          <a:solidFill>
            <a:srgbClr val="FCEAED"/>
          </a:solidFill>
          <a:ln/>
        </p:spPr>
      </p:sp>
      <p:sp>
        <p:nvSpPr>
          <p:cNvPr id="17" name="Text 15"/>
          <p:cNvSpPr/>
          <p:nvPr/>
        </p:nvSpPr>
        <p:spPr>
          <a:xfrm>
            <a:off x="9006611"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9098051"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Paylaşarak Öğrenme</a:t>
            </a:r>
            <a:endParaRPr lang="en-US" sz="1300" dirty="0"/>
          </a:p>
        </p:txBody>
      </p:sp>
      <p:sp>
        <p:nvSpPr>
          <p:cNvPr id="19" name="Text 17"/>
          <p:cNvSpPr/>
          <p:nvPr/>
        </p:nvSpPr>
        <p:spPr>
          <a:xfrm>
            <a:off x="9098051"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Öğrendiğini başkalarına aktararak bilgiyi yaşatma.</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Ders Çalışma Tercihi</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Hafta sonu arkadaşlarınız dışarı çıkmak istiyor. Ancak pazartesi önemli bir sınavınız var ve henüz yeterince çalışmadınız. Arkadaşlarınız 'Bir gün çalışmazsan ne olacak?' diye ısrar ediyor.</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Önce dersimi çalışır, kalan zamanımda arkadaşla...</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Arkadaşlarıma durumu anlatır, sınavdan sonra bi...</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Ders çalışmayı bırakıp arkadaşlarımla çıkarım.</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Bilgiyi Paylaşmak</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Bir konuyu çok iyi öğrendiniz ve sınavda yüksek not aldınız. Arkadaşlarınız sizden o konuyu anlatmanızı istiyor. Ancak bazıları 'Ona anlatırsan o da yüksek alır, senin avantajın kalkmaz' diyor.</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Bilgiyi paylaşmak benim için daha değerli; arka...</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Bilgiyi paylaşırım, çünkü öğretirken ben de dah...</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Haklılar, anlatmam; herkes kendi çabasıyla öğre...</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Kur'an Kursunda</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Yaz tatilinde Kur'an-ı Kerim kursuna gidiyorsunuz. Bazı arkadaşlarınız 'Tatilde niye okula gidiyorsun?' diye dalga geçiyor. Siz kursu seviyorsunuz ama bu durumdan rahatsız oluyorsunuz.</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Kursu sevdiğimi ve çok şey öğrendiğimi gururla ...</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Aldırmam, hedefime odaklanırım.</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Arkadaşlarıma ayak uydurup kursu bırakırım.</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Kitap mı Oyun mu?</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Babanız size çok güzel bir ansiklopedi seti hediye etti. Aynı gün yeni bir bilgisayar oyunu da çıktı. Arkadaşlarınız hep oyundan bahsediyor. Ansiklopediyi okumak istiyorsunuz ama dışlanmaktan korkuyorsunuz.</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Hem ansiklopedimi okur hem bazen arkadaşlarımla...</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Ansiklopediden öğrendiğim ilginç bilgileri arka...</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Ansiklopediyi kenara koyar, sadece oyun oynarım.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274320"/>
            <a:ext cx="12191695" cy="5486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Quiz</a:t>
            </a:r>
            <a:endParaRPr lang="en-US" sz="2800" dirty="0"/>
          </a:p>
        </p:txBody>
      </p:sp>
      <p:sp>
        <p:nvSpPr>
          <p:cNvPr id="5" name="Shape 3"/>
          <p:cNvSpPr/>
          <p:nvPr/>
        </p:nvSpPr>
        <p:spPr>
          <a:xfrm>
            <a:off x="1005840" y="1097280"/>
            <a:ext cx="3210458" cy="4572000"/>
          </a:xfrm>
          <a:prstGeom prst="roundRect">
            <a:avLst>
              <a:gd name="adj" fmla="val 2848"/>
            </a:avLst>
          </a:prstGeom>
          <a:solidFill>
            <a:srgbClr val="FFFFFF">
              <a:alpha val="90000"/>
            </a:srgbClr>
          </a:solidFill>
          <a:ln/>
        </p:spPr>
      </p:sp>
      <p:sp>
        <p:nvSpPr>
          <p:cNvPr id="6" name="Text 4"/>
          <p:cNvSpPr/>
          <p:nvPr/>
        </p:nvSpPr>
        <p:spPr>
          <a:xfrm>
            <a:off x="1143000"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Ashab-ı Suffa nerede kalıyordu?</a:t>
            </a:r>
            <a:endParaRPr lang="en-US" sz="1100" dirty="0"/>
          </a:p>
        </p:txBody>
      </p:sp>
      <p:sp>
        <p:nvSpPr>
          <p:cNvPr id="7" name="Text 5"/>
          <p:cNvSpPr/>
          <p:nvPr/>
        </p:nvSpPr>
        <p:spPr>
          <a:xfrm>
            <a:off x="1143000"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Mekke'de Kâbe'nin yanında</a:t>
            </a:r>
            <a:endParaRPr lang="en-US" sz="900" dirty="0"/>
          </a:p>
        </p:txBody>
      </p:sp>
      <p:sp>
        <p:nvSpPr>
          <p:cNvPr id="8" name="Text 6"/>
          <p:cNvSpPr/>
          <p:nvPr/>
        </p:nvSpPr>
        <p:spPr>
          <a:xfrm>
            <a:off x="1143000"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Medîne'de Mescid-i Nebevî'nin avlusunda</a:t>
            </a:r>
            <a:endParaRPr lang="en-US" sz="900" dirty="0"/>
          </a:p>
        </p:txBody>
      </p:sp>
      <p:sp>
        <p:nvSpPr>
          <p:cNvPr id="9" name="Text 7"/>
          <p:cNvSpPr/>
          <p:nvPr/>
        </p:nvSpPr>
        <p:spPr>
          <a:xfrm>
            <a:off x="1143000"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Tâif'te</a:t>
            </a:r>
            <a:endParaRPr lang="en-US" sz="900" dirty="0"/>
          </a:p>
        </p:txBody>
      </p:sp>
      <p:sp>
        <p:nvSpPr>
          <p:cNvPr id="10" name="Text 8"/>
          <p:cNvSpPr/>
          <p:nvPr/>
        </p:nvSpPr>
        <p:spPr>
          <a:xfrm>
            <a:off x="1143000"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Kudüs'te</a:t>
            </a:r>
            <a:endParaRPr lang="en-US" sz="900" dirty="0"/>
          </a:p>
        </p:txBody>
      </p:sp>
      <p:sp>
        <p:nvSpPr>
          <p:cNvPr id="11" name="Shape 9"/>
          <p:cNvSpPr/>
          <p:nvPr/>
        </p:nvSpPr>
        <p:spPr>
          <a:xfrm>
            <a:off x="4490618" y="1097280"/>
            <a:ext cx="3210458" cy="4572000"/>
          </a:xfrm>
          <a:prstGeom prst="roundRect">
            <a:avLst>
              <a:gd name="adj" fmla="val 2848"/>
            </a:avLst>
          </a:prstGeom>
          <a:solidFill>
            <a:srgbClr val="FFFFFF">
              <a:alpha val="90000"/>
            </a:srgbClr>
          </a:solidFill>
          <a:ln/>
        </p:spPr>
      </p:sp>
      <p:sp>
        <p:nvSpPr>
          <p:cNvPr id="12" name="Text 10"/>
          <p:cNvSpPr/>
          <p:nvPr/>
        </p:nvSpPr>
        <p:spPr>
          <a:xfrm>
            <a:off x="4627778"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Zümer Sûresi 9. ayette ne sorulmaktadır?</a:t>
            </a:r>
            <a:endParaRPr lang="en-US" sz="1100" dirty="0"/>
          </a:p>
        </p:txBody>
      </p:sp>
      <p:sp>
        <p:nvSpPr>
          <p:cNvPr id="13" name="Text 11"/>
          <p:cNvSpPr/>
          <p:nvPr/>
        </p:nvSpPr>
        <p:spPr>
          <a:xfrm>
            <a:off x="4627778"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Namaz kılmanın faydası</a:t>
            </a:r>
            <a:endParaRPr lang="en-US" sz="900" dirty="0"/>
          </a:p>
        </p:txBody>
      </p:sp>
      <p:sp>
        <p:nvSpPr>
          <p:cNvPr id="14" name="Text 12"/>
          <p:cNvSpPr/>
          <p:nvPr/>
        </p:nvSpPr>
        <p:spPr>
          <a:xfrm>
            <a:off x="4627778"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Hiç bilenlerle bilmeyenler bir olur mu?</a:t>
            </a:r>
            <a:endParaRPr lang="en-US" sz="900" dirty="0"/>
          </a:p>
        </p:txBody>
      </p:sp>
      <p:sp>
        <p:nvSpPr>
          <p:cNvPr id="15" name="Text 13"/>
          <p:cNvSpPr/>
          <p:nvPr/>
        </p:nvSpPr>
        <p:spPr>
          <a:xfrm>
            <a:off x="4627778"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Oruç tutmanın hikmeti</a:t>
            </a:r>
            <a:endParaRPr lang="en-US" sz="900" dirty="0"/>
          </a:p>
        </p:txBody>
      </p:sp>
      <p:sp>
        <p:nvSpPr>
          <p:cNvPr id="16" name="Text 14"/>
          <p:cNvSpPr/>
          <p:nvPr/>
        </p:nvSpPr>
        <p:spPr>
          <a:xfrm>
            <a:off x="4627778"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Zekâtın önemi</a:t>
            </a:r>
            <a:endParaRPr lang="en-US" sz="900" dirty="0"/>
          </a:p>
        </p:txBody>
      </p:sp>
      <p:sp>
        <p:nvSpPr>
          <p:cNvPr id="17" name="Shape 15"/>
          <p:cNvSpPr/>
          <p:nvPr/>
        </p:nvSpPr>
        <p:spPr>
          <a:xfrm>
            <a:off x="7975397" y="1097280"/>
            <a:ext cx="3210458" cy="4572000"/>
          </a:xfrm>
          <a:prstGeom prst="roundRect">
            <a:avLst>
              <a:gd name="adj" fmla="val 2848"/>
            </a:avLst>
          </a:prstGeom>
          <a:solidFill>
            <a:srgbClr val="FFFFFF">
              <a:alpha val="90000"/>
            </a:srgbClr>
          </a:solidFill>
          <a:ln/>
        </p:spPr>
      </p:sp>
      <p:sp>
        <p:nvSpPr>
          <p:cNvPr id="18" name="Text 16"/>
          <p:cNvSpPr/>
          <p:nvPr/>
        </p:nvSpPr>
        <p:spPr>
          <a:xfrm>
            <a:off x="8112557"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Ashab-ı Suffa'nın en belirgin özelliği nedir?</a:t>
            </a:r>
            <a:endParaRPr lang="en-US" sz="1100" dirty="0"/>
          </a:p>
        </p:txBody>
      </p:sp>
      <p:sp>
        <p:nvSpPr>
          <p:cNvPr id="19" name="Text 17"/>
          <p:cNvSpPr/>
          <p:nvPr/>
        </p:nvSpPr>
        <p:spPr>
          <a:xfrm>
            <a:off x="8112557"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Zengin olmaları</a:t>
            </a:r>
            <a:endParaRPr lang="en-US" sz="900" dirty="0"/>
          </a:p>
        </p:txBody>
      </p:sp>
      <p:sp>
        <p:nvSpPr>
          <p:cNvPr id="20" name="Text 18"/>
          <p:cNvSpPr/>
          <p:nvPr/>
        </p:nvSpPr>
        <p:spPr>
          <a:xfrm>
            <a:off x="8112557"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Savaşçı olmaları</a:t>
            </a:r>
            <a:endParaRPr lang="en-US" sz="900" dirty="0"/>
          </a:p>
        </p:txBody>
      </p:sp>
      <p:sp>
        <p:nvSpPr>
          <p:cNvPr id="21" name="Text 19"/>
          <p:cNvSpPr/>
          <p:nvPr/>
        </p:nvSpPr>
        <p:spPr>
          <a:xfrm>
            <a:off x="8112557"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İlim uğruna her şeyden vazgeçmeleri</a:t>
            </a:r>
            <a:endParaRPr lang="en-US" sz="900" dirty="0"/>
          </a:p>
        </p:txBody>
      </p:sp>
      <p:sp>
        <p:nvSpPr>
          <p:cNvPr id="22" name="Text 20"/>
          <p:cNvSpPr/>
          <p:nvPr/>
        </p:nvSpPr>
        <p:spPr>
          <a:xfrm>
            <a:off x="8112557"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Ticaretle uğraşmaları</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91440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
        <p:nvSpPr>
          <p:cNvPr id="5" name="Text 3"/>
          <p:cNvSpPr/>
          <p:nvPr/>
        </p:nvSpPr>
        <p:spPr>
          <a:xfrm>
            <a:off x="1371600" y="1828800"/>
            <a:ext cx="9448495" cy="274320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De ki: Hiç bilenlerle bilmeyenler bir olur mu?</a:t>
            </a:r>
            <a:endParaRPr lang="en-US" sz="2400" dirty="0"/>
          </a:p>
        </p:txBody>
      </p:sp>
      <p:sp>
        <p:nvSpPr>
          <p:cNvPr id="6" name="Text 4"/>
          <p:cNvSpPr/>
          <p:nvPr/>
        </p:nvSpPr>
        <p:spPr>
          <a:xfrm>
            <a:off x="1371600" y="4754880"/>
            <a:ext cx="94484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Zümer Sûresi, 9</a:t>
            </a:r>
            <a:endParaRPr lang="en-US" sz="1400" dirty="0"/>
          </a:p>
        </p:txBody>
      </p:sp>
      <p:sp>
        <p:nvSpPr>
          <p:cNvPr id="7" name="Text 5"/>
          <p:cNvSpPr/>
          <p:nvPr/>
        </p:nvSpPr>
        <p:spPr>
          <a:xfrm>
            <a:off x="0" y="530352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Duesuenelim</a:t>
            </a:r>
            <a:endParaRPr lang="en-US" sz="2400" dirty="0"/>
          </a:p>
        </p:txBody>
      </p:sp>
      <p:sp>
        <p:nvSpPr>
          <p:cNvPr id="4" name="Shape 2"/>
          <p:cNvSpPr/>
          <p:nvPr/>
        </p:nvSpPr>
        <p:spPr>
          <a:xfrm>
            <a:off x="548640" y="1005840"/>
            <a:ext cx="11094415" cy="1463040"/>
          </a:xfrm>
          <a:prstGeom prst="roundRect">
            <a:avLst>
              <a:gd name="adj" fmla="val 5000"/>
            </a:avLst>
          </a:prstGeom>
          <a:solidFill>
            <a:srgbClr val="FCEAED"/>
          </a:solidFill>
          <a:ln/>
        </p:spPr>
      </p:sp>
      <p:sp>
        <p:nvSpPr>
          <p:cNvPr id="5" name="Text 3"/>
          <p:cNvSpPr/>
          <p:nvPr/>
        </p:nvSpPr>
        <p:spPr>
          <a:xfrm>
            <a:off x="685800" y="114300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005840" y="114300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Ashab-ı Suffa'nın yerinde olsan, ilim için ne kadar fedakârlık yapabilirdin?</a:t>
            </a:r>
            <a:endParaRPr lang="en-US" sz="1600" dirty="0"/>
          </a:p>
        </p:txBody>
      </p:sp>
      <p:sp>
        <p:nvSpPr>
          <p:cNvPr id="7" name="Shape 5"/>
          <p:cNvSpPr/>
          <p:nvPr/>
        </p:nvSpPr>
        <p:spPr>
          <a:xfrm>
            <a:off x="548640" y="2651760"/>
            <a:ext cx="11094415" cy="1463040"/>
          </a:xfrm>
          <a:prstGeom prst="roundRect">
            <a:avLst>
              <a:gd name="adj" fmla="val 5000"/>
            </a:avLst>
          </a:prstGeom>
          <a:solidFill>
            <a:srgbClr val="FCEAED"/>
          </a:solidFill>
          <a:ln/>
        </p:spPr>
      </p:sp>
      <p:sp>
        <p:nvSpPr>
          <p:cNvPr id="8" name="Text 6"/>
          <p:cNvSpPr/>
          <p:nvPr/>
        </p:nvSpPr>
        <p:spPr>
          <a:xfrm>
            <a:off x="685800" y="278892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005840" y="278892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En sevdiğin ders hangisi ve neden? Bu dersten hayatına ne katıyorsun?</a:t>
            </a:r>
            <a:endParaRPr lang="en-US" sz="1600" dirty="0"/>
          </a:p>
        </p:txBody>
      </p:sp>
      <p:sp>
        <p:nvSpPr>
          <p:cNvPr id="10" name="Shape 8"/>
          <p:cNvSpPr/>
          <p:nvPr/>
        </p:nvSpPr>
        <p:spPr>
          <a:xfrm>
            <a:off x="548640" y="4297680"/>
            <a:ext cx="11094415" cy="1463040"/>
          </a:xfrm>
          <a:prstGeom prst="roundRect">
            <a:avLst>
              <a:gd name="adj" fmla="val 5000"/>
            </a:avLst>
          </a:prstGeom>
          <a:solidFill>
            <a:srgbClr val="FCEAED"/>
          </a:solidFill>
          <a:ln/>
        </p:spPr>
      </p:sp>
      <p:sp>
        <p:nvSpPr>
          <p:cNvPr id="11" name="Text 9"/>
          <p:cNvSpPr/>
          <p:nvPr/>
        </p:nvSpPr>
        <p:spPr>
          <a:xfrm>
            <a:off x="685800" y="443484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005840" y="443484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Öğrendiğin bir bilgiyi başka birine öğrettiğinde ne hissediyorsun?</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1645920"/>
            <a:ext cx="12191695" cy="109728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5" name="Text 3"/>
          <p:cNvSpPr/>
          <p:nvPr/>
        </p:nvSpPr>
        <p:spPr>
          <a:xfrm>
            <a:off x="0" y="2926080"/>
            <a:ext cx="12191695" cy="91440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Birlikte Iyilik Akademisi</a:t>
            </a:r>
            <a:endParaRPr lang="en-US" sz="3200" dirty="0"/>
          </a:p>
        </p:txBody>
      </p:sp>
      <p:sp>
        <p:nvSpPr>
          <p:cNvPr id="6" name="Text 4"/>
          <p:cNvSpPr/>
          <p:nvPr/>
        </p:nvSpPr>
        <p:spPr>
          <a:xfrm>
            <a:off x="0" y="3840480"/>
            <a:ext cx="12191695" cy="548640"/>
          </a:xfrm>
          <a:prstGeom prst="rect">
            <a:avLst/>
          </a:prstGeom>
          <a:noFill/>
          <a:ln/>
        </p:spPr>
        <p:txBody>
          <a:bodyPr wrap="square" rtlCol="0" anchor="ctr"/>
          <a:lstStyle/>
          <a:p>
            <a:pPr algn="ctr" indent="0" marL="0">
              <a:buNone/>
            </a:pPr>
            <a:r>
              <a:rPr lang="en-US" sz="1800" dirty="0">
                <a:solidFill>
                  <a:srgbClr val="FCEAED"/>
                </a:solidFill>
                <a:latin typeface="Calibri" pitchFamily="34" charset="0"/>
                <a:ea typeface="Calibri" pitchFamily="34" charset="-122"/>
                <a:cs typeface="Calibri" pitchFamily="34" charset="-120"/>
              </a:rPr>
              <a:t>Degerler Egitimi</a:t>
            </a:r>
            <a:endParaRPr lang="en-US" sz="1800" dirty="0"/>
          </a:p>
        </p:txBody>
      </p:sp>
      <p:sp>
        <p:nvSpPr>
          <p:cNvPr id="7" name="Text 5"/>
          <p:cNvSpPr/>
          <p:nvPr/>
        </p:nvSpPr>
        <p:spPr>
          <a:xfrm>
            <a:off x="0" y="4754880"/>
            <a:ext cx="12191695" cy="457200"/>
          </a:xfrm>
          <a:prstGeom prst="rect">
            <a:avLst/>
          </a:prstGeom>
          <a:noFill/>
          <a:ln/>
        </p:spPr>
        <p:txBody>
          <a:bodyPr wrap="square" rtlCol="0" anchor="ctr"/>
          <a:lstStyle/>
          <a:p>
            <a:pPr algn="ctr" indent="0" marL="0">
              <a:buNone/>
            </a:pPr>
            <a:r>
              <a:rPr lang="en-US" sz="1600" i="1" dirty="0">
                <a:solidFill>
                  <a:srgbClr val="FCEAED"/>
                </a:solidFill>
                <a:latin typeface="Calibri" pitchFamily="34" charset="0"/>
                <a:ea typeface="Calibri" pitchFamily="34" charset="-122"/>
                <a:cs typeface="Calibri" pitchFamily="34" charset="-120"/>
              </a:rPr>
              <a:t>Ders 15</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İlim ve Eğitim</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