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457200"/>
            <a:ext cx="121916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Birlikte Iyilik Akademisi</a:t>
            </a:r>
            <a:endParaRPr lang="en-US" sz="1400" dirty="0"/>
          </a:p>
        </p:txBody>
      </p:sp>
      <p:sp>
        <p:nvSpPr>
          <p:cNvPr id="5" name="Text 3"/>
          <p:cNvSpPr/>
          <p:nvPr/>
        </p:nvSpPr>
        <p:spPr>
          <a:xfrm>
            <a:off x="1371600" y="2011680"/>
            <a:ext cx="9448495" cy="13716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Dayanışma ve Sığınma</a:t>
            </a:r>
            <a:endParaRPr lang="en-US" sz="4000" dirty="0"/>
          </a:p>
        </p:txBody>
      </p:sp>
      <p:sp>
        <p:nvSpPr>
          <p:cNvPr id="6" name="Text 4"/>
          <p:cNvSpPr/>
          <p:nvPr/>
        </p:nvSpPr>
        <p:spPr>
          <a:xfrm>
            <a:off x="1828800" y="3474720"/>
            <a:ext cx="8534095" cy="548640"/>
          </a:xfrm>
          <a:prstGeom prst="rect">
            <a:avLst/>
          </a:prstGeom>
          <a:noFill/>
          <a:ln/>
        </p:spPr>
        <p:txBody>
          <a:bodyPr wrap="square" rtlCol="0" anchor="ctr"/>
          <a:lstStyle/>
          <a:p>
            <a:pPr algn="ctr" indent="0" marL="0">
              <a:buNone/>
            </a:pPr>
            <a:r>
              <a:rPr lang="en-US" sz="2000" i="1" dirty="0">
                <a:solidFill>
                  <a:srgbClr val="FCEAED"/>
                </a:solidFill>
                <a:latin typeface="Calibri" pitchFamily="34" charset="0"/>
                <a:ea typeface="Calibri" pitchFamily="34" charset="-122"/>
                <a:cs typeface="Calibri" pitchFamily="34" charset="-120"/>
              </a:rPr>
              <a:t>İlk hicret, Necâşî'nin adaleti ve Hz. Ca'fer radıyallahu anh'ın tarihi konuşması</a:t>
            </a:r>
            <a:endParaRPr lang="en-US" sz="2000" dirty="0"/>
          </a:p>
        </p:txBody>
      </p:sp>
      <p:sp>
        <p:nvSpPr>
          <p:cNvPr id="7" name="Text 5"/>
          <p:cNvSpPr/>
          <p:nvPr/>
        </p:nvSpPr>
        <p:spPr>
          <a:xfrm>
            <a:off x="0" y="6035040"/>
            <a:ext cx="12191695" cy="457200"/>
          </a:xfrm>
          <a:prstGeom prst="rect">
            <a:avLst/>
          </a:prstGeom>
          <a:noFill/>
          <a:ln/>
        </p:spPr>
        <p:txBody>
          <a:bodyPr wrap="square" rtlCol="0" anchor="ctr"/>
          <a:lstStyle/>
          <a:p>
            <a:pPr algn="ctr" indent="0" marL="0">
              <a:buNone/>
            </a:pPr>
            <a:r>
              <a:rPr lang="en-US" sz="1200" dirty="0">
                <a:solidFill>
                  <a:srgbClr val="FCEAED"/>
                </a:solidFill>
                <a:latin typeface="Calibri" pitchFamily="34" charset="0"/>
                <a:ea typeface="Calibri" pitchFamily="34" charset="-122"/>
                <a:cs typeface="Calibri" pitchFamily="34" charset="-120"/>
              </a:rPr>
              <a:t>Degerler Egitimi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Buguen Ne Oegreneceegiz?</a:t>
            </a:r>
            <a:endParaRPr lang="en-US" sz="2400" dirty="0"/>
          </a:p>
        </p:txBody>
      </p:sp>
      <p:sp>
        <p:nvSpPr>
          <p:cNvPr id="4" name="Shape 2"/>
          <p:cNvSpPr/>
          <p:nvPr/>
        </p:nvSpPr>
        <p:spPr>
          <a:xfrm>
            <a:off x="548640" y="1097280"/>
            <a:ext cx="457200" cy="457200"/>
          </a:xfrm>
          <a:prstGeom prst="ellipse">
            <a:avLst/>
          </a:prstGeom>
          <a:solidFill>
            <a:srgbClr val="C8102E"/>
          </a:solidFill>
          <a:ln/>
        </p:spPr>
      </p:sp>
      <p:sp>
        <p:nvSpPr>
          <p:cNvPr id="5" name="Text 3"/>
          <p:cNvSpPr/>
          <p:nvPr/>
        </p:nvSpPr>
        <p:spPr>
          <a:xfrm>
            <a:off x="548640" y="10972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88720" y="100584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Habeşistan hicretinin sebeplerini ve önemini öğrenir.</a:t>
            </a:r>
            <a:endParaRPr lang="en-US" sz="1600" dirty="0"/>
          </a:p>
        </p:txBody>
      </p:sp>
      <p:sp>
        <p:nvSpPr>
          <p:cNvPr id="7" name="Shape 5"/>
          <p:cNvSpPr/>
          <p:nvPr/>
        </p:nvSpPr>
        <p:spPr>
          <a:xfrm>
            <a:off x="548640" y="2103120"/>
            <a:ext cx="457200" cy="457200"/>
          </a:xfrm>
          <a:prstGeom prst="ellipse">
            <a:avLst/>
          </a:prstGeom>
          <a:solidFill>
            <a:srgbClr val="C8102E"/>
          </a:solidFill>
          <a:ln/>
        </p:spPr>
      </p:sp>
      <p:sp>
        <p:nvSpPr>
          <p:cNvPr id="8" name="Text 6"/>
          <p:cNvSpPr/>
          <p:nvPr/>
        </p:nvSpPr>
        <p:spPr>
          <a:xfrm>
            <a:off x="548640" y="21031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88720" y="201168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Hz. Ca'fer radıyallahu anh'ın Necâşî huzurundaki konuşmasını tanır.</a:t>
            </a:r>
            <a:endParaRPr lang="en-US" sz="1600" dirty="0"/>
          </a:p>
        </p:txBody>
      </p:sp>
      <p:sp>
        <p:nvSpPr>
          <p:cNvPr id="10" name="Shape 8"/>
          <p:cNvSpPr/>
          <p:nvPr/>
        </p:nvSpPr>
        <p:spPr>
          <a:xfrm>
            <a:off x="548640" y="3108960"/>
            <a:ext cx="457200" cy="457200"/>
          </a:xfrm>
          <a:prstGeom prst="ellipse">
            <a:avLst/>
          </a:prstGeom>
          <a:solidFill>
            <a:srgbClr val="C8102E"/>
          </a:solidFill>
          <a:ln/>
        </p:spPr>
      </p:sp>
      <p:sp>
        <p:nvSpPr>
          <p:cNvPr id="11" name="Text 9"/>
          <p:cNvSpPr/>
          <p:nvPr/>
        </p:nvSpPr>
        <p:spPr>
          <a:xfrm>
            <a:off x="548640" y="31089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88720" y="301752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Dayanışma ve birlikte hareket etmenin değerini kavrar.</a:t>
            </a:r>
            <a:endParaRPr lang="en-US" sz="1600" dirty="0"/>
          </a:p>
        </p:txBody>
      </p:sp>
      <p:sp>
        <p:nvSpPr>
          <p:cNvPr id="13" name="Shape 11"/>
          <p:cNvSpPr/>
          <p:nvPr/>
        </p:nvSpPr>
        <p:spPr>
          <a:xfrm>
            <a:off x="548640" y="4114800"/>
            <a:ext cx="457200" cy="457200"/>
          </a:xfrm>
          <a:prstGeom prst="ellipse">
            <a:avLst/>
          </a:prstGeom>
          <a:solidFill>
            <a:srgbClr val="C8102E"/>
          </a:solidFill>
          <a:ln/>
        </p:spPr>
      </p:sp>
      <p:sp>
        <p:nvSpPr>
          <p:cNvPr id="14" name="Text 12"/>
          <p:cNvSpPr/>
          <p:nvPr/>
        </p:nvSpPr>
        <p:spPr>
          <a:xfrm>
            <a:off x="548640" y="41148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88720" y="402336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Zulüm karşısında meşru yollarla mücadele etmenin önemini anlar.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Anahtar Kavramlar</a:t>
            </a:r>
            <a:endParaRPr lang="en-US" sz="2400" dirty="0"/>
          </a:p>
        </p:txBody>
      </p:sp>
      <p:sp>
        <p:nvSpPr>
          <p:cNvPr id="4" name="Shape 2"/>
          <p:cNvSpPr/>
          <p:nvPr/>
        </p:nvSpPr>
        <p:spPr>
          <a:xfrm>
            <a:off x="548640" y="1005840"/>
            <a:ext cx="3545738" cy="2194560"/>
          </a:xfrm>
          <a:prstGeom prst="roundRect">
            <a:avLst>
              <a:gd name="adj" fmla="val 4167"/>
            </a:avLst>
          </a:prstGeom>
          <a:solidFill>
            <a:srgbClr val="FCEAED"/>
          </a:solidFill>
          <a:ln/>
        </p:spPr>
      </p:sp>
      <p:sp>
        <p:nvSpPr>
          <p:cNvPr id="5" name="Text 3"/>
          <p:cNvSpPr/>
          <p:nvPr/>
        </p:nvSpPr>
        <p:spPr>
          <a:xfrm>
            <a:off x="685800"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Hicret</a:t>
            </a:r>
            <a:endParaRPr lang="en-US" sz="1400" dirty="0"/>
          </a:p>
        </p:txBody>
      </p:sp>
      <p:sp>
        <p:nvSpPr>
          <p:cNvPr id="6" name="Text 4"/>
          <p:cNvSpPr/>
          <p:nvPr/>
        </p:nvSpPr>
        <p:spPr>
          <a:xfrm>
            <a:off x="685800"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Dini yaşamak için bir yerden başka bir yere göç etmektir; İslâm tarihinde iki büyük hicret yaşanmıştır.</a:t>
            </a:r>
            <a:endParaRPr lang="en-US" sz="1100" dirty="0"/>
          </a:p>
        </p:txBody>
      </p:sp>
      <p:sp>
        <p:nvSpPr>
          <p:cNvPr id="7" name="Shape 5"/>
          <p:cNvSpPr/>
          <p:nvPr/>
        </p:nvSpPr>
        <p:spPr>
          <a:xfrm>
            <a:off x="4322978" y="1005840"/>
            <a:ext cx="3545738" cy="2194560"/>
          </a:xfrm>
          <a:prstGeom prst="roundRect">
            <a:avLst>
              <a:gd name="adj" fmla="val 4167"/>
            </a:avLst>
          </a:prstGeom>
          <a:solidFill>
            <a:srgbClr val="FCEAED"/>
          </a:solidFill>
          <a:ln/>
        </p:spPr>
      </p:sp>
      <p:sp>
        <p:nvSpPr>
          <p:cNvPr id="8" name="Text 6"/>
          <p:cNvSpPr/>
          <p:nvPr/>
        </p:nvSpPr>
        <p:spPr>
          <a:xfrm>
            <a:off x="4460138"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Muhacir</a:t>
            </a:r>
            <a:endParaRPr lang="en-US" sz="1400" dirty="0"/>
          </a:p>
        </p:txBody>
      </p:sp>
      <p:sp>
        <p:nvSpPr>
          <p:cNvPr id="9" name="Text 7"/>
          <p:cNvSpPr/>
          <p:nvPr/>
        </p:nvSpPr>
        <p:spPr>
          <a:xfrm>
            <a:off x="4460138"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Din uğruna vatanını terk edip başka bir yere göç eden Müslümandır.</a:t>
            </a:r>
            <a:endParaRPr lang="en-US" sz="1100" dirty="0"/>
          </a:p>
        </p:txBody>
      </p:sp>
      <p:sp>
        <p:nvSpPr>
          <p:cNvPr id="10" name="Shape 8"/>
          <p:cNvSpPr/>
          <p:nvPr/>
        </p:nvSpPr>
        <p:spPr>
          <a:xfrm>
            <a:off x="8097317" y="1005840"/>
            <a:ext cx="3545738" cy="2194560"/>
          </a:xfrm>
          <a:prstGeom prst="roundRect">
            <a:avLst>
              <a:gd name="adj" fmla="val 4167"/>
            </a:avLst>
          </a:prstGeom>
          <a:solidFill>
            <a:srgbClr val="FCEAED"/>
          </a:solidFill>
          <a:ln/>
        </p:spPr>
      </p:sp>
      <p:sp>
        <p:nvSpPr>
          <p:cNvPr id="11" name="Text 9"/>
          <p:cNvSpPr/>
          <p:nvPr/>
        </p:nvSpPr>
        <p:spPr>
          <a:xfrm>
            <a:off x="8234477"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Necâşî</a:t>
            </a:r>
            <a:endParaRPr lang="en-US" sz="1400" dirty="0"/>
          </a:p>
        </p:txBody>
      </p:sp>
      <p:sp>
        <p:nvSpPr>
          <p:cNvPr id="12" name="Text 10"/>
          <p:cNvSpPr/>
          <p:nvPr/>
        </p:nvSpPr>
        <p:spPr>
          <a:xfrm>
            <a:off x="8234477"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Habeşistan'ın adaletiyle ünlü Hristiyan kralı; Müslüman muhacirleri korumuştur.</a:t>
            </a:r>
            <a:endParaRPr lang="en-US" sz="1100" dirty="0"/>
          </a:p>
        </p:txBody>
      </p:sp>
      <p:sp>
        <p:nvSpPr>
          <p:cNvPr id="13" name="Shape 11"/>
          <p:cNvSpPr/>
          <p:nvPr/>
        </p:nvSpPr>
        <p:spPr>
          <a:xfrm>
            <a:off x="548640" y="3429000"/>
            <a:ext cx="3545738" cy="2194560"/>
          </a:xfrm>
          <a:prstGeom prst="roundRect">
            <a:avLst>
              <a:gd name="adj" fmla="val 4167"/>
            </a:avLst>
          </a:prstGeom>
          <a:solidFill>
            <a:srgbClr val="FCEAED"/>
          </a:solidFill>
          <a:ln/>
        </p:spPr>
      </p:sp>
      <p:sp>
        <p:nvSpPr>
          <p:cNvPr id="14" name="Text 12"/>
          <p:cNvSpPr/>
          <p:nvPr/>
        </p:nvSpPr>
        <p:spPr>
          <a:xfrm>
            <a:off x="685800"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Dayanışma</a:t>
            </a:r>
            <a:endParaRPr lang="en-US" sz="1400" dirty="0"/>
          </a:p>
        </p:txBody>
      </p:sp>
      <p:sp>
        <p:nvSpPr>
          <p:cNvPr id="15" name="Text 13"/>
          <p:cNvSpPr/>
          <p:nvPr/>
        </p:nvSpPr>
        <p:spPr>
          <a:xfrm>
            <a:off x="685800"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Zor zamanlarda birbirinin yanında olmak, birlikte hareket etmek ve yardımlaşmaktır.</a:t>
            </a:r>
            <a:endParaRPr lang="en-US" sz="1100" dirty="0"/>
          </a:p>
        </p:txBody>
      </p:sp>
      <p:sp>
        <p:nvSpPr>
          <p:cNvPr id="16" name="Shape 14"/>
          <p:cNvSpPr/>
          <p:nvPr/>
        </p:nvSpPr>
        <p:spPr>
          <a:xfrm>
            <a:off x="4322978" y="3429000"/>
            <a:ext cx="3545738" cy="2194560"/>
          </a:xfrm>
          <a:prstGeom prst="roundRect">
            <a:avLst>
              <a:gd name="adj" fmla="val 4167"/>
            </a:avLst>
          </a:prstGeom>
          <a:solidFill>
            <a:srgbClr val="FCEAED"/>
          </a:solidFill>
          <a:ln/>
        </p:spPr>
      </p:sp>
      <p:sp>
        <p:nvSpPr>
          <p:cNvPr id="17" name="Text 15"/>
          <p:cNvSpPr/>
          <p:nvPr/>
        </p:nvSpPr>
        <p:spPr>
          <a:xfrm>
            <a:off x="4460138"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Sığınma Hakkı</a:t>
            </a:r>
            <a:endParaRPr lang="en-US" sz="1400" dirty="0"/>
          </a:p>
        </p:txBody>
      </p:sp>
      <p:sp>
        <p:nvSpPr>
          <p:cNvPr id="18" name="Text 16"/>
          <p:cNvSpPr/>
          <p:nvPr/>
        </p:nvSpPr>
        <p:spPr>
          <a:xfrm>
            <a:off x="4460138"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Zulüm gören insanların güvenli bir yere sığınması ve orada korunması hakkıdır.</a:t>
            </a:r>
            <a:endParaRPr lang="en-US" sz="1100" dirty="0"/>
          </a:p>
        </p:txBody>
      </p:sp>
      <p:sp>
        <p:nvSpPr>
          <p:cNvPr id="19" name="Shape 17"/>
          <p:cNvSpPr/>
          <p:nvPr/>
        </p:nvSpPr>
        <p:spPr>
          <a:xfrm>
            <a:off x="8097317" y="3429000"/>
            <a:ext cx="3545738" cy="2194560"/>
          </a:xfrm>
          <a:prstGeom prst="roundRect">
            <a:avLst>
              <a:gd name="adj" fmla="val 4167"/>
            </a:avLst>
          </a:prstGeom>
          <a:solidFill>
            <a:srgbClr val="FCEAED"/>
          </a:solidFill>
          <a:ln/>
        </p:spPr>
      </p:sp>
      <p:sp>
        <p:nvSpPr>
          <p:cNvPr id="20" name="Text 18"/>
          <p:cNvSpPr/>
          <p:nvPr/>
        </p:nvSpPr>
        <p:spPr>
          <a:xfrm>
            <a:off x="8234477"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Adalet</a:t>
            </a:r>
            <a:endParaRPr lang="en-US" sz="1400" dirty="0"/>
          </a:p>
        </p:txBody>
      </p:sp>
      <p:sp>
        <p:nvSpPr>
          <p:cNvPr id="21" name="Text 19"/>
          <p:cNvSpPr/>
          <p:nvPr/>
        </p:nvSpPr>
        <p:spPr>
          <a:xfrm>
            <a:off x="8234477"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Herkese hakkını vermek, tarafsız davranmak ve zulümden uzak durmaktır.</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Necâşî'nin Huzurunda</a:t>
            </a:r>
            <a:endParaRPr lang="en-US" sz="2400" dirty="0"/>
          </a:p>
        </p:txBody>
      </p:sp>
      <p:sp>
        <p:nvSpPr>
          <p:cNvPr id="4" name="Text 2"/>
          <p:cNvSpPr/>
          <p:nvPr/>
        </p:nvSpPr>
        <p:spPr>
          <a:xfrm>
            <a:off x="548640" y="1005840"/>
            <a:ext cx="11094415" cy="548640"/>
          </a:xfrm>
          <a:prstGeom prst="rect">
            <a:avLst/>
          </a:prstGeom>
          <a:noFill/>
          <a:ln/>
        </p:spPr>
        <p:txBody>
          <a:bodyPr wrap="square" rtlCol="0" anchor="ctr"/>
          <a:lstStyle/>
          <a:p>
            <a:pPr algn="l" indent="0" marL="0">
              <a:buNone/>
            </a:pPr>
            <a:r>
              <a:rPr lang="en-US" sz="1300" i="1" dirty="0">
                <a:solidFill>
                  <a:srgbClr val="666666"/>
                </a:solidFill>
                <a:latin typeface="Calibri" pitchFamily="34" charset="0"/>
                <a:ea typeface="Calibri" pitchFamily="34" charset="-122"/>
                <a:cs typeface="Calibri" pitchFamily="34" charset="-120"/>
              </a:rPr>
              <a:t>Mekke'deki baskılar dayanılmaz hâle gelince, Peygamber Efendimiz sallallahu aleyhi ve sellem, bir grup Müslümana Habeşistan'a hicret etmelerini söyledi. Orada adaletiyle bilinen Hristiyan kral Necâşî vardı. Kureyş, muhacirleri geri getirmek için elçiler gönderdi.</a:t>
            </a:r>
            <a:endParaRPr lang="en-US" sz="1300" dirty="0"/>
          </a:p>
        </p:txBody>
      </p:sp>
      <p:sp>
        <p:nvSpPr>
          <p:cNvPr id="5" name="Text 3"/>
          <p:cNvSpPr/>
          <p:nvPr/>
        </p:nvSpPr>
        <p:spPr>
          <a:xfrm>
            <a:off x="548640" y="17373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Mekke'deki eziyetler had safhaya ulaşınca, Peygamber Efendimiz sallallahu aleyhi ve sellem, bir grup Müslümana 'Habeşistan'a gidin, orada kimseye zulmetmeyen bir kral var' buyurdu. Birinci kafilede on beş kişi, ikinci kafilede seksen küsur kişi Habeşistan'a hicret etti. Bu, İslâm tarihindeki ilk hicret ve ilk büyük dayanışma örneğiydi. Müslümanlar birbirlerini yalnız bırakmadılar ve birlikte yola çıktılar.</a:t>
            </a:r>
            <a:endParaRPr lang="en-US" sz="1400" dirty="0"/>
          </a:p>
        </p:txBody>
      </p:sp>
      <p:sp>
        <p:nvSpPr>
          <p:cNvPr id="6" name="Text 4"/>
          <p:cNvSpPr/>
          <p:nvPr/>
        </p:nvSpPr>
        <p:spPr>
          <a:xfrm>
            <a:off x="548640" y="31089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Kureyşliler, muhacirlerin peşini bırakmadı. Abdullah bin Ebî Rebîa ve Amr bin el-Âs'ı Necâşî'ye elçi olarak gönderdiler. Elçiler, kıymetli hediyeler getirdiler ve Müslümanların iade edilmesini istediler. Necâşî, adaletli bir kral olduğu için önce Müslümanları dinlemek istedi. Hz. Ca'fer bin Ebî Tâlib radıyallahu anh ayağa kalktı ve tarihi konuşmasını yaptı.</a:t>
            </a:r>
            <a:endParaRPr lang="en-US" sz="1400" dirty="0"/>
          </a:p>
        </p:txBody>
      </p:sp>
      <p:sp>
        <p:nvSpPr>
          <p:cNvPr id="7" name="Text 5"/>
          <p:cNvSpPr/>
          <p:nvPr/>
        </p:nvSpPr>
        <p:spPr>
          <a:xfrm>
            <a:off x="548640" y="44805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Hz. Ca'fer radıyallahu anh şöyle dedi: 'Ey kral! Biz cahiliye karanlığında yaşayan bir milletttik. Putlara tapar, ölü eti yer, kötülük yapardık. Akraba haklarını gözetmez, komşuya kötü davranırdık. Güçlü olan zayıfı ezerdi. Allahu Teâlâ bize içimizden bir peygamber gönderdi. Bize doğruluğu, emaneti, akraba hakkını, komşu hakkını emretti. Bizi putlardan, kötülüklerden uzaklaştırdı.' Sonra Meryem Sûresi'nden âyetler okudu. Necâşî ağladı ve Müslümanları iade etmeyi reddetti: 'Gidin, ülkemde güven içinde yaşayın.'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914400"/>
            <a:ext cx="914400" cy="1097280"/>
          </a:xfrm>
          <a:prstGeom prst="rect">
            <a:avLst/>
          </a:prstGeom>
          <a:noFill/>
          <a:ln/>
        </p:spPr>
        <p:txBody>
          <a:bodyPr wrap="square" rtlCol="0" anchor="ctr"/>
          <a:lstStyle/>
          <a:p>
            <a:pPr indent="0" marL="0">
              <a:buNone/>
            </a:pPr>
            <a:r>
              <a:rPr lang="en-US" sz="9600" b="1" dirty="0">
                <a:solidFill>
                  <a:srgbClr val="C8102E"/>
                </a:solidFill>
                <a:latin typeface="Calibri" pitchFamily="34" charset="0"/>
                <a:ea typeface="Calibri" pitchFamily="34" charset="-122"/>
                <a:cs typeface="Calibri" pitchFamily="34" charset="-120"/>
              </a:rPr>
              <a:t>“</a:t>
            </a:r>
            <a:endParaRPr lang="en-US" sz="9600" dirty="0"/>
          </a:p>
        </p:txBody>
      </p:sp>
      <p:sp>
        <p:nvSpPr>
          <p:cNvPr id="4" name="Shape 2"/>
          <p:cNvSpPr/>
          <p:nvPr/>
        </p:nvSpPr>
        <p:spPr>
          <a:xfrm>
            <a:off x="1371600" y="1371600"/>
            <a:ext cx="45720" cy="2743200"/>
          </a:xfrm>
          <a:prstGeom prst="rect">
            <a:avLst/>
          </a:prstGeom>
          <a:solidFill>
            <a:srgbClr val="C8102E"/>
          </a:solidFill>
          <a:ln/>
        </p:spPr>
      </p:sp>
      <p:sp>
        <p:nvSpPr>
          <p:cNvPr id="5" name="Text 3"/>
          <p:cNvSpPr/>
          <p:nvPr/>
        </p:nvSpPr>
        <p:spPr>
          <a:xfrm>
            <a:off x="1645920" y="1371600"/>
            <a:ext cx="9722815" cy="2743200"/>
          </a:xfrm>
          <a:prstGeom prst="rect">
            <a:avLst/>
          </a:prstGeom>
          <a:noFill/>
          <a:ln/>
        </p:spPr>
        <p:txBody>
          <a:bodyPr wrap="square" rtlCol="0" anchor="ctr"/>
          <a:lstStyle/>
          <a:p>
            <a:pPr algn="l" indent="0" marL="0">
              <a:buNone/>
            </a:pPr>
            <a:r>
              <a:rPr lang="en-US" sz="2000" i="1" dirty="0">
                <a:solidFill>
                  <a:srgbClr val="222222"/>
                </a:solidFill>
                <a:latin typeface="Calibri" pitchFamily="34" charset="0"/>
                <a:ea typeface="Calibri" pitchFamily="34" charset="-122"/>
                <a:cs typeface="Calibri" pitchFamily="34" charset="-120"/>
              </a:rPr>
              <a:t>Gidin, ülkemde güven içinde yaşayın. Size kötülük yapana lanet olsun.</a:t>
            </a:r>
            <a:endParaRPr lang="en-US" sz="2000" dirty="0"/>
          </a:p>
        </p:txBody>
      </p:sp>
      <p:sp>
        <p:nvSpPr>
          <p:cNvPr id="6" name="Text 4"/>
          <p:cNvSpPr/>
          <p:nvPr/>
        </p:nvSpPr>
        <p:spPr>
          <a:xfrm>
            <a:off x="1645920" y="4572000"/>
            <a:ext cx="9722815" cy="457200"/>
          </a:xfrm>
          <a:prstGeom prst="rect">
            <a:avLst/>
          </a:prstGeom>
          <a:noFill/>
          <a:ln/>
        </p:spPr>
        <p:txBody>
          <a:bodyPr wrap="square" rtlCol="0" anchor="ctr"/>
          <a:lstStyle/>
          <a:p>
            <a:pPr algn="r" indent="0" marL="0">
              <a:buNone/>
            </a:pPr>
            <a:r>
              <a:rPr lang="en-US" sz="1400" dirty="0">
                <a:solidFill>
                  <a:srgbClr val="666666"/>
                </a:solidFill>
                <a:latin typeface="Calibri" pitchFamily="34" charset="0"/>
                <a:ea typeface="Calibri" pitchFamily="34" charset="-122"/>
                <a:cs typeface="Calibri" pitchFamily="34" charset="-120"/>
              </a:rPr>
              <a:t>— Necâşî (Habeşistan Kralı)</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Shape 1"/>
          <p:cNvSpPr/>
          <p:nvPr/>
        </p:nvSpPr>
        <p:spPr>
          <a:xfrm>
            <a:off x="5181448" y="2057400"/>
            <a:ext cx="1828800" cy="27432"/>
          </a:xfrm>
          <a:prstGeom prst="rect">
            <a:avLst/>
          </a:prstGeom>
          <a:solidFill>
            <a:srgbClr val="C8102E"/>
          </a:solidFill>
          <a:ln/>
        </p:spPr>
      </p:sp>
      <p:sp>
        <p:nvSpPr>
          <p:cNvPr id="4" name="Text 2"/>
          <p:cNvSpPr/>
          <p:nvPr/>
        </p:nvSpPr>
        <p:spPr>
          <a:xfrm>
            <a:off x="1463040" y="2331720"/>
            <a:ext cx="9265615" cy="2286000"/>
          </a:xfrm>
          <a:prstGeom prst="rect">
            <a:avLst/>
          </a:prstGeom>
          <a:noFill/>
          <a:ln/>
        </p:spPr>
        <p:txBody>
          <a:bodyPr wrap="square" rtlCol="0" anchor="ctr"/>
          <a:lstStyle/>
          <a:p>
            <a:pPr algn="ctr" indent="0" marL="0">
              <a:buNone/>
            </a:pPr>
            <a:r>
              <a:rPr lang="en-US" sz="2000" i="1" dirty="0">
                <a:solidFill>
                  <a:srgbClr val="8B0000"/>
                </a:solidFill>
                <a:latin typeface="Calibri" pitchFamily="34" charset="0"/>
                <a:ea typeface="Calibri" pitchFamily="34" charset="-122"/>
                <a:cs typeface="Calibri" pitchFamily="34" charset="-120"/>
              </a:rPr>
              <a:t>Zulme uğradıktan sonra Allah yolunda hicret edenleri dünyada güzel bir şekilde yerleştireceğiz. Âhiret mükâfatı ise daha büyüktür.</a:t>
            </a:r>
            <a:endParaRPr lang="en-US" sz="2000" dirty="0"/>
          </a:p>
        </p:txBody>
      </p:sp>
      <p:sp>
        <p:nvSpPr>
          <p:cNvPr id="5" name="Shape 3"/>
          <p:cNvSpPr/>
          <p:nvPr/>
        </p:nvSpPr>
        <p:spPr>
          <a:xfrm>
            <a:off x="5181448" y="4800600"/>
            <a:ext cx="1828800" cy="27432"/>
          </a:xfrm>
          <a:prstGeom prst="rect">
            <a:avLst/>
          </a:prstGeom>
          <a:solidFill>
            <a:srgbClr val="C8102E"/>
          </a:solidFill>
          <a:ln/>
        </p:spPr>
      </p:sp>
      <p:sp>
        <p:nvSpPr>
          <p:cNvPr id="6" name="Text 4"/>
          <p:cNvSpPr/>
          <p:nvPr/>
        </p:nvSpPr>
        <p:spPr>
          <a:xfrm>
            <a:off x="1463040" y="5074920"/>
            <a:ext cx="9265615" cy="45720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Nahl Sûresi, 41. Âyet-i Kerîme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Degerin Boyutlari</a:t>
            </a:r>
            <a:endParaRPr lang="en-US" sz="2400" dirty="0"/>
          </a:p>
        </p:txBody>
      </p:sp>
      <p:sp>
        <p:nvSpPr>
          <p:cNvPr id="4" name="Shape 2"/>
          <p:cNvSpPr/>
          <p:nvPr/>
        </p:nvSpPr>
        <p:spPr>
          <a:xfrm>
            <a:off x="548640" y="1005840"/>
            <a:ext cx="2636444" cy="4114800"/>
          </a:xfrm>
          <a:prstGeom prst="roundRect">
            <a:avLst>
              <a:gd name="adj" fmla="val 3468"/>
            </a:avLst>
          </a:prstGeom>
          <a:solidFill>
            <a:srgbClr val="FCEAED"/>
          </a:solidFill>
          <a:ln/>
        </p:spPr>
      </p:sp>
      <p:sp>
        <p:nvSpPr>
          <p:cNvPr id="5" name="Text 3"/>
          <p:cNvSpPr/>
          <p:nvPr/>
        </p:nvSpPr>
        <p:spPr>
          <a:xfrm>
            <a:off x="548640"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640080"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Kardeşlik Dayanışması</a:t>
            </a:r>
            <a:endParaRPr lang="en-US" sz="1300" dirty="0"/>
          </a:p>
        </p:txBody>
      </p:sp>
      <p:sp>
        <p:nvSpPr>
          <p:cNvPr id="7" name="Text 5"/>
          <p:cNvSpPr/>
          <p:nvPr/>
        </p:nvSpPr>
        <p:spPr>
          <a:xfrm>
            <a:off x="640080"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Zor zamanlarda birbirinin yanında olmak, yardımlaşmak ve kimseyi yalnız bırakmamak.</a:t>
            </a:r>
            <a:endParaRPr lang="en-US" sz="1000" dirty="0"/>
          </a:p>
        </p:txBody>
      </p:sp>
      <p:sp>
        <p:nvSpPr>
          <p:cNvPr id="8" name="Shape 6"/>
          <p:cNvSpPr/>
          <p:nvPr/>
        </p:nvSpPr>
        <p:spPr>
          <a:xfrm>
            <a:off x="3367964" y="1005840"/>
            <a:ext cx="2636444" cy="4114800"/>
          </a:xfrm>
          <a:prstGeom prst="roundRect">
            <a:avLst>
              <a:gd name="adj" fmla="val 3468"/>
            </a:avLst>
          </a:prstGeom>
          <a:solidFill>
            <a:srgbClr val="FCEAED"/>
          </a:solidFill>
          <a:ln/>
        </p:spPr>
      </p:sp>
      <p:sp>
        <p:nvSpPr>
          <p:cNvPr id="9" name="Text 7"/>
          <p:cNvSpPr/>
          <p:nvPr/>
        </p:nvSpPr>
        <p:spPr>
          <a:xfrm>
            <a:off x="3367964"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3459404"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Mazlumlara Sahip Çıkmak</a:t>
            </a:r>
            <a:endParaRPr lang="en-US" sz="1300" dirty="0"/>
          </a:p>
        </p:txBody>
      </p:sp>
      <p:sp>
        <p:nvSpPr>
          <p:cNvPr id="11" name="Text 9"/>
          <p:cNvSpPr/>
          <p:nvPr/>
        </p:nvSpPr>
        <p:spPr>
          <a:xfrm>
            <a:off x="3459404"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Haksızlığa uğrayanlara destek olmak, onları korumak ve seslerini duyurmalarına yardımcı olmak.</a:t>
            </a:r>
            <a:endParaRPr lang="en-US" sz="1000" dirty="0"/>
          </a:p>
        </p:txBody>
      </p:sp>
      <p:sp>
        <p:nvSpPr>
          <p:cNvPr id="12" name="Shape 10"/>
          <p:cNvSpPr/>
          <p:nvPr/>
        </p:nvSpPr>
        <p:spPr>
          <a:xfrm>
            <a:off x="6187288" y="1005840"/>
            <a:ext cx="2636444" cy="4114800"/>
          </a:xfrm>
          <a:prstGeom prst="roundRect">
            <a:avLst>
              <a:gd name="adj" fmla="val 3468"/>
            </a:avLst>
          </a:prstGeom>
          <a:solidFill>
            <a:srgbClr val="FCEAED"/>
          </a:solidFill>
          <a:ln/>
        </p:spPr>
      </p:sp>
      <p:sp>
        <p:nvSpPr>
          <p:cNvPr id="13" name="Text 11"/>
          <p:cNvSpPr/>
          <p:nvPr/>
        </p:nvSpPr>
        <p:spPr>
          <a:xfrm>
            <a:off x="6187288"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6278728"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Kültürlerarası Saygı</a:t>
            </a:r>
            <a:endParaRPr lang="en-US" sz="1300" dirty="0"/>
          </a:p>
        </p:txBody>
      </p:sp>
      <p:sp>
        <p:nvSpPr>
          <p:cNvPr id="15" name="Text 13"/>
          <p:cNvSpPr/>
          <p:nvPr/>
        </p:nvSpPr>
        <p:spPr>
          <a:xfrm>
            <a:off x="6278728"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Farklı din, dil ve kültürden insanlarla saygılı ve adil ilişkiler kurmak.</a:t>
            </a:r>
            <a:endParaRPr lang="en-US" sz="1000" dirty="0"/>
          </a:p>
        </p:txBody>
      </p:sp>
      <p:sp>
        <p:nvSpPr>
          <p:cNvPr id="16" name="Shape 14"/>
          <p:cNvSpPr/>
          <p:nvPr/>
        </p:nvSpPr>
        <p:spPr>
          <a:xfrm>
            <a:off x="9006611" y="1005840"/>
            <a:ext cx="2636444" cy="4114800"/>
          </a:xfrm>
          <a:prstGeom prst="roundRect">
            <a:avLst>
              <a:gd name="adj" fmla="val 3468"/>
            </a:avLst>
          </a:prstGeom>
          <a:solidFill>
            <a:srgbClr val="FCEAED"/>
          </a:solidFill>
          <a:ln/>
        </p:spPr>
      </p:sp>
      <p:sp>
        <p:nvSpPr>
          <p:cNvPr id="17" name="Text 15"/>
          <p:cNvSpPr/>
          <p:nvPr/>
        </p:nvSpPr>
        <p:spPr>
          <a:xfrm>
            <a:off x="9006611"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9098051"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Toplumsal Sorumluluk</a:t>
            </a:r>
            <a:endParaRPr lang="en-US" sz="1300" dirty="0"/>
          </a:p>
        </p:txBody>
      </p:sp>
      <p:sp>
        <p:nvSpPr>
          <p:cNvPr id="19" name="Text 17"/>
          <p:cNvSpPr/>
          <p:nvPr/>
        </p:nvSpPr>
        <p:spPr>
          <a:xfrm>
            <a:off x="9098051"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Toplumda adaletin sağlanması için sorumluluk almak ve katkıda bulunmak.</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Yeni Gelen Öğrenci</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Sınıfınıza başka bir şehirden, farklı bir kültürden yeni bir öğrenci geldi. Türkçesi biraz farklı ve alışkanlıkları sizinkinden farklı. Bazı arkadaşların onu dışlıyor ve dalga geçiyor. Yeni öğrenci teneffüslerde hep yalnız kalıyor.</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Yanına gider tanışır, okulda ona rehberlik eder...</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Dalga geçen arkadaşlarımı uyarır, öğretmene de ...</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Herkes kendi hâlinde, bana ne derim.</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Deprem Yardımı</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Başka bir şehirde deprem oldu ve çok sayıda aile evsiz kaldı. Okulunuz yardım kampanyası düzenliyor. Biriktirdiğin harçlığınla ya yeni bir oyun alabilirsin ya da depremzedelere bağışlayabilirsin.</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Harçlığımın bir kısmını bağışlar, arkadaşlarımı...</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Harçlığımın tamamını bağışlarım.</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Harçlığımı kendime ayırır, yardıma katılmam.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Engelli Arkadaş</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Mahallene engelli bir çocuk taşındı. Dışarı çıkmak istiyor ama tekerlekli sandalyesiyle parka gidemediği için evde kalıyor. Arkadaşların 'O bizimle oynayamaz' diyorlar.</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Engelli arkadaşımı parka götürmek için aile ola...</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Arkadaşlarıma engelli arkadaşımızı oyuna dahil ...</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Arkadaşlarımın dediğini yapar, engelli çocukla ...</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İftar Dayanışması</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Ramazan ayında sınıf arkadaşının ailesinin maddi durumu iyi değil ve iftar sofrası hazırlayamıyorlar. Bunu tesadüfen öğrendin. Arkadaşın bu durumun bilinmesini istemiyor ve çok mahcup.</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Kimseye söylemeden aileme durumu anlatır, birli...</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Öğretmenimle özel konuşur, okul aracılığıyla ya...</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Arkadaşımın mahcup olmaması için hiçbir şey yap...</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274320"/>
            <a:ext cx="12191695" cy="5486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Quiz</a:t>
            </a:r>
            <a:endParaRPr lang="en-US" sz="2800" dirty="0"/>
          </a:p>
        </p:txBody>
      </p:sp>
      <p:sp>
        <p:nvSpPr>
          <p:cNvPr id="5" name="Shape 3"/>
          <p:cNvSpPr/>
          <p:nvPr/>
        </p:nvSpPr>
        <p:spPr>
          <a:xfrm>
            <a:off x="1005840" y="1097280"/>
            <a:ext cx="3210458" cy="4572000"/>
          </a:xfrm>
          <a:prstGeom prst="roundRect">
            <a:avLst>
              <a:gd name="adj" fmla="val 2848"/>
            </a:avLst>
          </a:prstGeom>
          <a:solidFill>
            <a:srgbClr val="FFFFFF">
              <a:alpha val="90000"/>
            </a:srgbClr>
          </a:solidFill>
          <a:ln/>
        </p:spPr>
      </p:sp>
      <p:sp>
        <p:nvSpPr>
          <p:cNvPr id="6" name="Text 4"/>
          <p:cNvSpPr/>
          <p:nvPr/>
        </p:nvSpPr>
        <p:spPr>
          <a:xfrm>
            <a:off x="1143000"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İslâm tarihindeki ilk hicret nereye yapılmıştır?</a:t>
            </a:r>
            <a:endParaRPr lang="en-US" sz="1100" dirty="0"/>
          </a:p>
        </p:txBody>
      </p:sp>
      <p:sp>
        <p:nvSpPr>
          <p:cNvPr id="7" name="Text 5"/>
          <p:cNvSpPr/>
          <p:nvPr/>
        </p:nvSpPr>
        <p:spPr>
          <a:xfrm>
            <a:off x="1143000"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Medine'ye</a:t>
            </a:r>
            <a:endParaRPr lang="en-US" sz="900" dirty="0"/>
          </a:p>
        </p:txBody>
      </p:sp>
      <p:sp>
        <p:nvSpPr>
          <p:cNvPr id="8" name="Text 6"/>
          <p:cNvSpPr/>
          <p:nvPr/>
        </p:nvSpPr>
        <p:spPr>
          <a:xfrm>
            <a:off x="1143000"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Habeşistan'a</a:t>
            </a:r>
            <a:endParaRPr lang="en-US" sz="900" dirty="0"/>
          </a:p>
        </p:txBody>
      </p:sp>
      <p:sp>
        <p:nvSpPr>
          <p:cNvPr id="9" name="Text 7"/>
          <p:cNvSpPr/>
          <p:nvPr/>
        </p:nvSpPr>
        <p:spPr>
          <a:xfrm>
            <a:off x="1143000"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Taif'e</a:t>
            </a:r>
            <a:endParaRPr lang="en-US" sz="900" dirty="0"/>
          </a:p>
        </p:txBody>
      </p:sp>
      <p:sp>
        <p:nvSpPr>
          <p:cNvPr id="10" name="Text 8"/>
          <p:cNvSpPr/>
          <p:nvPr/>
        </p:nvSpPr>
        <p:spPr>
          <a:xfrm>
            <a:off x="1143000"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Şam'a</a:t>
            </a:r>
            <a:endParaRPr lang="en-US" sz="900" dirty="0"/>
          </a:p>
        </p:txBody>
      </p:sp>
      <p:sp>
        <p:nvSpPr>
          <p:cNvPr id="11" name="Shape 9"/>
          <p:cNvSpPr/>
          <p:nvPr/>
        </p:nvSpPr>
        <p:spPr>
          <a:xfrm>
            <a:off x="4490618" y="1097280"/>
            <a:ext cx="3210458" cy="4572000"/>
          </a:xfrm>
          <a:prstGeom prst="roundRect">
            <a:avLst>
              <a:gd name="adj" fmla="val 2848"/>
            </a:avLst>
          </a:prstGeom>
          <a:solidFill>
            <a:srgbClr val="FFFFFF">
              <a:alpha val="90000"/>
            </a:srgbClr>
          </a:solidFill>
          <a:ln/>
        </p:spPr>
      </p:sp>
      <p:sp>
        <p:nvSpPr>
          <p:cNvPr id="12" name="Text 10"/>
          <p:cNvSpPr/>
          <p:nvPr/>
        </p:nvSpPr>
        <p:spPr>
          <a:xfrm>
            <a:off x="4627778"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Hz. Ca'fer radıyallahu anh, Necâşî'nin huzurunda hangi sûreden âyetler okumuştur?</a:t>
            </a:r>
            <a:endParaRPr lang="en-US" sz="1100" dirty="0"/>
          </a:p>
        </p:txBody>
      </p:sp>
      <p:sp>
        <p:nvSpPr>
          <p:cNvPr id="13" name="Text 11"/>
          <p:cNvSpPr/>
          <p:nvPr/>
        </p:nvSpPr>
        <p:spPr>
          <a:xfrm>
            <a:off x="4627778"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Fâtiha Sûresi</a:t>
            </a:r>
            <a:endParaRPr lang="en-US" sz="900" dirty="0"/>
          </a:p>
        </p:txBody>
      </p:sp>
      <p:sp>
        <p:nvSpPr>
          <p:cNvPr id="14" name="Text 12"/>
          <p:cNvSpPr/>
          <p:nvPr/>
        </p:nvSpPr>
        <p:spPr>
          <a:xfrm>
            <a:off x="4627778"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Yâsîn Sûresi</a:t>
            </a:r>
            <a:endParaRPr lang="en-US" sz="900" dirty="0"/>
          </a:p>
        </p:txBody>
      </p:sp>
      <p:sp>
        <p:nvSpPr>
          <p:cNvPr id="15" name="Text 13"/>
          <p:cNvSpPr/>
          <p:nvPr/>
        </p:nvSpPr>
        <p:spPr>
          <a:xfrm>
            <a:off x="4627778"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Meryem Sûresi</a:t>
            </a:r>
            <a:endParaRPr lang="en-US" sz="900" dirty="0"/>
          </a:p>
        </p:txBody>
      </p:sp>
      <p:sp>
        <p:nvSpPr>
          <p:cNvPr id="16" name="Text 14"/>
          <p:cNvSpPr/>
          <p:nvPr/>
        </p:nvSpPr>
        <p:spPr>
          <a:xfrm>
            <a:off x="4627778"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Bakara Sûresi</a:t>
            </a:r>
            <a:endParaRPr lang="en-US" sz="900" dirty="0"/>
          </a:p>
        </p:txBody>
      </p:sp>
      <p:sp>
        <p:nvSpPr>
          <p:cNvPr id="17" name="Shape 15"/>
          <p:cNvSpPr/>
          <p:nvPr/>
        </p:nvSpPr>
        <p:spPr>
          <a:xfrm>
            <a:off x="7975397" y="1097280"/>
            <a:ext cx="3210458" cy="4572000"/>
          </a:xfrm>
          <a:prstGeom prst="roundRect">
            <a:avLst>
              <a:gd name="adj" fmla="val 2848"/>
            </a:avLst>
          </a:prstGeom>
          <a:solidFill>
            <a:srgbClr val="FFFFFF">
              <a:alpha val="90000"/>
            </a:srgbClr>
          </a:solidFill>
          <a:ln/>
        </p:spPr>
      </p:sp>
      <p:sp>
        <p:nvSpPr>
          <p:cNvPr id="18" name="Text 16"/>
          <p:cNvSpPr/>
          <p:nvPr/>
        </p:nvSpPr>
        <p:spPr>
          <a:xfrm>
            <a:off x="8112557"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Dayanışma ne demektir?</a:t>
            </a:r>
            <a:endParaRPr lang="en-US" sz="1100" dirty="0"/>
          </a:p>
        </p:txBody>
      </p:sp>
      <p:sp>
        <p:nvSpPr>
          <p:cNvPr id="19" name="Text 17"/>
          <p:cNvSpPr/>
          <p:nvPr/>
        </p:nvSpPr>
        <p:spPr>
          <a:xfrm>
            <a:off x="8112557"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Sadece kendi aileme yardım etmek</a:t>
            </a:r>
            <a:endParaRPr lang="en-US" sz="900" dirty="0"/>
          </a:p>
        </p:txBody>
      </p:sp>
      <p:sp>
        <p:nvSpPr>
          <p:cNvPr id="20" name="Text 18"/>
          <p:cNvSpPr/>
          <p:nvPr/>
        </p:nvSpPr>
        <p:spPr>
          <a:xfrm>
            <a:off x="8112557"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Zor zamanlarda birbirinin yanında olmak ve yardımlaşmak</a:t>
            </a:r>
            <a:endParaRPr lang="en-US" sz="900" dirty="0"/>
          </a:p>
        </p:txBody>
      </p:sp>
      <p:sp>
        <p:nvSpPr>
          <p:cNvPr id="21" name="Text 19"/>
          <p:cNvSpPr/>
          <p:nvPr/>
        </p:nvSpPr>
        <p:spPr>
          <a:xfrm>
            <a:off x="8112557"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Sadece arkadaşlarıma destek olmak</a:t>
            </a:r>
            <a:endParaRPr lang="en-US" sz="900" dirty="0"/>
          </a:p>
        </p:txBody>
      </p:sp>
      <p:sp>
        <p:nvSpPr>
          <p:cNvPr id="22" name="Text 20"/>
          <p:cNvSpPr/>
          <p:nvPr/>
        </p:nvSpPr>
        <p:spPr>
          <a:xfrm>
            <a:off x="8112557"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Sadece zenginlerin fakire yardımı</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91440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
        <p:nvSpPr>
          <p:cNvPr id="5" name="Text 3"/>
          <p:cNvSpPr/>
          <p:nvPr/>
        </p:nvSpPr>
        <p:spPr>
          <a:xfrm>
            <a:off x="1371600" y="1828800"/>
            <a:ext cx="9448495" cy="2743200"/>
          </a:xfrm>
          <a:prstGeom prst="rect">
            <a:avLst/>
          </a:prstGeom>
          <a:noFill/>
          <a:ln/>
        </p:spPr>
        <p:txBody>
          <a:bodyPr wrap="square" rtlCol="0" anchor="ctr"/>
          <a:lstStyle/>
          <a:p>
            <a:pPr algn="ctr" indent="0" marL="0">
              <a:buNone/>
            </a:pPr>
            <a:r>
              <a:rPr lang="en-US" sz="2400" i="1" dirty="0">
                <a:solidFill>
                  <a:srgbClr val="FFFFFF"/>
                </a:solidFill>
                <a:latin typeface="Calibri" pitchFamily="34" charset="0"/>
                <a:ea typeface="Calibri" pitchFamily="34" charset="-122"/>
                <a:cs typeface="Calibri" pitchFamily="34" charset="-120"/>
              </a:rPr>
              <a:t>Zulme uğradıktan sonra Allah yolunda hicret edenleri dünyada güzel bir şekilde yerleştireceğiz. Âhiret mükâfatı ise daha büyüktür.</a:t>
            </a:r>
            <a:endParaRPr lang="en-US" sz="2400" dirty="0"/>
          </a:p>
        </p:txBody>
      </p:sp>
      <p:sp>
        <p:nvSpPr>
          <p:cNvPr id="6" name="Text 4"/>
          <p:cNvSpPr/>
          <p:nvPr/>
        </p:nvSpPr>
        <p:spPr>
          <a:xfrm>
            <a:off x="1371600" y="4754880"/>
            <a:ext cx="94484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Nahl Sûresi, 41. Âyet-i Kerîme</a:t>
            </a:r>
            <a:endParaRPr lang="en-US" sz="1400" dirty="0"/>
          </a:p>
        </p:txBody>
      </p:sp>
      <p:sp>
        <p:nvSpPr>
          <p:cNvPr id="7" name="Text 5"/>
          <p:cNvSpPr/>
          <p:nvPr/>
        </p:nvSpPr>
        <p:spPr>
          <a:xfrm>
            <a:off x="0" y="530352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Duesuenelim</a:t>
            </a:r>
            <a:endParaRPr lang="en-US" sz="2400" dirty="0"/>
          </a:p>
        </p:txBody>
      </p:sp>
      <p:sp>
        <p:nvSpPr>
          <p:cNvPr id="4" name="Shape 2"/>
          <p:cNvSpPr/>
          <p:nvPr/>
        </p:nvSpPr>
        <p:spPr>
          <a:xfrm>
            <a:off x="548640" y="1005840"/>
            <a:ext cx="11094415" cy="1463040"/>
          </a:xfrm>
          <a:prstGeom prst="roundRect">
            <a:avLst>
              <a:gd name="adj" fmla="val 5000"/>
            </a:avLst>
          </a:prstGeom>
          <a:solidFill>
            <a:srgbClr val="FCEAED"/>
          </a:solidFill>
          <a:ln/>
        </p:spPr>
      </p:sp>
      <p:sp>
        <p:nvSpPr>
          <p:cNvPr id="5" name="Text 3"/>
          <p:cNvSpPr/>
          <p:nvPr/>
        </p:nvSpPr>
        <p:spPr>
          <a:xfrm>
            <a:off x="685800" y="114300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005840" y="114300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Zor bir durumda birileri bana yardım etti mi? Nasıl hissettirdi?</a:t>
            </a:r>
            <a:endParaRPr lang="en-US" sz="1600" dirty="0"/>
          </a:p>
        </p:txBody>
      </p:sp>
      <p:sp>
        <p:nvSpPr>
          <p:cNvPr id="7" name="Shape 5"/>
          <p:cNvSpPr/>
          <p:nvPr/>
        </p:nvSpPr>
        <p:spPr>
          <a:xfrm>
            <a:off x="548640" y="2651760"/>
            <a:ext cx="11094415" cy="1463040"/>
          </a:xfrm>
          <a:prstGeom prst="roundRect">
            <a:avLst>
              <a:gd name="adj" fmla="val 5000"/>
            </a:avLst>
          </a:prstGeom>
          <a:solidFill>
            <a:srgbClr val="FCEAED"/>
          </a:solidFill>
          <a:ln/>
        </p:spPr>
      </p:sp>
      <p:sp>
        <p:nvSpPr>
          <p:cNvPr id="8" name="Text 6"/>
          <p:cNvSpPr/>
          <p:nvPr/>
        </p:nvSpPr>
        <p:spPr>
          <a:xfrm>
            <a:off x="685800" y="278892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005840" y="278892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Son zamanlarda birine yardım ettiğim bir an var mı? Bunu yapınca ne hissettim?</a:t>
            </a:r>
            <a:endParaRPr lang="en-US" sz="1600" dirty="0"/>
          </a:p>
        </p:txBody>
      </p:sp>
      <p:sp>
        <p:nvSpPr>
          <p:cNvPr id="10" name="Shape 8"/>
          <p:cNvSpPr/>
          <p:nvPr/>
        </p:nvSpPr>
        <p:spPr>
          <a:xfrm>
            <a:off x="548640" y="4297680"/>
            <a:ext cx="11094415" cy="1463040"/>
          </a:xfrm>
          <a:prstGeom prst="roundRect">
            <a:avLst>
              <a:gd name="adj" fmla="val 5000"/>
            </a:avLst>
          </a:prstGeom>
          <a:solidFill>
            <a:srgbClr val="FCEAED"/>
          </a:solidFill>
          <a:ln/>
        </p:spPr>
      </p:sp>
      <p:sp>
        <p:nvSpPr>
          <p:cNvPr id="11" name="Text 9"/>
          <p:cNvSpPr/>
          <p:nvPr/>
        </p:nvSpPr>
        <p:spPr>
          <a:xfrm>
            <a:off x="685800" y="443484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005840" y="443484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Etrafımda dışlanan veya yardıma ihtiyacı olan biri var mı? Ona ne yapabilirim?</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1645920"/>
            <a:ext cx="12191695" cy="109728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5" name="Text 3"/>
          <p:cNvSpPr/>
          <p:nvPr/>
        </p:nvSpPr>
        <p:spPr>
          <a:xfrm>
            <a:off x="0" y="2926080"/>
            <a:ext cx="12191695" cy="91440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Birlikte Iyilik Akademisi</a:t>
            </a:r>
            <a:endParaRPr lang="en-US" sz="3200" dirty="0"/>
          </a:p>
        </p:txBody>
      </p:sp>
      <p:sp>
        <p:nvSpPr>
          <p:cNvPr id="6" name="Text 4"/>
          <p:cNvSpPr/>
          <p:nvPr/>
        </p:nvSpPr>
        <p:spPr>
          <a:xfrm>
            <a:off x="0" y="3840480"/>
            <a:ext cx="12191695" cy="548640"/>
          </a:xfrm>
          <a:prstGeom prst="rect">
            <a:avLst/>
          </a:prstGeom>
          <a:noFill/>
          <a:ln/>
        </p:spPr>
        <p:txBody>
          <a:bodyPr wrap="square" rtlCol="0" anchor="ctr"/>
          <a:lstStyle/>
          <a:p>
            <a:pPr algn="ctr" indent="0" marL="0">
              <a:buNone/>
            </a:pPr>
            <a:r>
              <a:rPr lang="en-US" sz="1800" dirty="0">
                <a:solidFill>
                  <a:srgbClr val="FCEAED"/>
                </a:solidFill>
                <a:latin typeface="Calibri" pitchFamily="34" charset="0"/>
                <a:ea typeface="Calibri" pitchFamily="34" charset="-122"/>
                <a:cs typeface="Calibri" pitchFamily="34" charset="-120"/>
              </a:rPr>
              <a:t>Degerler Egitimi</a:t>
            </a:r>
            <a:endParaRPr lang="en-US" sz="1800" dirty="0"/>
          </a:p>
        </p:txBody>
      </p:sp>
      <p:sp>
        <p:nvSpPr>
          <p:cNvPr id="7" name="Text 5"/>
          <p:cNvSpPr/>
          <p:nvPr/>
        </p:nvSpPr>
        <p:spPr>
          <a:xfrm>
            <a:off x="0" y="4754880"/>
            <a:ext cx="12191695" cy="457200"/>
          </a:xfrm>
          <a:prstGeom prst="rect">
            <a:avLst/>
          </a:prstGeom>
          <a:noFill/>
          <a:ln/>
        </p:spPr>
        <p:txBody>
          <a:bodyPr wrap="square" rtlCol="0" anchor="ctr"/>
          <a:lstStyle/>
          <a:p>
            <a:pPr algn="ctr" indent="0" marL="0">
              <a:buNone/>
            </a:pPr>
            <a:r>
              <a:rPr lang="en-US" sz="1600" i="1" dirty="0">
                <a:solidFill>
                  <a:srgbClr val="FCEAED"/>
                </a:solidFill>
                <a:latin typeface="Calibri" pitchFamily="34" charset="0"/>
                <a:ea typeface="Calibri" pitchFamily="34" charset="-122"/>
                <a:cs typeface="Calibri" pitchFamily="34" charset="-120"/>
              </a:rPr>
              <a:t>Ders 08</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Dayanışma ve Sığınma</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