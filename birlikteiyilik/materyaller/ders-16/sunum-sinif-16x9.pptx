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Lst>
  <p:notesMasterIdLst>
    <p:notesMasterId r:id="rId15"/>
  </p:notesMasterIdLst>
  <p:sldSz cx="12191695" cy="6858000"/>
  <p:notesSz cx="6858000" cy="12191695"/>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notesMaster" Target="notesMasters/notesMaster1.xml"/><Relationship Id="rId16" Type="http://schemas.openxmlformats.org/officeDocument/2006/relationships/presProps" Target="presProps.xml"/><Relationship Id="rId17" Type="http://schemas.openxmlformats.org/officeDocument/2006/relationships/viewProps" Target="viewProps.xml"/><Relationship Id="rId18" Type="http://schemas.openxmlformats.org/officeDocument/2006/relationships/theme" Target="theme/theme1.xml"/><Relationship Id="rId19"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457200"/>
            <a:ext cx="121916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Birlikte Iyilik Akademisi</a:t>
            </a:r>
            <a:endParaRPr lang="en-US" sz="1400" dirty="0"/>
          </a:p>
        </p:txBody>
      </p:sp>
      <p:sp>
        <p:nvSpPr>
          <p:cNvPr id="5" name="Text 3"/>
          <p:cNvSpPr/>
          <p:nvPr/>
        </p:nvSpPr>
        <p:spPr>
          <a:xfrm>
            <a:off x="1371600" y="2011680"/>
            <a:ext cx="9448495" cy="1371600"/>
          </a:xfrm>
          <a:prstGeom prst="rect">
            <a:avLst/>
          </a:prstGeom>
          <a:noFill/>
          <a:ln/>
        </p:spPr>
        <p:txBody>
          <a:bodyPr wrap="square" rtlCol="0" anchor="ctr"/>
          <a:lstStyle/>
          <a:p>
            <a:pPr algn="ctr" indent="0" marL="0">
              <a:buNone/>
            </a:pPr>
            <a:r>
              <a:rPr lang="en-US" sz="4000" b="1" dirty="0">
                <a:solidFill>
                  <a:srgbClr val="FFFFFF"/>
                </a:solidFill>
                <a:latin typeface="Calibri" pitchFamily="34" charset="0"/>
                <a:ea typeface="Calibri" pitchFamily="34" charset="-122"/>
                <a:cs typeface="Calibri" pitchFamily="34" charset="-120"/>
              </a:rPr>
              <a:t>Cesaret ve İman</a:t>
            </a:r>
            <a:endParaRPr lang="en-US" sz="4000" dirty="0"/>
          </a:p>
        </p:txBody>
      </p:sp>
      <p:sp>
        <p:nvSpPr>
          <p:cNvPr id="6" name="Text 4"/>
          <p:cNvSpPr/>
          <p:nvPr/>
        </p:nvSpPr>
        <p:spPr>
          <a:xfrm>
            <a:off x="1828800" y="3474720"/>
            <a:ext cx="8534095" cy="548640"/>
          </a:xfrm>
          <a:prstGeom prst="rect">
            <a:avLst/>
          </a:prstGeom>
          <a:noFill/>
          <a:ln/>
        </p:spPr>
        <p:txBody>
          <a:bodyPr wrap="square" rtlCol="0" anchor="ctr"/>
          <a:lstStyle/>
          <a:p>
            <a:pPr algn="ctr" indent="0" marL="0">
              <a:buNone/>
            </a:pPr>
            <a:r>
              <a:rPr lang="en-US" sz="2000" i="1" dirty="0">
                <a:solidFill>
                  <a:srgbClr val="FCEAED"/>
                </a:solidFill>
                <a:latin typeface="Calibri" pitchFamily="34" charset="0"/>
                <a:ea typeface="Calibri" pitchFamily="34" charset="-122"/>
                <a:cs typeface="Calibri" pitchFamily="34" charset="-120"/>
              </a:rPr>
              <a:t>İman gücüyle zorluklara karşı cesaretle durmak</a:t>
            </a:r>
            <a:endParaRPr lang="en-US" sz="2000" dirty="0"/>
          </a:p>
        </p:txBody>
      </p:sp>
      <p:sp>
        <p:nvSpPr>
          <p:cNvPr id="7" name="Text 5"/>
          <p:cNvSpPr/>
          <p:nvPr/>
        </p:nvSpPr>
        <p:spPr>
          <a:xfrm>
            <a:off x="0" y="6035040"/>
            <a:ext cx="12191695" cy="457200"/>
          </a:xfrm>
          <a:prstGeom prst="rect">
            <a:avLst/>
          </a:prstGeom>
          <a:noFill/>
          <a:ln/>
        </p:spPr>
        <p:txBody>
          <a:bodyPr wrap="square" rtlCol="0" anchor="ctr"/>
          <a:lstStyle/>
          <a:p>
            <a:pPr algn="ctr" indent="0" marL="0">
              <a:buNone/>
            </a:pPr>
            <a:r>
              <a:rPr lang="en-US" sz="1200" dirty="0">
                <a:solidFill>
                  <a:srgbClr val="FCEAED"/>
                </a:solidFill>
                <a:latin typeface="Calibri" pitchFamily="34" charset="0"/>
                <a:ea typeface="Calibri" pitchFamily="34" charset="-122"/>
                <a:cs typeface="Calibri" pitchFamily="34" charset="-120"/>
              </a:rPr>
              <a:t>Degerler Egitimi</a:t>
            </a:r>
            <a:endParaRPr lang="en-US" sz="12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Buguen Ne Oegreneceegiz?</a:t>
            </a:r>
            <a:endParaRPr lang="en-US" sz="2400" dirty="0"/>
          </a:p>
        </p:txBody>
      </p:sp>
      <p:sp>
        <p:nvSpPr>
          <p:cNvPr id="4" name="Shape 2"/>
          <p:cNvSpPr/>
          <p:nvPr/>
        </p:nvSpPr>
        <p:spPr>
          <a:xfrm>
            <a:off x="548640" y="1097280"/>
            <a:ext cx="457200" cy="457200"/>
          </a:xfrm>
          <a:prstGeom prst="ellipse">
            <a:avLst/>
          </a:prstGeom>
          <a:solidFill>
            <a:srgbClr val="C8102E"/>
          </a:solidFill>
          <a:ln/>
        </p:spPr>
      </p:sp>
      <p:sp>
        <p:nvSpPr>
          <p:cNvPr id="5" name="Text 3"/>
          <p:cNvSpPr/>
          <p:nvPr/>
        </p:nvSpPr>
        <p:spPr>
          <a:xfrm>
            <a:off x="548640" y="109728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1</a:t>
            </a:r>
            <a:endParaRPr lang="en-US" sz="1600" dirty="0"/>
          </a:p>
        </p:txBody>
      </p:sp>
      <p:sp>
        <p:nvSpPr>
          <p:cNvPr id="6" name="Text 4"/>
          <p:cNvSpPr/>
          <p:nvPr/>
        </p:nvSpPr>
        <p:spPr>
          <a:xfrm>
            <a:off x="1188720" y="100584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Bedr Gazvesi'nin tarihî arka planını ve önemini açıklayabilirim.</a:t>
            </a:r>
            <a:endParaRPr lang="en-US" sz="1600" dirty="0"/>
          </a:p>
        </p:txBody>
      </p:sp>
      <p:sp>
        <p:nvSpPr>
          <p:cNvPr id="7" name="Shape 5"/>
          <p:cNvSpPr/>
          <p:nvPr/>
        </p:nvSpPr>
        <p:spPr>
          <a:xfrm>
            <a:off x="548640" y="2103120"/>
            <a:ext cx="457200" cy="457200"/>
          </a:xfrm>
          <a:prstGeom prst="ellipse">
            <a:avLst/>
          </a:prstGeom>
          <a:solidFill>
            <a:srgbClr val="C8102E"/>
          </a:solidFill>
          <a:ln/>
        </p:spPr>
      </p:sp>
      <p:sp>
        <p:nvSpPr>
          <p:cNvPr id="8" name="Text 6"/>
          <p:cNvSpPr/>
          <p:nvPr/>
        </p:nvSpPr>
        <p:spPr>
          <a:xfrm>
            <a:off x="548640" y="210312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2</a:t>
            </a:r>
            <a:endParaRPr lang="en-US" sz="1600" dirty="0"/>
          </a:p>
        </p:txBody>
      </p:sp>
      <p:sp>
        <p:nvSpPr>
          <p:cNvPr id="9" name="Text 7"/>
          <p:cNvSpPr/>
          <p:nvPr/>
        </p:nvSpPr>
        <p:spPr>
          <a:xfrm>
            <a:off x="1188720" y="201168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Mikdad radıyallahu anh'ın konuşmasındaki cesaret ve iman bağını yorumlayabilirim.</a:t>
            </a:r>
            <a:endParaRPr lang="en-US" sz="1600" dirty="0"/>
          </a:p>
        </p:txBody>
      </p:sp>
      <p:sp>
        <p:nvSpPr>
          <p:cNvPr id="10" name="Shape 8"/>
          <p:cNvSpPr/>
          <p:nvPr/>
        </p:nvSpPr>
        <p:spPr>
          <a:xfrm>
            <a:off x="548640" y="3108960"/>
            <a:ext cx="457200" cy="457200"/>
          </a:xfrm>
          <a:prstGeom prst="ellipse">
            <a:avLst/>
          </a:prstGeom>
          <a:solidFill>
            <a:srgbClr val="C8102E"/>
          </a:solidFill>
          <a:ln/>
        </p:spPr>
      </p:sp>
      <p:sp>
        <p:nvSpPr>
          <p:cNvPr id="11" name="Text 9"/>
          <p:cNvSpPr/>
          <p:nvPr/>
        </p:nvSpPr>
        <p:spPr>
          <a:xfrm>
            <a:off x="548640" y="310896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3</a:t>
            </a:r>
            <a:endParaRPr lang="en-US" sz="1600" dirty="0"/>
          </a:p>
        </p:txBody>
      </p:sp>
      <p:sp>
        <p:nvSpPr>
          <p:cNvPr id="12" name="Text 10"/>
          <p:cNvSpPr/>
          <p:nvPr/>
        </p:nvSpPr>
        <p:spPr>
          <a:xfrm>
            <a:off x="1188720" y="301752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İstişare kavramını tanımlayabilir, önemini açıklayabilirim.</a:t>
            </a:r>
            <a:endParaRPr lang="en-US" sz="1600" dirty="0"/>
          </a:p>
        </p:txBody>
      </p:sp>
      <p:sp>
        <p:nvSpPr>
          <p:cNvPr id="13" name="Shape 11"/>
          <p:cNvSpPr/>
          <p:nvPr/>
        </p:nvSpPr>
        <p:spPr>
          <a:xfrm>
            <a:off x="548640" y="4114800"/>
            <a:ext cx="457200" cy="457200"/>
          </a:xfrm>
          <a:prstGeom prst="ellipse">
            <a:avLst/>
          </a:prstGeom>
          <a:solidFill>
            <a:srgbClr val="C8102E"/>
          </a:solidFill>
          <a:ln/>
        </p:spPr>
      </p:sp>
      <p:sp>
        <p:nvSpPr>
          <p:cNvPr id="14" name="Text 12"/>
          <p:cNvSpPr/>
          <p:nvPr/>
        </p:nvSpPr>
        <p:spPr>
          <a:xfrm>
            <a:off x="548640" y="4114800"/>
            <a:ext cx="457200" cy="457200"/>
          </a:xfrm>
          <a:prstGeom prst="rect">
            <a:avLst/>
          </a:prstGeom>
          <a:noFill/>
          <a:ln/>
        </p:spPr>
        <p:txBody>
          <a:bodyPr wrap="square" rtlCol="0" anchor="ctr"/>
          <a:lstStyle/>
          <a:p>
            <a:pPr algn="ctr" indent="0" marL="0">
              <a:buNone/>
            </a:pPr>
            <a:r>
              <a:rPr lang="en-US" sz="1600" b="1" dirty="0">
                <a:solidFill>
                  <a:srgbClr val="FFFFFF"/>
                </a:solidFill>
                <a:latin typeface="Calibri" pitchFamily="34" charset="0"/>
                <a:ea typeface="Calibri" pitchFamily="34" charset="-122"/>
                <a:cs typeface="Calibri" pitchFamily="34" charset="-120"/>
              </a:rPr>
              <a:t>4</a:t>
            </a:r>
            <a:endParaRPr lang="en-US" sz="1600" dirty="0"/>
          </a:p>
        </p:txBody>
      </p:sp>
      <p:sp>
        <p:nvSpPr>
          <p:cNvPr id="15" name="Text 13"/>
          <p:cNvSpPr/>
          <p:nvPr/>
        </p:nvSpPr>
        <p:spPr>
          <a:xfrm>
            <a:off x="1188720" y="4023360"/>
            <a:ext cx="10454335" cy="64008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Günlük hayatta cesaretle doğruyu savunmanın önemini kavrayabilirim.</a:t>
            </a:r>
            <a:endParaRPr lang="en-US" sz="16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Anahtar Kavramlar</a:t>
            </a:r>
            <a:endParaRPr lang="en-US" sz="2400" dirty="0"/>
          </a:p>
        </p:txBody>
      </p:sp>
      <p:sp>
        <p:nvSpPr>
          <p:cNvPr id="4" name="Shape 2"/>
          <p:cNvSpPr/>
          <p:nvPr/>
        </p:nvSpPr>
        <p:spPr>
          <a:xfrm>
            <a:off x="548640" y="1005840"/>
            <a:ext cx="3545738" cy="2194560"/>
          </a:xfrm>
          <a:prstGeom prst="roundRect">
            <a:avLst>
              <a:gd name="adj" fmla="val 4167"/>
            </a:avLst>
          </a:prstGeom>
          <a:solidFill>
            <a:srgbClr val="FCEAED"/>
          </a:solidFill>
          <a:ln/>
        </p:spPr>
      </p:sp>
      <p:sp>
        <p:nvSpPr>
          <p:cNvPr id="5" name="Text 3"/>
          <p:cNvSpPr/>
          <p:nvPr/>
        </p:nvSpPr>
        <p:spPr>
          <a:xfrm>
            <a:off x="685800"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Gazve</a:t>
            </a:r>
            <a:endParaRPr lang="en-US" sz="1400" dirty="0"/>
          </a:p>
        </p:txBody>
      </p:sp>
      <p:sp>
        <p:nvSpPr>
          <p:cNvPr id="6" name="Text 4"/>
          <p:cNvSpPr/>
          <p:nvPr/>
        </p:nvSpPr>
        <p:spPr>
          <a:xfrm>
            <a:off x="685800"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Peygamber Efendimiz sallallahu aleyhi ve sellem'in bizzat katıldığı askerî harekât.</a:t>
            </a:r>
            <a:endParaRPr lang="en-US" sz="1100" dirty="0"/>
          </a:p>
        </p:txBody>
      </p:sp>
      <p:sp>
        <p:nvSpPr>
          <p:cNvPr id="7" name="Shape 5"/>
          <p:cNvSpPr/>
          <p:nvPr/>
        </p:nvSpPr>
        <p:spPr>
          <a:xfrm>
            <a:off x="4322978" y="1005840"/>
            <a:ext cx="3545738" cy="2194560"/>
          </a:xfrm>
          <a:prstGeom prst="roundRect">
            <a:avLst>
              <a:gd name="adj" fmla="val 4167"/>
            </a:avLst>
          </a:prstGeom>
          <a:solidFill>
            <a:srgbClr val="FCEAED"/>
          </a:solidFill>
          <a:ln/>
        </p:spPr>
      </p:sp>
      <p:sp>
        <p:nvSpPr>
          <p:cNvPr id="8" name="Text 6"/>
          <p:cNvSpPr/>
          <p:nvPr/>
        </p:nvSpPr>
        <p:spPr>
          <a:xfrm>
            <a:off x="4460138"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Cesaret</a:t>
            </a:r>
            <a:endParaRPr lang="en-US" sz="1400" dirty="0"/>
          </a:p>
        </p:txBody>
      </p:sp>
      <p:sp>
        <p:nvSpPr>
          <p:cNvPr id="9" name="Text 7"/>
          <p:cNvSpPr/>
          <p:nvPr/>
        </p:nvSpPr>
        <p:spPr>
          <a:xfrm>
            <a:off x="4460138"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Doğru bildiğini savunma ve korkmadan harekete geçme gücü.</a:t>
            </a:r>
            <a:endParaRPr lang="en-US" sz="1100" dirty="0"/>
          </a:p>
        </p:txBody>
      </p:sp>
      <p:sp>
        <p:nvSpPr>
          <p:cNvPr id="10" name="Shape 8"/>
          <p:cNvSpPr/>
          <p:nvPr/>
        </p:nvSpPr>
        <p:spPr>
          <a:xfrm>
            <a:off x="8097317" y="1005840"/>
            <a:ext cx="3545738" cy="2194560"/>
          </a:xfrm>
          <a:prstGeom prst="roundRect">
            <a:avLst>
              <a:gd name="adj" fmla="val 4167"/>
            </a:avLst>
          </a:prstGeom>
          <a:solidFill>
            <a:srgbClr val="FCEAED"/>
          </a:solidFill>
          <a:ln/>
        </p:spPr>
      </p:sp>
      <p:sp>
        <p:nvSpPr>
          <p:cNvPr id="11" name="Text 9"/>
          <p:cNvSpPr/>
          <p:nvPr/>
        </p:nvSpPr>
        <p:spPr>
          <a:xfrm>
            <a:off x="8234477" y="114300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İstişare</a:t>
            </a:r>
            <a:endParaRPr lang="en-US" sz="1400" dirty="0"/>
          </a:p>
        </p:txBody>
      </p:sp>
      <p:sp>
        <p:nvSpPr>
          <p:cNvPr id="12" name="Text 10"/>
          <p:cNvSpPr/>
          <p:nvPr/>
        </p:nvSpPr>
        <p:spPr>
          <a:xfrm>
            <a:off x="8234477" y="160020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Karar vermeden önce ehil kişilere danışma ve fikir alma.</a:t>
            </a:r>
            <a:endParaRPr lang="en-US" sz="1100" dirty="0"/>
          </a:p>
        </p:txBody>
      </p:sp>
      <p:sp>
        <p:nvSpPr>
          <p:cNvPr id="13" name="Shape 11"/>
          <p:cNvSpPr/>
          <p:nvPr/>
        </p:nvSpPr>
        <p:spPr>
          <a:xfrm>
            <a:off x="548640" y="3429000"/>
            <a:ext cx="3545738" cy="2194560"/>
          </a:xfrm>
          <a:prstGeom prst="roundRect">
            <a:avLst>
              <a:gd name="adj" fmla="val 4167"/>
            </a:avLst>
          </a:prstGeom>
          <a:solidFill>
            <a:srgbClr val="FCEAED"/>
          </a:solidFill>
          <a:ln/>
        </p:spPr>
      </p:sp>
      <p:sp>
        <p:nvSpPr>
          <p:cNvPr id="14" name="Text 12"/>
          <p:cNvSpPr/>
          <p:nvPr/>
        </p:nvSpPr>
        <p:spPr>
          <a:xfrm>
            <a:off x="685800"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Bedr</a:t>
            </a:r>
            <a:endParaRPr lang="en-US" sz="1400" dirty="0"/>
          </a:p>
        </p:txBody>
      </p:sp>
      <p:sp>
        <p:nvSpPr>
          <p:cNvPr id="15" name="Text 13"/>
          <p:cNvSpPr/>
          <p:nvPr/>
        </p:nvSpPr>
        <p:spPr>
          <a:xfrm>
            <a:off x="685800"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Medîne yakınında Müslümanların ilk büyük zaferini kazandığı yer.</a:t>
            </a:r>
            <a:endParaRPr lang="en-US" sz="1100" dirty="0"/>
          </a:p>
        </p:txBody>
      </p:sp>
      <p:sp>
        <p:nvSpPr>
          <p:cNvPr id="16" name="Shape 14"/>
          <p:cNvSpPr/>
          <p:nvPr/>
        </p:nvSpPr>
        <p:spPr>
          <a:xfrm>
            <a:off x="4322978" y="3429000"/>
            <a:ext cx="3545738" cy="2194560"/>
          </a:xfrm>
          <a:prstGeom prst="roundRect">
            <a:avLst>
              <a:gd name="adj" fmla="val 4167"/>
            </a:avLst>
          </a:prstGeom>
          <a:solidFill>
            <a:srgbClr val="FCEAED"/>
          </a:solidFill>
          <a:ln/>
        </p:spPr>
      </p:sp>
      <p:sp>
        <p:nvSpPr>
          <p:cNvPr id="17" name="Text 15"/>
          <p:cNvSpPr/>
          <p:nvPr/>
        </p:nvSpPr>
        <p:spPr>
          <a:xfrm>
            <a:off x="4460138"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İman Gücü</a:t>
            </a:r>
            <a:endParaRPr lang="en-US" sz="1400" dirty="0"/>
          </a:p>
        </p:txBody>
      </p:sp>
      <p:sp>
        <p:nvSpPr>
          <p:cNvPr id="18" name="Text 16"/>
          <p:cNvSpPr/>
          <p:nvPr/>
        </p:nvSpPr>
        <p:spPr>
          <a:xfrm>
            <a:off x="4460138"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Allah'a olan inancın kişiye verdiği cesaret ve kararlılık.</a:t>
            </a:r>
            <a:endParaRPr lang="en-US" sz="1100" dirty="0"/>
          </a:p>
        </p:txBody>
      </p:sp>
      <p:sp>
        <p:nvSpPr>
          <p:cNvPr id="19" name="Shape 17"/>
          <p:cNvSpPr/>
          <p:nvPr/>
        </p:nvSpPr>
        <p:spPr>
          <a:xfrm>
            <a:off x="8097317" y="3429000"/>
            <a:ext cx="3545738" cy="2194560"/>
          </a:xfrm>
          <a:prstGeom prst="roundRect">
            <a:avLst>
              <a:gd name="adj" fmla="val 4167"/>
            </a:avLst>
          </a:prstGeom>
          <a:solidFill>
            <a:srgbClr val="FCEAED"/>
          </a:solidFill>
          <a:ln/>
        </p:spPr>
      </p:sp>
      <p:sp>
        <p:nvSpPr>
          <p:cNvPr id="20" name="Text 18"/>
          <p:cNvSpPr/>
          <p:nvPr/>
        </p:nvSpPr>
        <p:spPr>
          <a:xfrm>
            <a:off x="8234477" y="3566160"/>
            <a:ext cx="327141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Zafer</a:t>
            </a:r>
            <a:endParaRPr lang="en-US" sz="1400" dirty="0"/>
          </a:p>
        </p:txBody>
      </p:sp>
      <p:sp>
        <p:nvSpPr>
          <p:cNvPr id="21" name="Text 19"/>
          <p:cNvSpPr/>
          <p:nvPr/>
        </p:nvSpPr>
        <p:spPr>
          <a:xfrm>
            <a:off x="8234477" y="4023360"/>
            <a:ext cx="3271418" cy="141732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Hak uğruna yapılan mücadelenin başarıyla sonuçlanması.</a:t>
            </a:r>
            <a:endParaRPr lang="en-US" sz="11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Bedr'de 313 Yiğit</a:t>
            </a:r>
            <a:endParaRPr lang="en-US" sz="2400" dirty="0"/>
          </a:p>
        </p:txBody>
      </p:sp>
      <p:sp>
        <p:nvSpPr>
          <p:cNvPr id="4" name="Text 2"/>
          <p:cNvSpPr/>
          <p:nvPr/>
        </p:nvSpPr>
        <p:spPr>
          <a:xfrm>
            <a:off x="548640" y="1005840"/>
            <a:ext cx="11094415" cy="548640"/>
          </a:xfrm>
          <a:prstGeom prst="rect">
            <a:avLst/>
          </a:prstGeom>
          <a:noFill/>
          <a:ln/>
        </p:spPr>
        <p:txBody>
          <a:bodyPr wrap="square" rtlCol="0" anchor="ctr"/>
          <a:lstStyle/>
          <a:p>
            <a:pPr algn="l" indent="0" marL="0">
              <a:buNone/>
            </a:pPr>
            <a:r>
              <a:rPr lang="en-US" sz="1300" i="1" dirty="0">
                <a:solidFill>
                  <a:srgbClr val="666666"/>
                </a:solidFill>
                <a:latin typeface="Calibri" pitchFamily="34" charset="0"/>
                <a:ea typeface="Calibri" pitchFamily="34" charset="-122"/>
                <a:cs typeface="Calibri" pitchFamily="34" charset="-120"/>
              </a:rPr>
              <a:t>Hicret'in ikinci yılında Mekke müşrikleri bin kişilik bir orduyla Medîne üzerine yürüdü. Müslümanlar ise sadece 313 kişiydi, silahları ve teçhizatları yetersizdi. Ancak imanları tamdı.</a:t>
            </a:r>
            <a:endParaRPr lang="en-US" sz="1300" dirty="0"/>
          </a:p>
        </p:txBody>
      </p:sp>
      <p:sp>
        <p:nvSpPr>
          <p:cNvPr id="5" name="Text 3"/>
          <p:cNvSpPr/>
          <p:nvPr/>
        </p:nvSpPr>
        <p:spPr>
          <a:xfrm>
            <a:off x="548640" y="17373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Peygamber Efendimiz sallallahu aleyhi ve sellem, Bedr'e doğru yola çıkmadan önce sahâbîleriyle istişare etti. Durumu açıkça anlattı: karşılarında bin kişilik, iyi silahlanmış bir ordu vardı. Müslümanlar ise ancak 313 kişiydi. Bu kritik anda Hz. Mikdad bin Esved radıyallahu anh ayağa kalkarak tarihe geçen bir konuşma yaptı: 'Yâ Resûlallah! Biz sana, İsrailoğullarının Musa aleyhisselam'a dediği gibi "Sen ve Rabbin gidin savaşın, biz burada oturacağız" demeyiz. Sen nereye gidersen biz de seninle gideriz!'</a:t>
            </a:r>
            <a:endParaRPr lang="en-US" sz="1400" dirty="0"/>
          </a:p>
        </p:txBody>
      </p:sp>
      <p:sp>
        <p:nvSpPr>
          <p:cNvPr id="6" name="Text 4"/>
          <p:cNvSpPr/>
          <p:nvPr/>
        </p:nvSpPr>
        <p:spPr>
          <a:xfrm>
            <a:off x="548640" y="31089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Bu sözler Peygamber Efendimiz sallallahu aleyhi ve sellem'i çok sevindirdi. Ensâr'dan Sa'd bin Muaz radıyallahu anh da 'Yâ Resûlallah! Biz sana iman ettik, seni tasdik ettik. Şu denizi geçmemizi emretsen dalardık!' dedi. Allahü teâlâ melekleriyle Müslümanlara yardım etti. 313 kişilik İslâm ordusu, bin kişilik müşrik ordusunu Bedr'de bozguna uğrattı.</a:t>
            </a:r>
            <a:endParaRPr lang="en-US" sz="1400" dirty="0"/>
          </a:p>
        </p:txBody>
      </p:sp>
      <p:sp>
        <p:nvSpPr>
          <p:cNvPr id="7" name="Text 5"/>
          <p:cNvSpPr/>
          <p:nvPr/>
        </p:nvSpPr>
        <p:spPr>
          <a:xfrm>
            <a:off x="548640" y="4480560"/>
            <a:ext cx="11094415" cy="1280160"/>
          </a:xfrm>
          <a:prstGeom prst="rect">
            <a:avLst/>
          </a:prstGeom>
          <a:noFill/>
          <a:ln/>
        </p:spPr>
        <p:txBody>
          <a:bodyPr wrap="square" rtlCol="0" anchor="t"/>
          <a:lstStyle/>
          <a:p>
            <a:pPr algn="l" indent="0" marL="0">
              <a:buNone/>
            </a:pPr>
            <a:r>
              <a:rPr lang="en-US" sz="1400" dirty="0">
                <a:solidFill>
                  <a:srgbClr val="222222"/>
                </a:solidFill>
                <a:latin typeface="Calibri" pitchFamily="34" charset="0"/>
                <a:ea typeface="Calibri" pitchFamily="34" charset="-122"/>
                <a:cs typeface="Calibri" pitchFamily="34" charset="-120"/>
              </a:rPr>
              <a:t>Bedr Zaferi, sayısal üstünlüğün değil iman gücünün zafer getirdiğinin en büyük kanıtıdır. Hz. Mikdad'ın cesareti, Sa'd bin Muaz'ın sadakati ve 313 mücahidin imanı, tarih boyunca cesaretin kaynağının iman olduğunu gösteren eşsiz bir örnektir.</a:t>
            </a:r>
            <a:endParaRPr lang="en-US" sz="14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914400"/>
            <a:ext cx="914400" cy="1097280"/>
          </a:xfrm>
          <a:prstGeom prst="rect">
            <a:avLst/>
          </a:prstGeom>
          <a:noFill/>
          <a:ln/>
        </p:spPr>
        <p:txBody>
          <a:bodyPr wrap="square" rtlCol="0" anchor="ctr"/>
          <a:lstStyle/>
          <a:p>
            <a:pPr indent="0" marL="0">
              <a:buNone/>
            </a:pPr>
            <a:r>
              <a:rPr lang="en-US" sz="9600" b="1" dirty="0">
                <a:solidFill>
                  <a:srgbClr val="C8102E"/>
                </a:solidFill>
                <a:latin typeface="Calibri" pitchFamily="34" charset="0"/>
                <a:ea typeface="Calibri" pitchFamily="34" charset="-122"/>
                <a:cs typeface="Calibri" pitchFamily="34" charset="-120"/>
              </a:rPr>
              <a:t>“</a:t>
            </a:r>
            <a:endParaRPr lang="en-US" sz="9600" dirty="0"/>
          </a:p>
        </p:txBody>
      </p:sp>
      <p:sp>
        <p:nvSpPr>
          <p:cNvPr id="4" name="Shape 2"/>
          <p:cNvSpPr/>
          <p:nvPr/>
        </p:nvSpPr>
        <p:spPr>
          <a:xfrm>
            <a:off x="1371600" y="1371600"/>
            <a:ext cx="45720" cy="2743200"/>
          </a:xfrm>
          <a:prstGeom prst="rect">
            <a:avLst/>
          </a:prstGeom>
          <a:solidFill>
            <a:srgbClr val="C8102E"/>
          </a:solidFill>
          <a:ln/>
        </p:spPr>
      </p:sp>
      <p:sp>
        <p:nvSpPr>
          <p:cNvPr id="5" name="Text 3"/>
          <p:cNvSpPr/>
          <p:nvPr/>
        </p:nvSpPr>
        <p:spPr>
          <a:xfrm>
            <a:off x="1645920" y="1371600"/>
            <a:ext cx="9722815" cy="2743200"/>
          </a:xfrm>
          <a:prstGeom prst="rect">
            <a:avLst/>
          </a:prstGeom>
          <a:noFill/>
          <a:ln/>
        </p:spPr>
        <p:txBody>
          <a:bodyPr wrap="square" rtlCol="0" anchor="ctr"/>
          <a:lstStyle/>
          <a:p>
            <a:pPr algn="l" indent="0" marL="0">
              <a:buNone/>
            </a:pPr>
            <a:r>
              <a:rPr lang="en-US" sz="2000" i="1" dirty="0">
                <a:solidFill>
                  <a:srgbClr val="222222"/>
                </a:solidFill>
                <a:latin typeface="Calibri" pitchFamily="34" charset="0"/>
                <a:ea typeface="Calibri" pitchFamily="34" charset="-122"/>
                <a:cs typeface="Calibri" pitchFamily="34" charset="-120"/>
              </a:rPr>
              <a:t>Yâ Resûlallah! Biz sana, İsrailoğullarının Musa aleyhisselam'a dediği gibi 'Sen ve Rabbin gidin savaşın' demeyiz. Sen nereye gidersen biz de seninle gideriz!</a:t>
            </a:r>
            <a:endParaRPr lang="en-US" sz="2000" dirty="0"/>
          </a:p>
        </p:txBody>
      </p:sp>
      <p:sp>
        <p:nvSpPr>
          <p:cNvPr id="6" name="Text 4"/>
          <p:cNvSpPr/>
          <p:nvPr/>
        </p:nvSpPr>
        <p:spPr>
          <a:xfrm>
            <a:off x="1645920" y="4572000"/>
            <a:ext cx="9722815" cy="457200"/>
          </a:xfrm>
          <a:prstGeom prst="rect">
            <a:avLst/>
          </a:prstGeom>
          <a:noFill/>
          <a:ln/>
        </p:spPr>
        <p:txBody>
          <a:bodyPr wrap="square" rtlCol="0" anchor="ctr"/>
          <a:lstStyle/>
          <a:p>
            <a:pPr algn="r" indent="0" marL="0">
              <a:buNone/>
            </a:pPr>
            <a:r>
              <a:rPr lang="en-US" sz="1400" dirty="0">
                <a:solidFill>
                  <a:srgbClr val="666666"/>
                </a:solidFill>
                <a:latin typeface="Calibri" pitchFamily="34" charset="0"/>
                <a:ea typeface="Calibri" pitchFamily="34" charset="-122"/>
                <a:cs typeface="Calibri" pitchFamily="34" charset="-120"/>
              </a:rPr>
              <a:t>— Hz. Mikdad bin Esved radıyallahu anh</a:t>
            </a:r>
            <a:endParaRPr lang="en-US" sz="14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Shape 1"/>
          <p:cNvSpPr/>
          <p:nvPr/>
        </p:nvSpPr>
        <p:spPr>
          <a:xfrm>
            <a:off x="5181448" y="2057400"/>
            <a:ext cx="1828800" cy="27432"/>
          </a:xfrm>
          <a:prstGeom prst="rect">
            <a:avLst/>
          </a:prstGeom>
          <a:solidFill>
            <a:srgbClr val="C8102E"/>
          </a:solidFill>
          <a:ln/>
        </p:spPr>
      </p:sp>
      <p:sp>
        <p:nvSpPr>
          <p:cNvPr id="4" name="Text 2"/>
          <p:cNvSpPr/>
          <p:nvPr/>
        </p:nvSpPr>
        <p:spPr>
          <a:xfrm>
            <a:off x="1463040" y="2331720"/>
            <a:ext cx="9265615" cy="2286000"/>
          </a:xfrm>
          <a:prstGeom prst="rect">
            <a:avLst/>
          </a:prstGeom>
          <a:noFill/>
          <a:ln/>
        </p:spPr>
        <p:txBody>
          <a:bodyPr wrap="square" rtlCol="0" anchor="ctr"/>
          <a:lstStyle/>
          <a:p>
            <a:pPr algn="ctr" indent="0" marL="0">
              <a:buNone/>
            </a:pPr>
            <a:r>
              <a:rPr lang="en-US" sz="2000" i="1" dirty="0">
                <a:solidFill>
                  <a:srgbClr val="8B0000"/>
                </a:solidFill>
                <a:latin typeface="Calibri" pitchFamily="34" charset="0"/>
                <a:ea typeface="Calibri" pitchFamily="34" charset="-122"/>
                <a:cs typeface="Calibri" pitchFamily="34" charset="-120"/>
              </a:rPr>
              <a:t>Andolsun ki siz son derece güçsüz iken Allah size Bedr'de yardım etmişti. O hâlde Allah'a karşı gelmekten sakının ki şükretmiş olasınız.</a:t>
            </a:r>
            <a:endParaRPr lang="en-US" sz="2000" dirty="0"/>
          </a:p>
        </p:txBody>
      </p:sp>
      <p:sp>
        <p:nvSpPr>
          <p:cNvPr id="5" name="Shape 3"/>
          <p:cNvSpPr/>
          <p:nvPr/>
        </p:nvSpPr>
        <p:spPr>
          <a:xfrm>
            <a:off x="5181448" y="4800600"/>
            <a:ext cx="1828800" cy="27432"/>
          </a:xfrm>
          <a:prstGeom prst="rect">
            <a:avLst/>
          </a:prstGeom>
          <a:solidFill>
            <a:srgbClr val="C8102E"/>
          </a:solidFill>
          <a:ln/>
        </p:spPr>
      </p:sp>
      <p:sp>
        <p:nvSpPr>
          <p:cNvPr id="6" name="Text 4"/>
          <p:cNvSpPr/>
          <p:nvPr/>
        </p:nvSpPr>
        <p:spPr>
          <a:xfrm>
            <a:off x="1463040" y="5074920"/>
            <a:ext cx="9265615" cy="457200"/>
          </a:xfrm>
          <a:prstGeom prst="rect">
            <a:avLst/>
          </a:prstGeom>
          <a:noFill/>
          <a:ln/>
        </p:spPr>
        <p:txBody>
          <a:bodyPr wrap="square" rtlCol="0" anchor="ctr"/>
          <a:lstStyle/>
          <a:p>
            <a:pPr algn="ctr" indent="0" marL="0">
              <a:buNone/>
            </a:pPr>
            <a:r>
              <a:rPr lang="en-US" sz="1200" dirty="0">
                <a:solidFill>
                  <a:srgbClr val="666666"/>
                </a:solidFill>
                <a:latin typeface="Calibri" pitchFamily="34" charset="0"/>
                <a:ea typeface="Calibri" pitchFamily="34" charset="-122"/>
                <a:cs typeface="Calibri" pitchFamily="34" charset="-120"/>
              </a:rPr>
              <a:t>Âl-i İmrân Sûresi, 123</a:t>
            </a:r>
            <a:endParaRPr lang="en-US" sz="12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Degerin Boyutlari</a:t>
            </a:r>
            <a:endParaRPr lang="en-US" sz="2400" dirty="0"/>
          </a:p>
        </p:txBody>
      </p:sp>
      <p:sp>
        <p:nvSpPr>
          <p:cNvPr id="4" name="Shape 2"/>
          <p:cNvSpPr/>
          <p:nvPr/>
        </p:nvSpPr>
        <p:spPr>
          <a:xfrm>
            <a:off x="548640" y="1005840"/>
            <a:ext cx="2636444" cy="4114800"/>
          </a:xfrm>
          <a:prstGeom prst="roundRect">
            <a:avLst>
              <a:gd name="adj" fmla="val 3468"/>
            </a:avLst>
          </a:prstGeom>
          <a:solidFill>
            <a:srgbClr val="FCEAED"/>
          </a:solidFill>
          <a:ln/>
        </p:spPr>
      </p:sp>
      <p:sp>
        <p:nvSpPr>
          <p:cNvPr id="5" name="Text 3"/>
          <p:cNvSpPr/>
          <p:nvPr/>
        </p:nvSpPr>
        <p:spPr>
          <a:xfrm>
            <a:off x="548640"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6" name="Text 4"/>
          <p:cNvSpPr/>
          <p:nvPr/>
        </p:nvSpPr>
        <p:spPr>
          <a:xfrm>
            <a:off x="640080"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Fiziksel Cesaret</a:t>
            </a:r>
            <a:endParaRPr lang="en-US" sz="1300" dirty="0"/>
          </a:p>
        </p:txBody>
      </p:sp>
      <p:sp>
        <p:nvSpPr>
          <p:cNvPr id="7" name="Text 5"/>
          <p:cNvSpPr/>
          <p:nvPr/>
        </p:nvSpPr>
        <p:spPr>
          <a:xfrm>
            <a:off x="640080"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Tehlike karşısında korkmadan harekete geçme.</a:t>
            </a:r>
            <a:endParaRPr lang="en-US" sz="1000" dirty="0"/>
          </a:p>
        </p:txBody>
      </p:sp>
      <p:sp>
        <p:nvSpPr>
          <p:cNvPr id="8" name="Shape 6"/>
          <p:cNvSpPr/>
          <p:nvPr/>
        </p:nvSpPr>
        <p:spPr>
          <a:xfrm>
            <a:off x="3367964" y="1005840"/>
            <a:ext cx="2636444" cy="4114800"/>
          </a:xfrm>
          <a:prstGeom prst="roundRect">
            <a:avLst>
              <a:gd name="adj" fmla="val 3468"/>
            </a:avLst>
          </a:prstGeom>
          <a:solidFill>
            <a:srgbClr val="FCEAED"/>
          </a:solidFill>
          <a:ln/>
        </p:spPr>
      </p:sp>
      <p:sp>
        <p:nvSpPr>
          <p:cNvPr id="9" name="Text 7"/>
          <p:cNvSpPr/>
          <p:nvPr/>
        </p:nvSpPr>
        <p:spPr>
          <a:xfrm>
            <a:off x="3367964"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0" name="Text 8"/>
          <p:cNvSpPr/>
          <p:nvPr/>
        </p:nvSpPr>
        <p:spPr>
          <a:xfrm>
            <a:off x="3459404"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Ahlâkî Cesaret</a:t>
            </a:r>
            <a:endParaRPr lang="en-US" sz="1300" dirty="0"/>
          </a:p>
        </p:txBody>
      </p:sp>
      <p:sp>
        <p:nvSpPr>
          <p:cNvPr id="11" name="Text 9"/>
          <p:cNvSpPr/>
          <p:nvPr/>
        </p:nvSpPr>
        <p:spPr>
          <a:xfrm>
            <a:off x="3459404"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Yanlışa karşı doğruyu savunma, haksızlığa ses çıkarma.</a:t>
            </a:r>
            <a:endParaRPr lang="en-US" sz="1000" dirty="0"/>
          </a:p>
        </p:txBody>
      </p:sp>
      <p:sp>
        <p:nvSpPr>
          <p:cNvPr id="12" name="Shape 10"/>
          <p:cNvSpPr/>
          <p:nvPr/>
        </p:nvSpPr>
        <p:spPr>
          <a:xfrm>
            <a:off x="6187288" y="1005840"/>
            <a:ext cx="2636444" cy="4114800"/>
          </a:xfrm>
          <a:prstGeom prst="roundRect">
            <a:avLst>
              <a:gd name="adj" fmla="val 3468"/>
            </a:avLst>
          </a:prstGeom>
          <a:solidFill>
            <a:srgbClr val="FCEAED"/>
          </a:solidFill>
          <a:ln/>
        </p:spPr>
      </p:sp>
      <p:sp>
        <p:nvSpPr>
          <p:cNvPr id="13" name="Text 11"/>
          <p:cNvSpPr/>
          <p:nvPr/>
        </p:nvSpPr>
        <p:spPr>
          <a:xfrm>
            <a:off x="6187288"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4" name="Text 12"/>
          <p:cNvSpPr/>
          <p:nvPr/>
        </p:nvSpPr>
        <p:spPr>
          <a:xfrm>
            <a:off x="6278728"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İmanî Cesaret</a:t>
            </a:r>
            <a:endParaRPr lang="en-US" sz="1300" dirty="0"/>
          </a:p>
        </p:txBody>
      </p:sp>
      <p:sp>
        <p:nvSpPr>
          <p:cNvPr id="15" name="Text 13"/>
          <p:cNvSpPr/>
          <p:nvPr/>
        </p:nvSpPr>
        <p:spPr>
          <a:xfrm>
            <a:off x="6278728"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Allah'a güvenerek zorluklara göğüs germe.</a:t>
            </a:r>
            <a:endParaRPr lang="en-US" sz="1000" dirty="0"/>
          </a:p>
        </p:txBody>
      </p:sp>
      <p:sp>
        <p:nvSpPr>
          <p:cNvPr id="16" name="Shape 14"/>
          <p:cNvSpPr/>
          <p:nvPr/>
        </p:nvSpPr>
        <p:spPr>
          <a:xfrm>
            <a:off x="9006611" y="1005840"/>
            <a:ext cx="2636444" cy="4114800"/>
          </a:xfrm>
          <a:prstGeom prst="roundRect">
            <a:avLst>
              <a:gd name="adj" fmla="val 3468"/>
            </a:avLst>
          </a:prstGeom>
          <a:solidFill>
            <a:srgbClr val="FCEAED"/>
          </a:solidFill>
          <a:ln/>
        </p:spPr>
      </p:sp>
      <p:sp>
        <p:nvSpPr>
          <p:cNvPr id="17" name="Text 15"/>
          <p:cNvSpPr/>
          <p:nvPr/>
        </p:nvSpPr>
        <p:spPr>
          <a:xfrm>
            <a:off x="9006611" y="1188720"/>
            <a:ext cx="2636444" cy="548640"/>
          </a:xfrm>
          <a:prstGeom prst="rect">
            <a:avLst/>
          </a:prstGeom>
          <a:noFill/>
          <a:ln/>
        </p:spPr>
        <p:txBody>
          <a:bodyPr wrap="square" rtlCol="0" anchor="ctr"/>
          <a:lstStyle/>
          <a:p>
            <a:pPr algn="ctr" indent="0" marL="0">
              <a:buNone/>
            </a:pPr>
            <a:r>
              <a:rPr lang="en-US" sz="2800" dirty="0">
                <a:solidFill>
                  <a:srgbClr val="000000"/>
                </a:solidFill>
              </a:rPr>
              <a:t>💡</a:t>
            </a:r>
            <a:endParaRPr lang="en-US" sz="2800" dirty="0"/>
          </a:p>
        </p:txBody>
      </p:sp>
      <p:sp>
        <p:nvSpPr>
          <p:cNvPr id="18" name="Text 16"/>
          <p:cNvSpPr/>
          <p:nvPr/>
        </p:nvSpPr>
        <p:spPr>
          <a:xfrm>
            <a:off x="9098051" y="1828800"/>
            <a:ext cx="2453564" cy="457200"/>
          </a:xfrm>
          <a:prstGeom prst="rect">
            <a:avLst/>
          </a:prstGeom>
          <a:noFill/>
          <a:ln/>
        </p:spPr>
        <p:txBody>
          <a:bodyPr wrap="square" rtlCol="0" anchor="ctr"/>
          <a:lstStyle/>
          <a:p>
            <a:pPr algn="ctr" indent="0" marL="0">
              <a:buNone/>
            </a:pPr>
            <a:r>
              <a:rPr lang="en-US" sz="1300" b="1" dirty="0">
                <a:solidFill>
                  <a:srgbClr val="C8102E"/>
                </a:solidFill>
                <a:latin typeface="Calibri" pitchFamily="34" charset="0"/>
                <a:ea typeface="Calibri" pitchFamily="34" charset="-122"/>
                <a:cs typeface="Calibri" pitchFamily="34" charset="-120"/>
              </a:rPr>
              <a:t>Fikrî Cesaret</a:t>
            </a:r>
            <a:endParaRPr lang="en-US" sz="1300" dirty="0"/>
          </a:p>
        </p:txBody>
      </p:sp>
      <p:sp>
        <p:nvSpPr>
          <p:cNvPr id="19" name="Text 17"/>
          <p:cNvSpPr/>
          <p:nvPr/>
        </p:nvSpPr>
        <p:spPr>
          <a:xfrm>
            <a:off x="9098051" y="2377440"/>
            <a:ext cx="2453564" cy="2468880"/>
          </a:xfrm>
          <a:prstGeom prst="rect">
            <a:avLst/>
          </a:prstGeom>
          <a:noFill/>
          <a:ln/>
        </p:spPr>
        <p:txBody>
          <a:bodyPr wrap="square" rtlCol="0" anchor="t"/>
          <a:lstStyle/>
          <a:p>
            <a:pPr algn="l" indent="0" marL="0">
              <a:buNone/>
            </a:pPr>
            <a:r>
              <a:rPr lang="en-US" sz="1000" dirty="0">
                <a:solidFill>
                  <a:srgbClr val="222222"/>
                </a:solidFill>
                <a:latin typeface="Calibri" pitchFamily="34" charset="0"/>
                <a:ea typeface="Calibri" pitchFamily="34" charset="-122"/>
                <a:cs typeface="Calibri" pitchFamily="34" charset="-120"/>
              </a:rPr>
              <a:t>Doğru bildiğini çekinmeden ifade etme.</a:t>
            </a:r>
            <a:endParaRPr lang="en-US" sz="10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Kopya Çekme Baskısı</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Sınavda yanınızdaki arkadaşınız size kopya vermek istiyor. 'Hepimiz yapıyoruz, ayıp olmasın' diyor. Öğretmen dikkat etmiyor gibi görünüyor.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Kibarca reddeder, kendi bildiğimi yazarım.</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Arkadaşıma kopya çekmenin yanlış olduğunu hatır...</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Kopya alırım, herkes yapıyorsa sorun yoktur.</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Zorbalığa Karşı Durmak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Okulda bir grup öğrenci, küçük sınıftaki bir çocuğun harçlığını alıyor. Bu durumu gördünüz. Siz de o grubun hedefi olabilirsiniz ama durum çok yanlış.</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Hemen bir öğretmene haber veririm.</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Cesaretle yanlarına gidip bunun yanlış olduğunu...</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Görmezden gelirim, başıma iş almak istemem.</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Senaryolar</a:t>
            </a:r>
            <a:endParaRPr lang="en-US" sz="2400" dirty="0"/>
          </a:p>
        </p:txBody>
      </p:sp>
      <p:sp>
        <p:nvSpPr>
          <p:cNvPr id="4" name="Shape 2"/>
          <p:cNvSpPr/>
          <p:nvPr/>
        </p:nvSpPr>
        <p:spPr>
          <a:xfrm>
            <a:off x="548640" y="1005840"/>
            <a:ext cx="5410048" cy="4572000"/>
          </a:xfrm>
          <a:prstGeom prst="roundRect">
            <a:avLst>
              <a:gd name="adj" fmla="val 2000"/>
            </a:avLst>
          </a:prstGeom>
          <a:solidFill>
            <a:srgbClr val="F5F5F5"/>
          </a:solidFill>
          <a:ln/>
        </p:spPr>
      </p:sp>
      <p:sp>
        <p:nvSpPr>
          <p:cNvPr id="5" name="Text 3"/>
          <p:cNvSpPr/>
          <p:nvPr/>
        </p:nvSpPr>
        <p:spPr>
          <a:xfrm>
            <a:off x="731520"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Yarışmada Heyecan</a:t>
            </a:r>
            <a:endParaRPr lang="en-US" sz="1400" dirty="0"/>
          </a:p>
        </p:txBody>
      </p:sp>
      <p:sp>
        <p:nvSpPr>
          <p:cNvPr id="6" name="Text 4"/>
          <p:cNvSpPr/>
          <p:nvPr/>
        </p:nvSpPr>
        <p:spPr>
          <a:xfrm>
            <a:off x="731520"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Okul bilgi yarışmasında finaldeysiniz. Karşı takım çok güçlü ve sizi favori gören yok. Takımınızdaki bazı arkadaşlar 'Zaten kaybedeceğiz' deyip motivasyonlarını kaybettiler.</a:t>
            </a:r>
            <a:endParaRPr lang="en-US" sz="1100" dirty="0"/>
          </a:p>
        </p:txBody>
      </p:sp>
      <p:sp>
        <p:nvSpPr>
          <p:cNvPr id="7" name="Shape 5"/>
          <p:cNvSpPr/>
          <p:nvPr/>
        </p:nvSpPr>
        <p:spPr>
          <a:xfrm>
            <a:off x="731520" y="3931920"/>
            <a:ext cx="1574749" cy="640080"/>
          </a:xfrm>
          <a:prstGeom prst="roundRect">
            <a:avLst>
              <a:gd name="adj" fmla="val 11429"/>
            </a:avLst>
          </a:prstGeom>
          <a:solidFill>
            <a:srgbClr val="FCEAED"/>
          </a:solidFill>
          <a:ln/>
        </p:spPr>
      </p:sp>
      <p:sp>
        <p:nvSpPr>
          <p:cNvPr id="8" name="Text 6"/>
          <p:cNvSpPr/>
          <p:nvPr/>
        </p:nvSpPr>
        <p:spPr>
          <a:xfrm>
            <a:off x="731520"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Takımıma moral veririm: 'Sonuna kadar en iyimiz...</a:t>
            </a:r>
            <a:endParaRPr lang="en-US" sz="800" dirty="0"/>
          </a:p>
        </p:txBody>
      </p:sp>
      <p:sp>
        <p:nvSpPr>
          <p:cNvPr id="9" name="Shape 7"/>
          <p:cNvSpPr/>
          <p:nvPr/>
        </p:nvSpPr>
        <p:spPr>
          <a:xfrm>
            <a:off x="2397709" y="3931920"/>
            <a:ext cx="1574749" cy="640080"/>
          </a:xfrm>
          <a:prstGeom prst="roundRect">
            <a:avLst>
              <a:gd name="adj" fmla="val 11429"/>
            </a:avLst>
          </a:prstGeom>
          <a:solidFill>
            <a:srgbClr val="FCEAED"/>
          </a:solidFill>
          <a:ln/>
        </p:spPr>
      </p:sp>
      <p:sp>
        <p:nvSpPr>
          <p:cNvPr id="10" name="Text 8"/>
          <p:cNvSpPr/>
          <p:nvPr/>
        </p:nvSpPr>
        <p:spPr>
          <a:xfrm>
            <a:off x="2397709"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Hz. Mikdad'ın sözünü hatırlatır, cesaretlendiri...</a:t>
            </a:r>
            <a:endParaRPr lang="en-US" sz="800" dirty="0"/>
          </a:p>
        </p:txBody>
      </p:sp>
      <p:sp>
        <p:nvSpPr>
          <p:cNvPr id="11" name="Shape 9"/>
          <p:cNvSpPr/>
          <p:nvPr/>
        </p:nvSpPr>
        <p:spPr>
          <a:xfrm>
            <a:off x="4063898" y="3931920"/>
            <a:ext cx="1574749" cy="640080"/>
          </a:xfrm>
          <a:prstGeom prst="roundRect">
            <a:avLst>
              <a:gd name="adj" fmla="val 11429"/>
            </a:avLst>
          </a:prstGeom>
          <a:solidFill>
            <a:srgbClr val="FCEAED"/>
          </a:solidFill>
          <a:ln/>
        </p:spPr>
      </p:sp>
      <p:sp>
        <p:nvSpPr>
          <p:cNvPr id="12" name="Text 10"/>
          <p:cNvSpPr/>
          <p:nvPr/>
        </p:nvSpPr>
        <p:spPr>
          <a:xfrm>
            <a:off x="406389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Ben de pes ederim, nasılsa kazanamayacağız.</a:t>
            </a:r>
            <a:endParaRPr lang="en-US" sz="800" dirty="0"/>
          </a:p>
        </p:txBody>
      </p:sp>
      <p:sp>
        <p:nvSpPr>
          <p:cNvPr id="13" name="Shape 11"/>
          <p:cNvSpPr/>
          <p:nvPr/>
        </p:nvSpPr>
        <p:spPr>
          <a:xfrm>
            <a:off x="6233008" y="1005840"/>
            <a:ext cx="5410048" cy="4572000"/>
          </a:xfrm>
          <a:prstGeom prst="roundRect">
            <a:avLst>
              <a:gd name="adj" fmla="val 2000"/>
            </a:avLst>
          </a:prstGeom>
          <a:solidFill>
            <a:srgbClr val="F5F5F5"/>
          </a:solidFill>
          <a:ln/>
        </p:spPr>
      </p:sp>
      <p:sp>
        <p:nvSpPr>
          <p:cNvPr id="14" name="Text 12"/>
          <p:cNvSpPr/>
          <p:nvPr/>
        </p:nvSpPr>
        <p:spPr>
          <a:xfrm>
            <a:off x="6415888" y="1143000"/>
            <a:ext cx="5044288" cy="457200"/>
          </a:xfrm>
          <a:prstGeom prst="rect">
            <a:avLst/>
          </a:prstGeom>
          <a:noFill/>
          <a:ln/>
        </p:spPr>
        <p:txBody>
          <a:bodyPr wrap="square" rtlCol="0" anchor="ctr"/>
          <a:lstStyle/>
          <a:p>
            <a:pPr algn="l" indent="0" marL="0">
              <a:buNone/>
            </a:pPr>
            <a:r>
              <a:rPr lang="en-US" sz="1400" b="1" dirty="0">
                <a:solidFill>
                  <a:srgbClr val="C8102E"/>
                </a:solidFill>
                <a:latin typeface="Calibri" pitchFamily="34" charset="0"/>
                <a:ea typeface="Calibri" pitchFamily="34" charset="-122"/>
                <a:cs typeface="Calibri" pitchFamily="34" charset="-120"/>
              </a:rPr>
              <a:t>Doğruyu Söylemek</a:t>
            </a:r>
            <a:endParaRPr lang="en-US" sz="1400" dirty="0"/>
          </a:p>
        </p:txBody>
      </p:sp>
      <p:sp>
        <p:nvSpPr>
          <p:cNvPr id="15" name="Text 13"/>
          <p:cNvSpPr/>
          <p:nvPr/>
        </p:nvSpPr>
        <p:spPr>
          <a:xfrm>
            <a:off x="6415888" y="1645920"/>
            <a:ext cx="5044288" cy="2011680"/>
          </a:xfrm>
          <a:prstGeom prst="rect">
            <a:avLst/>
          </a:prstGeom>
          <a:noFill/>
          <a:ln/>
        </p:spPr>
        <p:txBody>
          <a:bodyPr wrap="square" rtlCol="0" anchor="t"/>
          <a:lstStyle/>
          <a:p>
            <a:pPr algn="l" indent="0" marL="0">
              <a:buNone/>
            </a:pPr>
            <a:r>
              <a:rPr lang="en-US" sz="1100" dirty="0">
                <a:solidFill>
                  <a:srgbClr val="222222"/>
                </a:solidFill>
                <a:latin typeface="Calibri" pitchFamily="34" charset="0"/>
                <a:ea typeface="Calibri" pitchFamily="34" charset="-122"/>
                <a:cs typeface="Calibri" pitchFamily="34" charset="-120"/>
              </a:rPr>
              <a:t>Sınıfta bir olay oldu ve öğretmen sorumluyu arıyor. Gerçeği biliyorsunuz ama sorumlu kişi sınıfın en popüler öğrencisi. Doğruyu söylerseniz sınıftan dışlanabilirsiniz.</a:t>
            </a:r>
            <a:endParaRPr lang="en-US" sz="1100" dirty="0"/>
          </a:p>
        </p:txBody>
      </p:sp>
      <p:sp>
        <p:nvSpPr>
          <p:cNvPr id="16" name="Shape 14"/>
          <p:cNvSpPr/>
          <p:nvPr/>
        </p:nvSpPr>
        <p:spPr>
          <a:xfrm>
            <a:off x="6415888" y="3931920"/>
            <a:ext cx="1574749" cy="640080"/>
          </a:xfrm>
          <a:prstGeom prst="roundRect">
            <a:avLst>
              <a:gd name="adj" fmla="val 11429"/>
            </a:avLst>
          </a:prstGeom>
          <a:solidFill>
            <a:srgbClr val="FCEAED"/>
          </a:solidFill>
          <a:ln/>
        </p:spPr>
      </p:sp>
      <p:sp>
        <p:nvSpPr>
          <p:cNvPr id="17" name="Text 15"/>
          <p:cNvSpPr/>
          <p:nvPr/>
        </p:nvSpPr>
        <p:spPr>
          <a:xfrm>
            <a:off x="6415888"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Doğruyu söylerim, dışlansam bile vicdanım rahat...</a:t>
            </a:r>
            <a:endParaRPr lang="en-US" sz="800" dirty="0"/>
          </a:p>
        </p:txBody>
      </p:sp>
      <p:sp>
        <p:nvSpPr>
          <p:cNvPr id="18" name="Shape 16"/>
          <p:cNvSpPr/>
          <p:nvPr/>
        </p:nvSpPr>
        <p:spPr>
          <a:xfrm>
            <a:off x="8082077" y="3931920"/>
            <a:ext cx="1574749" cy="640080"/>
          </a:xfrm>
          <a:prstGeom prst="roundRect">
            <a:avLst>
              <a:gd name="adj" fmla="val 11429"/>
            </a:avLst>
          </a:prstGeom>
          <a:solidFill>
            <a:srgbClr val="FCEAED"/>
          </a:solidFill>
          <a:ln/>
        </p:spPr>
      </p:sp>
      <p:sp>
        <p:nvSpPr>
          <p:cNvPr id="19" name="Text 17"/>
          <p:cNvSpPr/>
          <p:nvPr/>
        </p:nvSpPr>
        <p:spPr>
          <a:xfrm>
            <a:off x="8082077"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Öğretmenle özel konuşup durumu anlatırım.</a:t>
            </a:r>
            <a:endParaRPr lang="en-US" sz="800" dirty="0"/>
          </a:p>
        </p:txBody>
      </p:sp>
      <p:sp>
        <p:nvSpPr>
          <p:cNvPr id="20" name="Shape 18"/>
          <p:cNvSpPr/>
          <p:nvPr/>
        </p:nvSpPr>
        <p:spPr>
          <a:xfrm>
            <a:off x="9748266" y="3931920"/>
            <a:ext cx="1574749" cy="640080"/>
          </a:xfrm>
          <a:prstGeom prst="roundRect">
            <a:avLst>
              <a:gd name="adj" fmla="val 11429"/>
            </a:avLst>
          </a:prstGeom>
          <a:solidFill>
            <a:srgbClr val="FCEAED"/>
          </a:solidFill>
          <a:ln/>
        </p:spPr>
      </p:sp>
      <p:sp>
        <p:nvSpPr>
          <p:cNvPr id="21" name="Text 19"/>
          <p:cNvSpPr/>
          <p:nvPr/>
        </p:nvSpPr>
        <p:spPr>
          <a:xfrm>
            <a:off x="9748266" y="3931920"/>
            <a:ext cx="1574749" cy="640080"/>
          </a:xfrm>
          <a:prstGeom prst="rect">
            <a:avLst/>
          </a:prstGeom>
          <a:noFill/>
          <a:ln/>
        </p:spPr>
        <p:txBody>
          <a:bodyPr wrap="square" rtlCol="0" anchor="ctr"/>
          <a:lstStyle/>
          <a:p>
            <a:pPr algn="ctr" indent="0" marL="0">
              <a:buNone/>
            </a:pPr>
            <a:r>
              <a:rPr lang="en-US" sz="800" dirty="0">
                <a:solidFill>
                  <a:srgbClr val="8B0000"/>
                </a:solidFill>
                <a:latin typeface="Calibri" pitchFamily="34" charset="0"/>
                <a:ea typeface="Calibri" pitchFamily="34" charset="-122"/>
                <a:cs typeface="Calibri" pitchFamily="34" charset="-120"/>
              </a:rPr>
              <a:t>Susar, kimseyi ihbar etmem.</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274320"/>
            <a:ext cx="12191695" cy="548640"/>
          </a:xfrm>
          <a:prstGeom prst="rect">
            <a:avLst/>
          </a:prstGeom>
          <a:noFill/>
          <a:ln/>
        </p:spPr>
        <p:txBody>
          <a:bodyPr wrap="square" rtlCol="0" anchor="ctr"/>
          <a:lstStyle/>
          <a:p>
            <a:pPr algn="ctr" indent="0" marL="0">
              <a:buNone/>
            </a:pPr>
            <a:r>
              <a:rPr lang="en-US" sz="2800" b="1" dirty="0">
                <a:solidFill>
                  <a:srgbClr val="FFFFFF"/>
                </a:solidFill>
                <a:latin typeface="Calibri" pitchFamily="34" charset="0"/>
                <a:ea typeface="Calibri" pitchFamily="34" charset="-122"/>
                <a:cs typeface="Calibri" pitchFamily="34" charset="-120"/>
              </a:rPr>
              <a:t>Quiz</a:t>
            </a:r>
            <a:endParaRPr lang="en-US" sz="2800" dirty="0"/>
          </a:p>
        </p:txBody>
      </p:sp>
      <p:sp>
        <p:nvSpPr>
          <p:cNvPr id="5" name="Shape 3"/>
          <p:cNvSpPr/>
          <p:nvPr/>
        </p:nvSpPr>
        <p:spPr>
          <a:xfrm>
            <a:off x="1005840" y="1097280"/>
            <a:ext cx="3210458" cy="4572000"/>
          </a:xfrm>
          <a:prstGeom prst="roundRect">
            <a:avLst>
              <a:gd name="adj" fmla="val 2848"/>
            </a:avLst>
          </a:prstGeom>
          <a:solidFill>
            <a:srgbClr val="FFFFFF">
              <a:alpha val="90000"/>
            </a:srgbClr>
          </a:solidFill>
          <a:ln/>
        </p:spPr>
      </p:sp>
      <p:sp>
        <p:nvSpPr>
          <p:cNvPr id="6" name="Text 4"/>
          <p:cNvSpPr/>
          <p:nvPr/>
        </p:nvSpPr>
        <p:spPr>
          <a:xfrm>
            <a:off x="1143000"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Bedr Gazvesi'nde Müslümanlar kaç kişiydi?</a:t>
            </a:r>
            <a:endParaRPr lang="en-US" sz="1100" dirty="0"/>
          </a:p>
        </p:txBody>
      </p:sp>
      <p:sp>
        <p:nvSpPr>
          <p:cNvPr id="7" name="Text 5"/>
          <p:cNvSpPr/>
          <p:nvPr/>
        </p:nvSpPr>
        <p:spPr>
          <a:xfrm>
            <a:off x="1143000"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100</a:t>
            </a:r>
            <a:endParaRPr lang="en-US" sz="900" dirty="0"/>
          </a:p>
        </p:txBody>
      </p:sp>
      <p:sp>
        <p:nvSpPr>
          <p:cNvPr id="8" name="Text 6"/>
          <p:cNvSpPr/>
          <p:nvPr/>
        </p:nvSpPr>
        <p:spPr>
          <a:xfrm>
            <a:off x="1143000"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313</a:t>
            </a:r>
            <a:endParaRPr lang="en-US" sz="900" dirty="0"/>
          </a:p>
        </p:txBody>
      </p:sp>
      <p:sp>
        <p:nvSpPr>
          <p:cNvPr id="9" name="Text 7"/>
          <p:cNvSpPr/>
          <p:nvPr/>
        </p:nvSpPr>
        <p:spPr>
          <a:xfrm>
            <a:off x="1143000"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500</a:t>
            </a:r>
            <a:endParaRPr lang="en-US" sz="900" dirty="0"/>
          </a:p>
        </p:txBody>
      </p:sp>
      <p:sp>
        <p:nvSpPr>
          <p:cNvPr id="10" name="Text 8"/>
          <p:cNvSpPr/>
          <p:nvPr/>
        </p:nvSpPr>
        <p:spPr>
          <a:xfrm>
            <a:off x="1143000"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1000</a:t>
            </a:r>
            <a:endParaRPr lang="en-US" sz="900" dirty="0"/>
          </a:p>
        </p:txBody>
      </p:sp>
      <p:sp>
        <p:nvSpPr>
          <p:cNvPr id="11" name="Shape 9"/>
          <p:cNvSpPr/>
          <p:nvPr/>
        </p:nvSpPr>
        <p:spPr>
          <a:xfrm>
            <a:off x="4490618" y="1097280"/>
            <a:ext cx="3210458" cy="4572000"/>
          </a:xfrm>
          <a:prstGeom prst="roundRect">
            <a:avLst>
              <a:gd name="adj" fmla="val 2848"/>
            </a:avLst>
          </a:prstGeom>
          <a:solidFill>
            <a:srgbClr val="FFFFFF">
              <a:alpha val="90000"/>
            </a:srgbClr>
          </a:solidFill>
          <a:ln/>
        </p:spPr>
      </p:sp>
      <p:sp>
        <p:nvSpPr>
          <p:cNvPr id="12" name="Text 10"/>
          <p:cNvSpPr/>
          <p:nvPr/>
        </p:nvSpPr>
        <p:spPr>
          <a:xfrm>
            <a:off x="4627778"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Hz. Mikdad radıyallahu anh ne diyerek Peygamber Efendimiz'i cesaretlendirdi?</a:t>
            </a:r>
            <a:endParaRPr lang="en-US" sz="1100" dirty="0"/>
          </a:p>
        </p:txBody>
      </p:sp>
      <p:sp>
        <p:nvSpPr>
          <p:cNvPr id="13" name="Text 11"/>
          <p:cNvSpPr/>
          <p:nvPr/>
        </p:nvSpPr>
        <p:spPr>
          <a:xfrm>
            <a:off x="4627778"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Daha fazla asker bulalım</a:t>
            </a:r>
            <a:endParaRPr lang="en-US" sz="900" dirty="0"/>
          </a:p>
        </p:txBody>
      </p:sp>
      <p:sp>
        <p:nvSpPr>
          <p:cNvPr id="14" name="Text 12"/>
          <p:cNvSpPr/>
          <p:nvPr/>
        </p:nvSpPr>
        <p:spPr>
          <a:xfrm>
            <a:off x="4627778"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Geri dönelim</a:t>
            </a:r>
            <a:endParaRPr lang="en-US" sz="900" dirty="0"/>
          </a:p>
        </p:txBody>
      </p:sp>
      <p:sp>
        <p:nvSpPr>
          <p:cNvPr id="15" name="Text 13"/>
          <p:cNvSpPr/>
          <p:nvPr/>
        </p:nvSpPr>
        <p:spPr>
          <a:xfrm>
            <a:off x="4627778"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Sen nereye gidersen biz de seninle gideriz</a:t>
            </a:r>
            <a:endParaRPr lang="en-US" sz="900" dirty="0"/>
          </a:p>
        </p:txBody>
      </p:sp>
      <p:sp>
        <p:nvSpPr>
          <p:cNvPr id="16" name="Text 14"/>
          <p:cNvSpPr/>
          <p:nvPr/>
        </p:nvSpPr>
        <p:spPr>
          <a:xfrm>
            <a:off x="4627778"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Başka zaman savaşalım</a:t>
            </a:r>
            <a:endParaRPr lang="en-US" sz="900" dirty="0"/>
          </a:p>
        </p:txBody>
      </p:sp>
      <p:sp>
        <p:nvSpPr>
          <p:cNvPr id="17" name="Shape 15"/>
          <p:cNvSpPr/>
          <p:nvPr/>
        </p:nvSpPr>
        <p:spPr>
          <a:xfrm>
            <a:off x="7975397" y="1097280"/>
            <a:ext cx="3210458" cy="4572000"/>
          </a:xfrm>
          <a:prstGeom prst="roundRect">
            <a:avLst>
              <a:gd name="adj" fmla="val 2848"/>
            </a:avLst>
          </a:prstGeom>
          <a:solidFill>
            <a:srgbClr val="FFFFFF">
              <a:alpha val="90000"/>
            </a:srgbClr>
          </a:solidFill>
          <a:ln/>
        </p:spPr>
      </p:sp>
      <p:sp>
        <p:nvSpPr>
          <p:cNvPr id="18" name="Text 16"/>
          <p:cNvSpPr/>
          <p:nvPr/>
        </p:nvSpPr>
        <p:spPr>
          <a:xfrm>
            <a:off x="8112557" y="1234440"/>
            <a:ext cx="2936138" cy="1097280"/>
          </a:xfrm>
          <a:prstGeom prst="rect">
            <a:avLst/>
          </a:prstGeom>
          <a:noFill/>
          <a:ln/>
        </p:spPr>
        <p:txBody>
          <a:bodyPr wrap="square" rtlCol="0" anchor="t"/>
          <a:lstStyle/>
          <a:p>
            <a:pPr algn="l" indent="0" marL="0">
              <a:buNone/>
            </a:pPr>
            <a:r>
              <a:rPr lang="en-US" sz="1100" b="1" dirty="0">
                <a:solidFill>
                  <a:srgbClr val="8B0000"/>
                </a:solidFill>
                <a:latin typeface="Calibri" pitchFamily="34" charset="0"/>
                <a:ea typeface="Calibri" pitchFamily="34" charset="-122"/>
                <a:cs typeface="Calibri" pitchFamily="34" charset="-120"/>
              </a:rPr>
              <a:t>Âl-i İmrân Sûresi 123. ayette ne hatırlatılmaktadır?</a:t>
            </a:r>
            <a:endParaRPr lang="en-US" sz="1100" dirty="0"/>
          </a:p>
        </p:txBody>
      </p:sp>
      <p:sp>
        <p:nvSpPr>
          <p:cNvPr id="19" name="Text 17"/>
          <p:cNvSpPr/>
          <p:nvPr/>
        </p:nvSpPr>
        <p:spPr>
          <a:xfrm>
            <a:off x="8112557" y="246888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A) Uhud Savaşı</a:t>
            </a:r>
            <a:endParaRPr lang="en-US" sz="900" dirty="0"/>
          </a:p>
        </p:txBody>
      </p:sp>
      <p:sp>
        <p:nvSpPr>
          <p:cNvPr id="20" name="Text 18"/>
          <p:cNvSpPr/>
          <p:nvPr/>
        </p:nvSpPr>
        <p:spPr>
          <a:xfrm>
            <a:off x="8112557" y="310896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B) Hicret</a:t>
            </a:r>
            <a:endParaRPr lang="en-US" sz="900" dirty="0"/>
          </a:p>
        </p:txBody>
      </p:sp>
      <p:sp>
        <p:nvSpPr>
          <p:cNvPr id="21" name="Text 19"/>
          <p:cNvSpPr/>
          <p:nvPr/>
        </p:nvSpPr>
        <p:spPr>
          <a:xfrm>
            <a:off x="8112557" y="374904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C) Allah'ın Bedr'de Müslümanlara yardım ettiği</a:t>
            </a:r>
            <a:endParaRPr lang="en-US" sz="900" dirty="0"/>
          </a:p>
        </p:txBody>
      </p:sp>
      <p:sp>
        <p:nvSpPr>
          <p:cNvPr id="22" name="Text 20"/>
          <p:cNvSpPr/>
          <p:nvPr/>
        </p:nvSpPr>
        <p:spPr>
          <a:xfrm>
            <a:off x="8112557" y="4389120"/>
            <a:ext cx="2936138" cy="548640"/>
          </a:xfrm>
          <a:prstGeom prst="rect">
            <a:avLst/>
          </a:prstGeom>
          <a:noFill/>
          <a:ln/>
        </p:spPr>
        <p:txBody>
          <a:bodyPr wrap="square" rtlCol="0" anchor="ctr"/>
          <a:lstStyle/>
          <a:p>
            <a:pPr algn="l" indent="0" marL="0">
              <a:buNone/>
            </a:pPr>
            <a:r>
              <a:rPr lang="en-US" sz="900" dirty="0">
                <a:solidFill>
                  <a:srgbClr val="222222"/>
                </a:solidFill>
                <a:latin typeface="Calibri" pitchFamily="34" charset="0"/>
                <a:ea typeface="Calibri" pitchFamily="34" charset="-122"/>
                <a:cs typeface="Calibri" pitchFamily="34" charset="-120"/>
              </a:rPr>
              <a:t>D) Mekke'nin fethi</a:t>
            </a:r>
            <a:endParaRPr lang="en-US" sz="9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91440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
        <p:nvSpPr>
          <p:cNvPr id="5" name="Text 3"/>
          <p:cNvSpPr/>
          <p:nvPr/>
        </p:nvSpPr>
        <p:spPr>
          <a:xfrm>
            <a:off x="1371600" y="1828800"/>
            <a:ext cx="9448495" cy="2743200"/>
          </a:xfrm>
          <a:prstGeom prst="rect">
            <a:avLst/>
          </a:prstGeom>
          <a:noFill/>
          <a:ln/>
        </p:spPr>
        <p:txBody>
          <a:bodyPr wrap="square" rtlCol="0" anchor="ctr"/>
          <a:lstStyle/>
          <a:p>
            <a:pPr algn="ctr" indent="0" marL="0">
              <a:buNone/>
            </a:pPr>
            <a:r>
              <a:rPr lang="en-US" sz="2400" i="1" dirty="0">
                <a:solidFill>
                  <a:srgbClr val="FFFFFF"/>
                </a:solidFill>
                <a:latin typeface="Calibri" pitchFamily="34" charset="0"/>
                <a:ea typeface="Calibri" pitchFamily="34" charset="-122"/>
                <a:cs typeface="Calibri" pitchFamily="34" charset="-120"/>
              </a:rPr>
              <a:t>Andolsun ki siz son derece güçsüz iken Allah size Bedr'de yardım etmişti. O hâlde Allah'a karşı gelmekten sakının ki şükretmiş olasınız.</a:t>
            </a:r>
            <a:endParaRPr lang="en-US" sz="2400" dirty="0"/>
          </a:p>
        </p:txBody>
      </p:sp>
      <p:sp>
        <p:nvSpPr>
          <p:cNvPr id="6" name="Text 4"/>
          <p:cNvSpPr/>
          <p:nvPr/>
        </p:nvSpPr>
        <p:spPr>
          <a:xfrm>
            <a:off x="1371600" y="4754880"/>
            <a:ext cx="9448495" cy="457200"/>
          </a:xfrm>
          <a:prstGeom prst="rect">
            <a:avLst/>
          </a:prstGeom>
          <a:noFill/>
          <a:ln/>
        </p:spPr>
        <p:txBody>
          <a:bodyPr wrap="square" rtlCol="0" anchor="ctr"/>
          <a:lstStyle/>
          <a:p>
            <a:pPr algn="ctr" indent="0" marL="0">
              <a:buNone/>
            </a:pPr>
            <a:r>
              <a:rPr lang="en-US" sz="1400" dirty="0">
                <a:solidFill>
                  <a:srgbClr val="FCEAED"/>
                </a:solidFill>
                <a:latin typeface="Calibri" pitchFamily="34" charset="0"/>
                <a:ea typeface="Calibri" pitchFamily="34" charset="-122"/>
                <a:cs typeface="Calibri" pitchFamily="34" charset="-120"/>
              </a:rPr>
              <a:t>Âl-i İmrân Sûresi, 123</a:t>
            </a:r>
            <a:endParaRPr lang="en-US" sz="1400" dirty="0"/>
          </a:p>
        </p:txBody>
      </p:sp>
      <p:sp>
        <p:nvSpPr>
          <p:cNvPr id="7" name="Text 5"/>
          <p:cNvSpPr/>
          <p:nvPr/>
        </p:nvSpPr>
        <p:spPr>
          <a:xfrm>
            <a:off x="0" y="5303520"/>
            <a:ext cx="12191695" cy="548640"/>
          </a:xfrm>
          <a:prstGeom prst="rect">
            <a:avLst/>
          </a:prstGeom>
          <a:noFill/>
          <a:ln/>
        </p:spPr>
        <p:txBody>
          <a:bodyPr wrap="square" rtlCol="0" anchor="ctr"/>
          <a:lstStyle/>
          <a:p>
            <a:pPr algn="ctr" indent="0" marL="0">
              <a:buNone/>
            </a:pPr>
            <a:r>
              <a:rPr lang="en-US" sz="2800" dirty="0">
                <a:solidFill>
                  <a:srgbClr val="FCEAED"/>
                </a:solidFill>
              </a:rPr>
              <a:t>✦</a:t>
            </a:r>
            <a:endParaRPr lang="en-US" sz="2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Shape 0"/>
          <p:cNvSpPr/>
          <p:nvPr/>
        </p:nvSpPr>
        <p:spPr>
          <a:xfrm>
            <a:off x="0" y="0"/>
            <a:ext cx="12191695" cy="54864"/>
          </a:xfrm>
          <a:prstGeom prst="rect">
            <a:avLst/>
          </a:prstGeom>
          <a:solidFill>
            <a:srgbClr val="C8102E"/>
          </a:solidFill>
          <a:ln/>
        </p:spPr>
      </p:sp>
      <p:sp>
        <p:nvSpPr>
          <p:cNvPr id="3" name="Text 1"/>
          <p:cNvSpPr/>
          <p:nvPr/>
        </p:nvSpPr>
        <p:spPr>
          <a:xfrm>
            <a:off x="548640" y="228600"/>
            <a:ext cx="11094415" cy="548640"/>
          </a:xfrm>
          <a:prstGeom prst="rect">
            <a:avLst/>
          </a:prstGeom>
          <a:noFill/>
          <a:ln/>
        </p:spPr>
        <p:txBody>
          <a:bodyPr wrap="square" rtlCol="0" anchor="ctr"/>
          <a:lstStyle/>
          <a:p>
            <a:pPr algn="l" indent="0" marL="0">
              <a:buNone/>
            </a:pPr>
            <a:r>
              <a:rPr lang="en-US" sz="2400" b="1" dirty="0">
                <a:solidFill>
                  <a:srgbClr val="C8102E"/>
                </a:solidFill>
                <a:latin typeface="Calibri" pitchFamily="34" charset="0"/>
                <a:ea typeface="Calibri" pitchFamily="34" charset="-122"/>
                <a:cs typeface="Calibri" pitchFamily="34" charset="-120"/>
              </a:rPr>
              <a:t>Duesuenelim</a:t>
            </a:r>
            <a:endParaRPr lang="en-US" sz="2400" dirty="0"/>
          </a:p>
        </p:txBody>
      </p:sp>
      <p:sp>
        <p:nvSpPr>
          <p:cNvPr id="4" name="Shape 2"/>
          <p:cNvSpPr/>
          <p:nvPr/>
        </p:nvSpPr>
        <p:spPr>
          <a:xfrm>
            <a:off x="548640" y="1005840"/>
            <a:ext cx="11094415" cy="1463040"/>
          </a:xfrm>
          <a:prstGeom prst="roundRect">
            <a:avLst>
              <a:gd name="adj" fmla="val 5000"/>
            </a:avLst>
          </a:prstGeom>
          <a:solidFill>
            <a:srgbClr val="FCEAED"/>
          </a:solidFill>
          <a:ln/>
        </p:spPr>
      </p:sp>
      <p:sp>
        <p:nvSpPr>
          <p:cNvPr id="5" name="Text 3"/>
          <p:cNvSpPr/>
          <p:nvPr/>
        </p:nvSpPr>
        <p:spPr>
          <a:xfrm>
            <a:off x="685800" y="114300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1.</a:t>
            </a:r>
            <a:endParaRPr lang="en-US" sz="1800" dirty="0"/>
          </a:p>
        </p:txBody>
      </p:sp>
      <p:sp>
        <p:nvSpPr>
          <p:cNvPr id="6" name="Text 4"/>
          <p:cNvSpPr/>
          <p:nvPr/>
        </p:nvSpPr>
        <p:spPr>
          <a:xfrm>
            <a:off x="1005840" y="114300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Bedr'deki 313 sahâbînin yerinde olsaydın ne hissederdin?</a:t>
            </a:r>
            <a:endParaRPr lang="en-US" sz="1600" dirty="0"/>
          </a:p>
        </p:txBody>
      </p:sp>
      <p:sp>
        <p:nvSpPr>
          <p:cNvPr id="7" name="Shape 5"/>
          <p:cNvSpPr/>
          <p:nvPr/>
        </p:nvSpPr>
        <p:spPr>
          <a:xfrm>
            <a:off x="548640" y="2651760"/>
            <a:ext cx="11094415" cy="1463040"/>
          </a:xfrm>
          <a:prstGeom prst="roundRect">
            <a:avLst>
              <a:gd name="adj" fmla="val 5000"/>
            </a:avLst>
          </a:prstGeom>
          <a:solidFill>
            <a:srgbClr val="FCEAED"/>
          </a:solidFill>
          <a:ln/>
        </p:spPr>
      </p:sp>
      <p:sp>
        <p:nvSpPr>
          <p:cNvPr id="8" name="Text 6"/>
          <p:cNvSpPr/>
          <p:nvPr/>
        </p:nvSpPr>
        <p:spPr>
          <a:xfrm>
            <a:off x="685800" y="278892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2.</a:t>
            </a:r>
            <a:endParaRPr lang="en-US" sz="1800" dirty="0"/>
          </a:p>
        </p:txBody>
      </p:sp>
      <p:sp>
        <p:nvSpPr>
          <p:cNvPr id="9" name="Text 7"/>
          <p:cNvSpPr/>
          <p:nvPr/>
        </p:nvSpPr>
        <p:spPr>
          <a:xfrm>
            <a:off x="1005840" y="278892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Hz. Mikdad'ın cesareti seni nasıl etkiliyor? Günlük hayatında benzer bir cesaret gösterebildiğin bir an var mı?</a:t>
            </a:r>
            <a:endParaRPr lang="en-US" sz="1600" dirty="0"/>
          </a:p>
        </p:txBody>
      </p:sp>
      <p:sp>
        <p:nvSpPr>
          <p:cNvPr id="10" name="Shape 8"/>
          <p:cNvSpPr/>
          <p:nvPr/>
        </p:nvSpPr>
        <p:spPr>
          <a:xfrm>
            <a:off x="548640" y="4297680"/>
            <a:ext cx="11094415" cy="1463040"/>
          </a:xfrm>
          <a:prstGeom prst="roundRect">
            <a:avLst>
              <a:gd name="adj" fmla="val 5000"/>
            </a:avLst>
          </a:prstGeom>
          <a:solidFill>
            <a:srgbClr val="FCEAED"/>
          </a:solidFill>
          <a:ln/>
        </p:spPr>
      </p:sp>
      <p:sp>
        <p:nvSpPr>
          <p:cNvPr id="11" name="Text 9"/>
          <p:cNvSpPr/>
          <p:nvPr/>
        </p:nvSpPr>
        <p:spPr>
          <a:xfrm>
            <a:off x="685800" y="4434840"/>
            <a:ext cx="365760" cy="320040"/>
          </a:xfrm>
          <a:prstGeom prst="rect">
            <a:avLst/>
          </a:prstGeom>
          <a:noFill/>
          <a:ln/>
        </p:spPr>
        <p:txBody>
          <a:bodyPr wrap="square" rtlCol="0" anchor="ctr"/>
          <a:lstStyle/>
          <a:p>
            <a:pPr indent="0" marL="0">
              <a:buNone/>
            </a:pPr>
            <a:r>
              <a:rPr lang="en-US" sz="1800" b="1" dirty="0">
                <a:solidFill>
                  <a:srgbClr val="C8102E"/>
                </a:solidFill>
                <a:latin typeface="Calibri" pitchFamily="34" charset="0"/>
                <a:ea typeface="Calibri" pitchFamily="34" charset="-122"/>
                <a:cs typeface="Calibri" pitchFamily="34" charset="-120"/>
              </a:rPr>
              <a:t>3.</a:t>
            </a:r>
            <a:endParaRPr lang="en-US" sz="1800" dirty="0"/>
          </a:p>
        </p:txBody>
      </p:sp>
      <p:sp>
        <p:nvSpPr>
          <p:cNvPr id="12" name="Text 10"/>
          <p:cNvSpPr/>
          <p:nvPr/>
        </p:nvSpPr>
        <p:spPr>
          <a:xfrm>
            <a:off x="1005840" y="4434840"/>
            <a:ext cx="10454335" cy="1188720"/>
          </a:xfrm>
          <a:prstGeom prst="rect">
            <a:avLst/>
          </a:prstGeom>
          <a:noFill/>
          <a:ln/>
        </p:spPr>
        <p:txBody>
          <a:bodyPr wrap="square" rtlCol="0" anchor="ctr"/>
          <a:lstStyle/>
          <a:p>
            <a:pPr algn="l" indent="0" marL="0">
              <a:buNone/>
            </a:pPr>
            <a:r>
              <a:rPr lang="en-US" sz="1600" dirty="0">
                <a:solidFill>
                  <a:srgbClr val="222222"/>
                </a:solidFill>
                <a:latin typeface="Calibri" pitchFamily="34" charset="0"/>
                <a:ea typeface="Calibri" pitchFamily="34" charset="-122"/>
                <a:cs typeface="Calibri" pitchFamily="34" charset="-120"/>
              </a:rPr>
              <a:t>Cesaret ile atılganlık arasındaki farkı nasıl açıklarsın?</a:t>
            </a:r>
            <a:endParaRPr lang="en-US" sz="16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Shape 0"/>
          <p:cNvSpPr/>
          <p:nvPr/>
        </p:nvSpPr>
        <p:spPr>
          <a:xfrm>
            <a:off x="0" y="0"/>
            <a:ext cx="12191695" cy="6858000"/>
          </a:xfrm>
          <a:prstGeom prst="rect">
            <a:avLst/>
          </a:prstGeom>
          <a:solidFill>
            <a:srgbClr val="8B0000"/>
          </a:solidFill>
          <a:ln/>
        </p:spPr>
      </p:sp>
      <p:sp>
        <p:nvSpPr>
          <p:cNvPr id="3" name="Shape 1"/>
          <p:cNvSpPr/>
          <p:nvPr/>
        </p:nvSpPr>
        <p:spPr>
          <a:xfrm>
            <a:off x="0" y="0"/>
            <a:ext cx="12191695" cy="3429000"/>
          </a:xfrm>
          <a:prstGeom prst="rect">
            <a:avLst/>
          </a:prstGeom>
          <a:solidFill>
            <a:srgbClr val="C8102E">
              <a:alpha val="60000"/>
            </a:srgbClr>
          </a:solidFill>
          <a:ln/>
        </p:spPr>
      </p:sp>
      <p:sp>
        <p:nvSpPr>
          <p:cNvPr id="4" name="Text 2"/>
          <p:cNvSpPr/>
          <p:nvPr/>
        </p:nvSpPr>
        <p:spPr>
          <a:xfrm>
            <a:off x="0" y="1645920"/>
            <a:ext cx="12191695" cy="1097280"/>
          </a:xfrm>
          <a:prstGeom prst="rect">
            <a:avLst/>
          </a:prstGeom>
          <a:noFill/>
          <a:ln/>
        </p:spPr>
        <p:txBody>
          <a:bodyPr wrap="square" rtlCol="0" anchor="ctr"/>
          <a:lstStyle/>
          <a:p>
            <a:pPr algn="ctr" indent="0" marL="0">
              <a:buNone/>
            </a:pPr>
            <a:r>
              <a:rPr lang="en-US" sz="6000" dirty="0">
                <a:solidFill>
                  <a:srgbClr val="000000"/>
                </a:solidFill>
              </a:rPr>
              <a:t>❤️</a:t>
            </a:r>
            <a:endParaRPr lang="en-US" sz="6000" dirty="0"/>
          </a:p>
        </p:txBody>
      </p:sp>
      <p:sp>
        <p:nvSpPr>
          <p:cNvPr id="5" name="Text 3"/>
          <p:cNvSpPr/>
          <p:nvPr/>
        </p:nvSpPr>
        <p:spPr>
          <a:xfrm>
            <a:off x="0" y="2926080"/>
            <a:ext cx="12191695" cy="914400"/>
          </a:xfrm>
          <a:prstGeom prst="rect">
            <a:avLst/>
          </a:prstGeom>
          <a:noFill/>
          <a:ln/>
        </p:spPr>
        <p:txBody>
          <a:bodyPr wrap="square" rtlCol="0" anchor="ctr"/>
          <a:lstStyle/>
          <a:p>
            <a:pPr algn="ctr" indent="0" marL="0">
              <a:buNone/>
            </a:pPr>
            <a:r>
              <a:rPr lang="en-US" sz="3200" b="1" dirty="0">
                <a:solidFill>
                  <a:srgbClr val="FFFFFF"/>
                </a:solidFill>
                <a:latin typeface="Calibri" pitchFamily="34" charset="0"/>
                <a:ea typeface="Calibri" pitchFamily="34" charset="-122"/>
                <a:cs typeface="Calibri" pitchFamily="34" charset="-120"/>
              </a:rPr>
              <a:t>Birlikte Iyilik Akademisi</a:t>
            </a:r>
            <a:endParaRPr lang="en-US" sz="3200" dirty="0"/>
          </a:p>
        </p:txBody>
      </p:sp>
      <p:sp>
        <p:nvSpPr>
          <p:cNvPr id="6" name="Text 4"/>
          <p:cNvSpPr/>
          <p:nvPr/>
        </p:nvSpPr>
        <p:spPr>
          <a:xfrm>
            <a:off x="0" y="3840480"/>
            <a:ext cx="12191695" cy="548640"/>
          </a:xfrm>
          <a:prstGeom prst="rect">
            <a:avLst/>
          </a:prstGeom>
          <a:noFill/>
          <a:ln/>
        </p:spPr>
        <p:txBody>
          <a:bodyPr wrap="square" rtlCol="0" anchor="ctr"/>
          <a:lstStyle/>
          <a:p>
            <a:pPr algn="ctr" indent="0" marL="0">
              <a:buNone/>
            </a:pPr>
            <a:r>
              <a:rPr lang="en-US" sz="1800" dirty="0">
                <a:solidFill>
                  <a:srgbClr val="FCEAED"/>
                </a:solidFill>
                <a:latin typeface="Calibri" pitchFamily="34" charset="0"/>
                <a:ea typeface="Calibri" pitchFamily="34" charset="-122"/>
                <a:cs typeface="Calibri" pitchFamily="34" charset="-120"/>
              </a:rPr>
              <a:t>Degerler Egitimi</a:t>
            </a:r>
            <a:endParaRPr lang="en-US" sz="1800" dirty="0"/>
          </a:p>
        </p:txBody>
      </p:sp>
      <p:sp>
        <p:nvSpPr>
          <p:cNvPr id="7" name="Text 5"/>
          <p:cNvSpPr/>
          <p:nvPr/>
        </p:nvSpPr>
        <p:spPr>
          <a:xfrm>
            <a:off x="0" y="4754880"/>
            <a:ext cx="12191695" cy="457200"/>
          </a:xfrm>
          <a:prstGeom prst="rect">
            <a:avLst/>
          </a:prstGeom>
          <a:noFill/>
          <a:ln/>
        </p:spPr>
        <p:txBody>
          <a:bodyPr wrap="square" rtlCol="0" anchor="ctr"/>
          <a:lstStyle/>
          <a:p>
            <a:pPr algn="ctr" indent="0" marL="0">
              <a:buNone/>
            </a:pPr>
            <a:r>
              <a:rPr lang="en-US" sz="1600" i="1" dirty="0">
                <a:solidFill>
                  <a:srgbClr val="FCEAED"/>
                </a:solidFill>
                <a:latin typeface="Calibri" pitchFamily="34" charset="0"/>
                <a:ea typeface="Calibri" pitchFamily="34" charset="-122"/>
                <a:cs typeface="Calibri" pitchFamily="34" charset="-120"/>
              </a:rPr>
              <a:t>Ders 16</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13</Slides>
  <Notes>13</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13</vt:i4>
      </vt:variant>
    </vt:vector>
  </HeadingPairs>
  <TitlesOfParts>
    <vt:vector size="16"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Cesaret ve İman</dc:title>
  <dc:subject>Degerler Egitimi</dc:subject>
  <dc:creator>Birlikte Iyilik Akademisi</dc:creator>
  <cp:lastModifiedBy>Birlikte Iyilik Akademisi</cp:lastModifiedBy>
  <cp:revision>1</cp:revision>
  <dcterms:created xsi:type="dcterms:W3CDTF">2026-03-21T08:52:35Z</dcterms:created>
  <dcterms:modified xsi:type="dcterms:W3CDTF">2026-03-21T08:52:35Z</dcterms:modified>
</cp:coreProperties>
</file>